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71" r:id="rId4"/>
    <p:sldId id="275" r:id="rId5"/>
    <p:sldId id="272" r:id="rId6"/>
    <p:sldId id="270" r:id="rId7"/>
    <p:sldId id="273" r:id="rId8"/>
    <p:sldId id="274" r:id="rId9"/>
    <p:sldId id="276" r:id="rId10"/>
    <p:sldId id="268" r:id="rId11"/>
    <p:sldId id="269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4"/>
  </p:normalViewPr>
  <p:slideViewPr>
    <p:cSldViewPr snapToGrid="0" snapToObjects="1">
      <p:cViewPr varScale="1">
        <p:scale>
          <a:sx n="122" d="100"/>
          <a:sy n="122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C094-54C2-B94A-AF1B-39031A02E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FC8B0-DBB8-F949-AEE0-9CB0E84DC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66153-8675-D84B-97EC-2615A108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3C42-D4F3-9545-810D-35806A39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F7155-3E09-1E46-89BF-3852DEAF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2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BF10-F78B-0941-A890-9AAEC76E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3785-43B0-F941-A03D-40D850BBC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90862-A590-2545-80F9-2F193F96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49BC-115B-954C-B63F-3CED0B9F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BEA5-3656-3C47-A21C-7A86CFBE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7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6A36-932F-9F4E-B3C3-283E87CF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CB2CB-9F0F-4C4A-8258-ECB40EA9F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2853B-BA84-E14A-82E1-E229AC74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C4600-4668-DA4B-A252-6B5049FE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1512D-5D13-7B40-8EB8-DEEEBF00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6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86CD-583E-BB4F-AD5A-8E59A241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3574-254A-AE4F-851D-318674277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04E31-D66B-C742-851B-25DF660CC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B9220-10B4-C24A-A555-87E4D15B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6B55F-CC79-D541-9ABE-D9DF4C0E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46608-C1EA-E248-8CB6-BF2F4808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8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AC02-8ACF-9946-A15E-26AF688B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D3C71-F8AA-3A4A-9605-913EFD2F6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668AB-472A-D24C-BE82-E36E692D6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71E61-06F8-2148-99DB-745724B10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1EDCB6-4F99-5C40-9A1B-32D2A4995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B06EB-DE03-4348-AC18-00182C58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44C5D-149B-B44C-95CA-6025FE9E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E07E5-84A4-D649-A82B-2C26F37C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8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DAB1-FB42-1743-BA85-B5785CA8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AE764-0E65-3447-A6F0-84CE7BC4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1FC23-0014-694F-8C3C-25D342AE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AF3CC-75BA-BA4C-9DA5-C9EC8652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7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64FD5-0A90-F944-BB89-780B224D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51DBA-DEA1-4C44-825E-EC645630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F2B0-ACFE-C942-89B2-C1E5775F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4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342E-CE9D-5744-9866-B68FF3BA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7AA8-77DC-6548-8D39-D64C4F3F8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45AA3-41AF-4F40-A37F-9F66611B4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602CA-6792-C54C-9098-ED909536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45BFF-A705-A144-A779-6E5D4D97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DBC1E-21CB-2647-B97B-1E7008B7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2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E6D4-EE5E-404D-95B2-21C050AA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D8392-DD4A-E845-B374-64533F4F5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A23E6-B529-A346-8058-F98B78049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A6FA3-B013-1949-A9CE-3CD9EB31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E784-83C8-4C41-9D40-69ACA5B7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39E5-4B93-3F4A-AB6D-31AC328A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8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28C3-3541-324A-AA67-BF9EB955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9894A-926D-664E-A3B1-77A0B1261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7F651-3FB6-8647-9CD9-BE2ED1F7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FFDB1-8AA7-F34F-AD28-7EC028B7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3335A-B5CA-D04C-8C9D-FCFFB96F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5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3B6BD-4005-DF41-9077-8CFD4E2B2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BAB2E-762A-9C49-B8D6-6FFD3B5D5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3D6AF-DDF8-EC42-868A-97C16999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70697-9333-BA4E-9A54-F6F63EC3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6EB0D-8445-9E43-B0AD-869CE9DC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3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0574F-EC2D-F74F-96CE-58EFADB3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D902E-8794-7F46-A5B2-C71019777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9B3D6-61E8-1846-B355-259113370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2ECEB-6AEA-C94A-A41A-D3CE19F3D862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819D2-D866-AE48-BBC0-D9CEAEBA5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953AE-D178-544F-9920-89B519947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E3C3E-5F2B-454A-B092-C7529FD75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1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v/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infogram.com/blog/free-data-sour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census.gov/cedsci/" TargetMode="External"/><Relationship Id="rId5" Type="http://schemas.openxmlformats.org/officeDocument/2006/relationships/hyperlink" Target="https://datasetsearch.research.google.com/" TargetMode="External"/><Relationship Id="rId4" Type="http://schemas.openxmlformats.org/officeDocument/2006/relationships/hyperlink" Target="https://opendata.cityofnewyork.u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verse.harvard.edu/" TargetMode="External"/><Relationship Id="rId2" Type="http://schemas.openxmlformats.org/officeDocument/2006/relationships/hyperlink" Target="https://www.nature.com/sdata/policies/reposito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eatography.com/davechild/cheat-sheets/regular-expressions/" TargetMode="External"/><Relationship Id="rId2" Type="http://schemas.openxmlformats.org/officeDocument/2006/relationships/hyperlink" Target="https://www.rexegg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E09F-CF97-E140-9C72-F6B8FE068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7883"/>
            <a:ext cx="9144000" cy="2387600"/>
          </a:xfrm>
        </p:spPr>
        <p:txBody>
          <a:bodyPr/>
          <a:lstStyle/>
          <a:p>
            <a:r>
              <a:rPr lang="en-US" dirty="0" smtClean="0"/>
              <a:t>Online Data Sources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F042A-18C2-374D-AC35-95ED4B28F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0700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Lab </a:t>
            </a:r>
            <a:r>
              <a:rPr lang="en-US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28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5749-3CF9-AF43-9AFA-8858834B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1F737-C768-7F40-B84E-032A87664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Publicly available tabular datasets</a:t>
            </a:r>
          </a:p>
          <a:p>
            <a:r>
              <a:rPr lang="en-US" dirty="0"/>
              <a:t>Data from research </a:t>
            </a:r>
            <a:r>
              <a:rPr lang="en-US" dirty="0" smtClean="0"/>
              <a:t>papers, repositories</a:t>
            </a:r>
          </a:p>
          <a:p>
            <a:r>
              <a:rPr lang="en-US" dirty="0" smtClean="0"/>
              <a:t>Getting data with API’s</a:t>
            </a:r>
          </a:p>
          <a:p>
            <a:r>
              <a:rPr lang="en-US" dirty="0" smtClean="0"/>
              <a:t>Data within web pages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 Markdown basics</a:t>
            </a:r>
          </a:p>
          <a:p>
            <a:r>
              <a:rPr lang="en-US" dirty="0" smtClean="0"/>
              <a:t>Downloading and parsing web pages with R</a:t>
            </a:r>
          </a:p>
          <a:p>
            <a:r>
              <a:rPr lang="en-US" dirty="0"/>
              <a:t>Dealing with unstructured data</a:t>
            </a:r>
            <a:r>
              <a:rPr lang="en-US"/>
              <a:t>: </a:t>
            </a:r>
            <a:r>
              <a:rPr lang="en-US" b="1" smtClean="0"/>
              <a:t>regular </a:t>
            </a:r>
            <a:r>
              <a:rPr lang="en-US" b="1" dirty="0" smtClean="0"/>
              <a:t>expressions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456246" y="1906954"/>
            <a:ext cx="0" cy="1586523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56004" y="1496958"/>
            <a:ext cx="600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easy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56004" y="3539120"/>
            <a:ext cx="61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hard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60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5749-3CF9-AF43-9AFA-8858834B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Publicly available tabular data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50 Amazing Free Data Sources You Should Know</a:t>
            </a:r>
            <a:endParaRPr lang="en-US" dirty="0"/>
          </a:p>
          <a:p>
            <a:r>
              <a:rPr lang="en-US" u="sng" dirty="0" smtClean="0">
                <a:hlinkClick r:id="rId3"/>
              </a:rPr>
              <a:t>Data.gov</a:t>
            </a:r>
            <a:endParaRPr lang="en-US" u="sng" dirty="0" smtClean="0"/>
          </a:p>
          <a:p>
            <a:r>
              <a:rPr lang="en-US" u="sng" dirty="0">
                <a:hlinkClick r:id="rId4"/>
              </a:rPr>
              <a:t>NYC </a:t>
            </a:r>
            <a:r>
              <a:rPr lang="en-US" u="sng" dirty="0" err="1" smtClean="0">
                <a:hlinkClick r:id="rId4"/>
              </a:rPr>
              <a:t>OpenData</a:t>
            </a:r>
            <a:endParaRPr lang="en-US" u="sng" dirty="0" smtClean="0"/>
          </a:p>
          <a:p>
            <a:r>
              <a:rPr lang="en-US" u="sng" dirty="0">
                <a:hlinkClick r:id="rId5"/>
              </a:rPr>
              <a:t>Google Dataset </a:t>
            </a:r>
            <a:r>
              <a:rPr lang="en-US" u="sng" dirty="0" smtClean="0">
                <a:hlinkClick r:id="rId5"/>
              </a:rPr>
              <a:t>Search</a:t>
            </a:r>
            <a:endParaRPr lang="en-US" u="sng" dirty="0" smtClean="0"/>
          </a:p>
          <a:p>
            <a:r>
              <a:rPr lang="en-US" u="sng" dirty="0" smtClean="0">
                <a:hlinkClick r:id="rId6"/>
              </a:rPr>
              <a:t>US Census Table viewer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01029-CEC6-7646-BC89-8E0EE9A0FC6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125" r="42199" b="42917"/>
          <a:stretch/>
        </p:blipFill>
        <p:spPr>
          <a:xfrm>
            <a:off x="5095630" y="2991925"/>
            <a:ext cx="6886253" cy="290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4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5749-3CF9-AF43-9AFA-8858834B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from research papers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8585" y="2231086"/>
            <a:ext cx="46167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hlinkClick r:id="rId2"/>
              </a:rPr>
              <a:t>Nature repository guidelines</a:t>
            </a: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Example: </a:t>
            </a:r>
            <a:r>
              <a:rPr lang="en-US" sz="2800" dirty="0" smtClean="0">
                <a:hlinkClick r:id="rId3"/>
              </a:rPr>
              <a:t>Harvard </a:t>
            </a:r>
            <a:r>
              <a:rPr lang="en-US" sz="2800" dirty="0" err="1" smtClean="0">
                <a:hlinkClick r:id="rId3"/>
              </a:rPr>
              <a:t>Dataverse</a:t>
            </a:r>
            <a:endParaRPr lang="en-US" sz="28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511" y="2317713"/>
            <a:ext cx="6369141" cy="230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3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5749-3CF9-AF43-9AFA-8858834B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data with API’s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784" y="2007471"/>
            <a:ext cx="8956431" cy="47767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1481159"/>
            <a:ext cx="5390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Application Programming Interface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4848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5749-3CF9-AF43-9AFA-8858834B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data with API’s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564" y="1581273"/>
            <a:ext cx="7783236" cy="4913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80" y="1690688"/>
            <a:ext cx="1925236" cy="8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5749-3CF9-AF43-9AFA-8858834B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within web pages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10" y="1522445"/>
            <a:ext cx="5563406" cy="52183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753" y="1310690"/>
            <a:ext cx="6528812" cy="554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text with regular expressions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53" y="1839180"/>
            <a:ext cx="6039693" cy="4515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30"/>
          <a:stretch/>
        </p:blipFill>
        <p:spPr>
          <a:xfrm>
            <a:off x="2244190" y="1635979"/>
            <a:ext cx="9483598" cy="495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7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text with regular expressions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2062" y="4517294"/>
            <a:ext cx="74631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hlinkClick r:id="rId2"/>
              </a:rPr>
              <a:t>More about learning regular expressions (regex)</a:t>
            </a: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hlinkClick r:id="rId3"/>
              </a:rPr>
              <a:t>Regex cheat sheet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053" y="1611680"/>
            <a:ext cx="7498209" cy="281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0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4" y="264097"/>
            <a:ext cx="1524213" cy="5620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4" y="927749"/>
            <a:ext cx="5896798" cy="25435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031" y="1190930"/>
            <a:ext cx="10026139" cy="536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Integrating data from multiple sources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004" y="1690688"/>
            <a:ext cx="6993992" cy="46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1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Integrating data from multiple sources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50298"/>
              </p:ext>
            </p:extLst>
          </p:nvPr>
        </p:nvGraphicFramePr>
        <p:xfrm>
          <a:off x="580293" y="2968151"/>
          <a:ext cx="2104290" cy="2194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01430">
                  <a:extLst>
                    <a:ext uri="{9D8B030D-6E8A-4147-A177-3AD203B41FA5}">
                      <a16:colId xmlns:a16="http://schemas.microsoft.com/office/drawing/2014/main" val="3964239007"/>
                    </a:ext>
                  </a:extLst>
                </a:gridCol>
                <a:gridCol w="701430">
                  <a:extLst>
                    <a:ext uri="{9D8B030D-6E8A-4147-A177-3AD203B41FA5}">
                      <a16:colId xmlns:a16="http://schemas.microsoft.com/office/drawing/2014/main" val="2325669903"/>
                    </a:ext>
                  </a:extLst>
                </a:gridCol>
                <a:gridCol w="701430">
                  <a:extLst>
                    <a:ext uri="{9D8B030D-6E8A-4147-A177-3AD203B41FA5}">
                      <a16:colId xmlns:a16="http://schemas.microsoft.com/office/drawing/2014/main" val="8189314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9610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454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045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726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4292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4236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8090"/>
              </p:ext>
            </p:extLst>
          </p:nvPr>
        </p:nvGraphicFramePr>
        <p:xfrm>
          <a:off x="3460262" y="2968151"/>
          <a:ext cx="2229339" cy="2194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43113">
                  <a:extLst>
                    <a:ext uri="{9D8B030D-6E8A-4147-A177-3AD203B41FA5}">
                      <a16:colId xmlns:a16="http://schemas.microsoft.com/office/drawing/2014/main" val="3964239007"/>
                    </a:ext>
                  </a:extLst>
                </a:gridCol>
                <a:gridCol w="743113">
                  <a:extLst>
                    <a:ext uri="{9D8B030D-6E8A-4147-A177-3AD203B41FA5}">
                      <a16:colId xmlns:a16="http://schemas.microsoft.com/office/drawing/2014/main" val="2325669903"/>
                    </a:ext>
                  </a:extLst>
                </a:gridCol>
                <a:gridCol w="743113">
                  <a:extLst>
                    <a:ext uri="{9D8B030D-6E8A-4147-A177-3AD203B41FA5}">
                      <a16:colId xmlns:a16="http://schemas.microsoft.com/office/drawing/2014/main" val="818931433"/>
                    </a:ext>
                  </a:extLst>
                </a:gridCol>
              </a:tblGrid>
              <a:tr h="3420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961099"/>
                  </a:ext>
                </a:extLst>
              </a:tr>
              <a:tr h="3420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45402"/>
                  </a:ext>
                </a:extLst>
              </a:tr>
              <a:tr h="3420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045871"/>
                  </a:ext>
                </a:extLst>
              </a:tr>
              <a:tr h="3420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726597"/>
                  </a:ext>
                </a:extLst>
              </a:tr>
              <a:tr h="3420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429244"/>
                  </a:ext>
                </a:extLst>
              </a:tr>
              <a:tr h="3420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4236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185497"/>
              </p:ext>
            </p:extLst>
          </p:nvPr>
        </p:nvGraphicFramePr>
        <p:xfrm>
          <a:off x="7059249" y="3067914"/>
          <a:ext cx="349738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5794">
                  <a:extLst>
                    <a:ext uri="{9D8B030D-6E8A-4147-A177-3AD203B41FA5}">
                      <a16:colId xmlns:a16="http://schemas.microsoft.com/office/drawing/2014/main" val="7212802"/>
                    </a:ext>
                  </a:extLst>
                </a:gridCol>
                <a:gridCol w="1165794">
                  <a:extLst>
                    <a:ext uri="{9D8B030D-6E8A-4147-A177-3AD203B41FA5}">
                      <a16:colId xmlns:a16="http://schemas.microsoft.com/office/drawing/2014/main" val="3342135507"/>
                    </a:ext>
                  </a:extLst>
                </a:gridCol>
                <a:gridCol w="1165794">
                  <a:extLst>
                    <a:ext uri="{9D8B030D-6E8A-4147-A177-3AD203B41FA5}">
                      <a16:colId xmlns:a16="http://schemas.microsoft.com/office/drawing/2014/main" val="1502221811"/>
                    </a:ext>
                  </a:extLst>
                </a:gridCol>
              </a:tblGrid>
              <a:tr h="3456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18082"/>
                  </a:ext>
                </a:extLst>
              </a:tr>
              <a:tr h="3456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150078"/>
                  </a:ext>
                </a:extLst>
              </a:tr>
              <a:tr h="3456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3993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774226"/>
              </p:ext>
            </p:extLst>
          </p:nvPr>
        </p:nvGraphicFramePr>
        <p:xfrm>
          <a:off x="7059249" y="4712269"/>
          <a:ext cx="349738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5794">
                  <a:extLst>
                    <a:ext uri="{9D8B030D-6E8A-4147-A177-3AD203B41FA5}">
                      <a16:colId xmlns:a16="http://schemas.microsoft.com/office/drawing/2014/main" val="7212802"/>
                    </a:ext>
                  </a:extLst>
                </a:gridCol>
                <a:gridCol w="1165794">
                  <a:extLst>
                    <a:ext uri="{9D8B030D-6E8A-4147-A177-3AD203B41FA5}">
                      <a16:colId xmlns:a16="http://schemas.microsoft.com/office/drawing/2014/main" val="3342135507"/>
                    </a:ext>
                  </a:extLst>
                </a:gridCol>
                <a:gridCol w="1165794">
                  <a:extLst>
                    <a:ext uri="{9D8B030D-6E8A-4147-A177-3AD203B41FA5}">
                      <a16:colId xmlns:a16="http://schemas.microsoft.com/office/drawing/2014/main" val="1502221811"/>
                    </a:ext>
                  </a:extLst>
                </a:gridCol>
              </a:tblGrid>
              <a:tr h="3456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18082"/>
                  </a:ext>
                </a:extLst>
              </a:tr>
              <a:tr h="3456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150078"/>
                  </a:ext>
                </a:extLst>
              </a:tr>
              <a:tr h="3456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3993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6385" y="1626229"/>
            <a:ext cx="4119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Adding variables (columns)</a:t>
            </a:r>
          </a:p>
          <a:p>
            <a:pPr algn="ctr"/>
            <a:r>
              <a:rPr lang="en-US" dirty="0" smtClean="0"/>
              <a:t>needs </a:t>
            </a:r>
            <a:r>
              <a:rPr lang="en-US" b="1" dirty="0" smtClean="0"/>
              <a:t>same # rows</a:t>
            </a:r>
            <a:r>
              <a:rPr lang="en-US" dirty="0" smtClean="0"/>
              <a:t>, and </a:t>
            </a:r>
            <a:r>
              <a:rPr lang="en-US" b="1" dirty="0" smtClean="0"/>
              <a:t>a linking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2432" y="1667674"/>
            <a:ext cx="2751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Adding observations (rows) needs </a:t>
            </a:r>
            <a:r>
              <a:rPr lang="en-US" b="1" dirty="0" smtClean="0"/>
              <a:t>same # columns</a:t>
            </a:r>
          </a:p>
        </p:txBody>
      </p:sp>
      <p:sp>
        <p:nvSpPr>
          <p:cNvPr id="12" name="Plus 11"/>
          <p:cNvSpPr/>
          <p:nvPr/>
        </p:nvSpPr>
        <p:spPr>
          <a:xfrm>
            <a:off x="2769576" y="3819246"/>
            <a:ext cx="476738" cy="492369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lus 12"/>
          <p:cNvSpPr/>
          <p:nvPr/>
        </p:nvSpPr>
        <p:spPr>
          <a:xfrm>
            <a:off x="8666284" y="4219900"/>
            <a:ext cx="476738" cy="492369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52231" y="2386279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1415872" y="2383376"/>
            <a:ext cx="415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2100696" y="2383375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</a:t>
            </a:r>
            <a:endParaRPr lang="en-US" sz="3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599916" y="2386279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</a:t>
            </a:r>
            <a:endParaRPr lang="en-US" sz="3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358365" y="2391142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</a:t>
            </a:r>
            <a:endParaRPr lang="en-US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5088257" y="2394732"/>
            <a:ext cx="385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</a:t>
            </a:r>
            <a:endParaRPr lang="en-US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7431587" y="2513986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</a:t>
            </a:r>
            <a:endParaRPr 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8591373" y="2503811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</a:t>
            </a:r>
            <a:endParaRPr lang="en-US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9774917" y="2496363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C</a:t>
            </a:r>
            <a:endParaRPr lang="en-US" sz="3200" dirty="0"/>
          </a:p>
        </p:txBody>
      </p:sp>
      <p:sp>
        <p:nvSpPr>
          <p:cNvPr id="23" name="TextBox 22"/>
          <p:cNvSpPr txBox="1"/>
          <p:nvPr/>
        </p:nvSpPr>
        <p:spPr>
          <a:xfrm>
            <a:off x="6663325" y="29090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6660457" y="33153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2</a:t>
            </a:r>
            <a:endParaRPr lang="en-US" sz="3200" dirty="0"/>
          </a:p>
        </p:txBody>
      </p:sp>
      <p:sp>
        <p:nvSpPr>
          <p:cNvPr id="25" name="TextBox 24"/>
          <p:cNvSpPr txBox="1"/>
          <p:nvPr/>
        </p:nvSpPr>
        <p:spPr>
          <a:xfrm>
            <a:off x="6666193" y="368274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3</a:t>
            </a:r>
            <a:endParaRPr lang="en-US" sz="3200" dirty="0"/>
          </a:p>
        </p:txBody>
      </p:sp>
      <p:sp>
        <p:nvSpPr>
          <p:cNvPr id="26" name="TextBox 25"/>
          <p:cNvSpPr txBox="1"/>
          <p:nvPr/>
        </p:nvSpPr>
        <p:spPr>
          <a:xfrm>
            <a:off x="6660457" y="45714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4</a:t>
            </a:r>
            <a:endParaRPr lang="en-US" sz="3200" dirty="0"/>
          </a:p>
        </p:txBody>
      </p:sp>
      <p:sp>
        <p:nvSpPr>
          <p:cNvPr id="27" name="TextBox 26"/>
          <p:cNvSpPr txBox="1"/>
          <p:nvPr/>
        </p:nvSpPr>
        <p:spPr>
          <a:xfrm>
            <a:off x="6659546" y="496852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5</a:t>
            </a:r>
            <a:endParaRPr lang="en-US" sz="3200" dirty="0"/>
          </a:p>
        </p:txBody>
      </p:sp>
      <p:sp>
        <p:nvSpPr>
          <p:cNvPr id="28" name="TextBox 27"/>
          <p:cNvSpPr txBox="1"/>
          <p:nvPr/>
        </p:nvSpPr>
        <p:spPr>
          <a:xfrm>
            <a:off x="6666193" y="533587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6</a:t>
            </a:r>
            <a:endParaRPr lang="en-US" sz="3200" dirty="0"/>
          </a:p>
        </p:txBody>
      </p:sp>
      <p:sp>
        <p:nvSpPr>
          <p:cNvPr id="29" name="TextBox 28"/>
          <p:cNvSpPr txBox="1"/>
          <p:nvPr/>
        </p:nvSpPr>
        <p:spPr>
          <a:xfrm>
            <a:off x="181501" y="281148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30" name="TextBox 29"/>
          <p:cNvSpPr txBox="1"/>
          <p:nvPr/>
        </p:nvSpPr>
        <p:spPr>
          <a:xfrm>
            <a:off x="178633" y="321777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2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184369" y="35851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3</a:t>
            </a:r>
            <a:endParaRPr lang="en-US" sz="3200" dirty="0"/>
          </a:p>
        </p:txBody>
      </p:sp>
      <p:sp>
        <p:nvSpPr>
          <p:cNvPr id="32" name="TextBox 31"/>
          <p:cNvSpPr txBox="1"/>
          <p:nvPr/>
        </p:nvSpPr>
        <p:spPr>
          <a:xfrm>
            <a:off x="178633" y="395248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4</a:t>
            </a:r>
            <a:endParaRPr lang="en-US" sz="3200" dirty="0"/>
          </a:p>
        </p:txBody>
      </p:sp>
      <p:sp>
        <p:nvSpPr>
          <p:cNvPr id="33" name="TextBox 32"/>
          <p:cNvSpPr txBox="1"/>
          <p:nvPr/>
        </p:nvSpPr>
        <p:spPr>
          <a:xfrm>
            <a:off x="177722" y="43495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5</a:t>
            </a:r>
            <a:endParaRPr lang="en-US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184369" y="471687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6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8833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Integrating data from multiple sources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72263"/>
              </p:ext>
            </p:extLst>
          </p:nvPr>
        </p:nvGraphicFramePr>
        <p:xfrm>
          <a:off x="870847" y="3619592"/>
          <a:ext cx="2104290" cy="2194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01430">
                  <a:extLst>
                    <a:ext uri="{9D8B030D-6E8A-4147-A177-3AD203B41FA5}">
                      <a16:colId xmlns:a16="http://schemas.microsoft.com/office/drawing/2014/main" val="3964239007"/>
                    </a:ext>
                  </a:extLst>
                </a:gridCol>
                <a:gridCol w="701430">
                  <a:extLst>
                    <a:ext uri="{9D8B030D-6E8A-4147-A177-3AD203B41FA5}">
                      <a16:colId xmlns:a16="http://schemas.microsoft.com/office/drawing/2014/main" val="2325669903"/>
                    </a:ext>
                  </a:extLst>
                </a:gridCol>
                <a:gridCol w="701430">
                  <a:extLst>
                    <a:ext uri="{9D8B030D-6E8A-4147-A177-3AD203B41FA5}">
                      <a16:colId xmlns:a16="http://schemas.microsoft.com/office/drawing/2014/main" val="8189314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9610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454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045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726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4292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4236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248046"/>
              </p:ext>
            </p:extLst>
          </p:nvPr>
        </p:nvGraphicFramePr>
        <p:xfrm>
          <a:off x="4020653" y="4175443"/>
          <a:ext cx="349738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5794">
                  <a:extLst>
                    <a:ext uri="{9D8B030D-6E8A-4147-A177-3AD203B41FA5}">
                      <a16:colId xmlns:a16="http://schemas.microsoft.com/office/drawing/2014/main" val="7212802"/>
                    </a:ext>
                  </a:extLst>
                </a:gridCol>
                <a:gridCol w="1165794">
                  <a:extLst>
                    <a:ext uri="{9D8B030D-6E8A-4147-A177-3AD203B41FA5}">
                      <a16:colId xmlns:a16="http://schemas.microsoft.com/office/drawing/2014/main" val="3342135507"/>
                    </a:ext>
                  </a:extLst>
                </a:gridCol>
                <a:gridCol w="1165794">
                  <a:extLst>
                    <a:ext uri="{9D8B030D-6E8A-4147-A177-3AD203B41FA5}">
                      <a16:colId xmlns:a16="http://schemas.microsoft.com/office/drawing/2014/main" val="1502221811"/>
                    </a:ext>
                  </a:extLst>
                </a:gridCol>
              </a:tblGrid>
              <a:tr h="3456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18082"/>
                  </a:ext>
                </a:extLst>
              </a:tr>
              <a:tr h="3456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150078"/>
                  </a:ext>
                </a:extLst>
              </a:tr>
              <a:tr h="3456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3993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275" y="2282164"/>
            <a:ext cx="4119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What do we do here?</a:t>
            </a:r>
            <a:endParaRPr lang="en-US" b="1" dirty="0" smtClean="0"/>
          </a:p>
        </p:txBody>
      </p:sp>
      <p:sp>
        <p:nvSpPr>
          <p:cNvPr id="12" name="Plus 11"/>
          <p:cNvSpPr/>
          <p:nvPr/>
        </p:nvSpPr>
        <p:spPr>
          <a:xfrm>
            <a:off x="3060130" y="4470687"/>
            <a:ext cx="476738" cy="492369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42785" y="3037720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1706426" y="3034817"/>
            <a:ext cx="415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2391250" y="3034816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</a:t>
            </a:r>
            <a:endParaRPr lang="en-US" sz="3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392991" y="3621515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</a:t>
            </a:r>
            <a:endParaRPr lang="en-US" sz="3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552777" y="3611340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</a:t>
            </a:r>
            <a:endParaRPr lang="en-US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6736321" y="3603892"/>
            <a:ext cx="385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</a:t>
            </a:r>
            <a:endParaRPr lang="en-US" sz="3200" dirty="0"/>
          </a:p>
        </p:txBody>
      </p:sp>
      <p:sp>
        <p:nvSpPr>
          <p:cNvPr id="23" name="TextBox 22"/>
          <p:cNvSpPr txBox="1"/>
          <p:nvPr/>
        </p:nvSpPr>
        <p:spPr>
          <a:xfrm>
            <a:off x="3624729" y="40166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3621861" y="442291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2</a:t>
            </a:r>
            <a:endParaRPr lang="en-US" sz="3200" dirty="0"/>
          </a:p>
        </p:txBody>
      </p:sp>
      <p:sp>
        <p:nvSpPr>
          <p:cNvPr id="25" name="TextBox 24"/>
          <p:cNvSpPr txBox="1"/>
          <p:nvPr/>
        </p:nvSpPr>
        <p:spPr>
          <a:xfrm>
            <a:off x="3627597" y="479026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3</a:t>
            </a:r>
            <a:endParaRPr lang="en-US" sz="3200" dirty="0"/>
          </a:p>
        </p:txBody>
      </p:sp>
      <p:sp>
        <p:nvSpPr>
          <p:cNvPr id="29" name="TextBox 28"/>
          <p:cNvSpPr txBox="1"/>
          <p:nvPr/>
        </p:nvSpPr>
        <p:spPr>
          <a:xfrm>
            <a:off x="472055" y="346292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9187" y="386921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2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474923" y="42365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3</a:t>
            </a:r>
            <a:endParaRPr lang="en-US" sz="3200" dirty="0"/>
          </a:p>
        </p:txBody>
      </p:sp>
      <p:sp>
        <p:nvSpPr>
          <p:cNvPr id="32" name="TextBox 31"/>
          <p:cNvSpPr txBox="1"/>
          <p:nvPr/>
        </p:nvSpPr>
        <p:spPr>
          <a:xfrm>
            <a:off x="469187" y="460392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4</a:t>
            </a:r>
            <a:endParaRPr lang="en-US" sz="3200" dirty="0"/>
          </a:p>
        </p:txBody>
      </p:sp>
      <p:sp>
        <p:nvSpPr>
          <p:cNvPr id="33" name="TextBox 32"/>
          <p:cNvSpPr txBox="1"/>
          <p:nvPr/>
        </p:nvSpPr>
        <p:spPr>
          <a:xfrm>
            <a:off x="468276" y="500095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5</a:t>
            </a:r>
            <a:endParaRPr lang="en-US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474923" y="536831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6</a:t>
            </a:r>
            <a:endParaRPr lang="en-US" sz="3200" dirty="0"/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389868"/>
              </p:ext>
            </p:extLst>
          </p:nvPr>
        </p:nvGraphicFramePr>
        <p:xfrm>
          <a:off x="8880967" y="3692989"/>
          <a:ext cx="2857740" cy="2194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71548">
                  <a:extLst>
                    <a:ext uri="{9D8B030D-6E8A-4147-A177-3AD203B41FA5}">
                      <a16:colId xmlns:a16="http://schemas.microsoft.com/office/drawing/2014/main" val="3964239007"/>
                    </a:ext>
                  </a:extLst>
                </a:gridCol>
                <a:gridCol w="571548">
                  <a:extLst>
                    <a:ext uri="{9D8B030D-6E8A-4147-A177-3AD203B41FA5}">
                      <a16:colId xmlns:a16="http://schemas.microsoft.com/office/drawing/2014/main" val="2325669903"/>
                    </a:ext>
                  </a:extLst>
                </a:gridCol>
                <a:gridCol w="571548">
                  <a:extLst>
                    <a:ext uri="{9D8B030D-6E8A-4147-A177-3AD203B41FA5}">
                      <a16:colId xmlns:a16="http://schemas.microsoft.com/office/drawing/2014/main" val="818931433"/>
                    </a:ext>
                  </a:extLst>
                </a:gridCol>
                <a:gridCol w="571548">
                  <a:extLst>
                    <a:ext uri="{9D8B030D-6E8A-4147-A177-3AD203B41FA5}">
                      <a16:colId xmlns:a16="http://schemas.microsoft.com/office/drawing/2014/main" val="1780158675"/>
                    </a:ext>
                  </a:extLst>
                </a:gridCol>
                <a:gridCol w="571548">
                  <a:extLst>
                    <a:ext uri="{9D8B030D-6E8A-4147-A177-3AD203B41FA5}">
                      <a16:colId xmlns:a16="http://schemas.microsoft.com/office/drawing/2014/main" val="23079884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9610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454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045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726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4292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42366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902696" y="3070425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</a:t>
            </a:r>
            <a:endParaRPr lang="en-US" sz="3200" dirty="0"/>
          </a:p>
        </p:txBody>
      </p:sp>
      <p:sp>
        <p:nvSpPr>
          <p:cNvPr id="37" name="TextBox 36"/>
          <p:cNvSpPr txBox="1"/>
          <p:nvPr/>
        </p:nvSpPr>
        <p:spPr>
          <a:xfrm>
            <a:off x="9517616" y="3074316"/>
            <a:ext cx="415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</a:t>
            </a:r>
            <a:endParaRPr lang="en-US" sz="3200" dirty="0"/>
          </a:p>
        </p:txBody>
      </p:sp>
      <p:sp>
        <p:nvSpPr>
          <p:cNvPr id="38" name="TextBox 37"/>
          <p:cNvSpPr txBox="1"/>
          <p:nvPr/>
        </p:nvSpPr>
        <p:spPr>
          <a:xfrm>
            <a:off x="10084985" y="3064153"/>
            <a:ext cx="415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C</a:t>
            </a:r>
            <a:endParaRPr lang="en-US" sz="3200" dirty="0"/>
          </a:p>
        </p:txBody>
      </p:sp>
      <p:sp>
        <p:nvSpPr>
          <p:cNvPr id="39" name="TextBox 38"/>
          <p:cNvSpPr txBox="1"/>
          <p:nvPr/>
        </p:nvSpPr>
        <p:spPr>
          <a:xfrm>
            <a:off x="10652883" y="3070425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</a:t>
            </a:r>
            <a:endParaRPr lang="en-US" sz="3200" dirty="0"/>
          </a:p>
        </p:txBody>
      </p:sp>
      <p:sp>
        <p:nvSpPr>
          <p:cNvPr id="40" name="TextBox 39"/>
          <p:cNvSpPr txBox="1"/>
          <p:nvPr/>
        </p:nvSpPr>
        <p:spPr>
          <a:xfrm>
            <a:off x="11220252" y="3067040"/>
            <a:ext cx="385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</a:t>
            </a:r>
            <a:endParaRPr lang="en-US" sz="3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0117" y="352153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1</a:t>
            </a:r>
            <a:endParaRPr lang="en-US" sz="3200" dirty="0"/>
          </a:p>
        </p:txBody>
      </p:sp>
      <p:sp>
        <p:nvSpPr>
          <p:cNvPr id="42" name="TextBox 41"/>
          <p:cNvSpPr txBox="1"/>
          <p:nvPr/>
        </p:nvSpPr>
        <p:spPr>
          <a:xfrm>
            <a:off x="8427249" y="392783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2</a:t>
            </a:r>
            <a:endParaRPr lang="en-US" sz="3200" dirty="0"/>
          </a:p>
        </p:txBody>
      </p:sp>
      <p:sp>
        <p:nvSpPr>
          <p:cNvPr id="43" name="TextBox 42"/>
          <p:cNvSpPr txBox="1"/>
          <p:nvPr/>
        </p:nvSpPr>
        <p:spPr>
          <a:xfrm>
            <a:off x="8432985" y="429518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3</a:t>
            </a:r>
            <a:endParaRPr lang="en-US" sz="3200" dirty="0"/>
          </a:p>
        </p:txBody>
      </p:sp>
      <p:sp>
        <p:nvSpPr>
          <p:cNvPr id="44" name="TextBox 43"/>
          <p:cNvSpPr txBox="1"/>
          <p:nvPr/>
        </p:nvSpPr>
        <p:spPr>
          <a:xfrm>
            <a:off x="8427249" y="466254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4</a:t>
            </a:r>
            <a:endParaRPr lang="en-US" sz="3200" dirty="0"/>
          </a:p>
        </p:txBody>
      </p:sp>
      <p:sp>
        <p:nvSpPr>
          <p:cNvPr id="45" name="TextBox 44"/>
          <p:cNvSpPr txBox="1"/>
          <p:nvPr/>
        </p:nvSpPr>
        <p:spPr>
          <a:xfrm>
            <a:off x="8426338" y="505957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5</a:t>
            </a:r>
            <a:endParaRPr lang="en-US" sz="3200" dirty="0"/>
          </a:p>
        </p:txBody>
      </p:sp>
      <p:sp>
        <p:nvSpPr>
          <p:cNvPr id="46" name="TextBox 45"/>
          <p:cNvSpPr txBox="1"/>
          <p:nvPr/>
        </p:nvSpPr>
        <p:spPr>
          <a:xfrm>
            <a:off x="8432985" y="542692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 smtClean="0"/>
              <a:t>6</a:t>
            </a:r>
            <a:endParaRPr lang="en-US" sz="3200" dirty="0"/>
          </a:p>
        </p:txBody>
      </p:sp>
      <p:sp>
        <p:nvSpPr>
          <p:cNvPr id="4" name="Equal 3"/>
          <p:cNvSpPr/>
          <p:nvPr/>
        </p:nvSpPr>
        <p:spPr>
          <a:xfrm>
            <a:off x="7696888" y="4492548"/>
            <a:ext cx="562708" cy="403764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05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4" grpId="0"/>
      <p:bldP spid="15" grpId="0"/>
      <p:bldP spid="16" grpId="0"/>
      <p:bldP spid="20" grpId="0"/>
      <p:bldP spid="21" grpId="0"/>
      <p:bldP spid="22" grpId="0"/>
      <p:bldP spid="23" grpId="0"/>
      <p:bldP spid="24" grpId="0"/>
      <p:bldP spid="25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209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Online Data Sources </vt:lpstr>
      <vt:lpstr>Agenda</vt:lpstr>
      <vt:lpstr>Publicly available tabular data</vt:lpstr>
      <vt:lpstr>Data from research papers</vt:lpstr>
      <vt:lpstr>Getting data with API’s</vt:lpstr>
      <vt:lpstr>Getting data with API’s</vt:lpstr>
      <vt:lpstr>Data within web pages</vt:lpstr>
      <vt:lpstr>Managing text with regular expressions</vt:lpstr>
      <vt:lpstr>Managing text with regular expressions</vt:lpstr>
      <vt:lpstr>PowerPoint Presentation</vt:lpstr>
      <vt:lpstr>Integrating data from multiple sources</vt:lpstr>
      <vt:lpstr>Integrating data from multiple sources</vt:lpstr>
      <vt:lpstr>Integrating data from multiple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Choices: img of R,python</dc:title>
  <dc:creator>Microsoft Office User</dc:creator>
  <cp:lastModifiedBy>jacob</cp:lastModifiedBy>
  <cp:revision>48</cp:revision>
  <dcterms:created xsi:type="dcterms:W3CDTF">2022-01-22T23:15:34Z</dcterms:created>
  <dcterms:modified xsi:type="dcterms:W3CDTF">2024-01-31T04:47:17Z</dcterms:modified>
</cp:coreProperties>
</file>