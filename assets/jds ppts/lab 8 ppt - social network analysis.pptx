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304" r:id="rId3"/>
    <p:sldId id="308" r:id="rId4"/>
    <p:sldId id="305" r:id="rId5"/>
    <p:sldId id="285" r:id="rId6"/>
    <p:sldId id="286" r:id="rId7"/>
    <p:sldId id="289" r:id="rId8"/>
    <p:sldId id="297" r:id="rId9"/>
    <p:sldId id="287" r:id="rId10"/>
    <p:sldId id="294" r:id="rId11"/>
    <p:sldId id="295" r:id="rId12"/>
    <p:sldId id="299" r:id="rId13"/>
    <p:sldId id="306" r:id="rId14"/>
    <p:sldId id="307" r:id="rId15"/>
    <p:sldId id="309" r:id="rId16"/>
    <p:sldId id="293" r:id="rId17"/>
    <p:sldId id="298" r:id="rId18"/>
    <p:sldId id="291" r:id="rId19"/>
    <p:sldId id="296" r:id="rId20"/>
    <p:sldId id="292" r:id="rId21"/>
    <p:sldId id="300" r:id="rId22"/>
    <p:sldId id="302" r:id="rId23"/>
    <p:sldId id="303" r:id="rId24"/>
    <p:sldId id="29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cob" initials="je" lastIdx="2" clrIdx="0">
    <p:extLst>
      <p:ext uri="{19B8F6BF-5375-455C-9EA6-DF929625EA0E}">
        <p15:presenceInfo xmlns:p15="http://schemas.microsoft.com/office/powerpoint/2012/main" userId="jacob"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C3E6"/>
    <a:srgbClr val="E02126"/>
    <a:srgbClr val="1777B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06" autoAdjust="0"/>
    <p:restoredTop sz="93238" autoAdjust="0"/>
  </p:normalViewPr>
  <p:slideViewPr>
    <p:cSldViewPr snapToGrid="0" snapToObjects="1">
      <p:cViewPr varScale="1">
        <p:scale>
          <a:sx n="82" d="100"/>
          <a:sy n="82"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E5F14-E0E7-4EF2-B89A-72FFCB96C6A6}" type="datetimeFigureOut">
              <a:rPr lang="en-US" smtClean="0"/>
              <a:t>3/27/2024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8DF5DD-3B60-4E09-B03D-0C21E18B4B2E}" type="slidenum">
              <a:rPr lang="en-US" smtClean="0"/>
              <a:t>‹#›</a:t>
            </a:fld>
            <a:endParaRPr lang="en-US"/>
          </a:p>
        </p:txBody>
      </p:sp>
    </p:spTree>
    <p:extLst>
      <p:ext uri="{BB962C8B-B14F-4D97-AF65-F5344CB8AC3E}">
        <p14:creationId xmlns:p14="http://schemas.microsoft.com/office/powerpoint/2010/main" val="513646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https://www.kdnuggets.com/2016/02/how-small-is-world-really.html</a:t>
            </a:r>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a:t>
            </a:fld>
            <a:endParaRPr lang="en-US"/>
          </a:p>
        </p:txBody>
      </p:sp>
    </p:spTree>
    <p:extLst>
      <p:ext uri="{BB962C8B-B14F-4D97-AF65-F5344CB8AC3E}">
        <p14:creationId xmlns:p14="http://schemas.microsoft.com/office/powerpoint/2010/main" val="2455615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papers and network</a:t>
            </a:r>
            <a:r>
              <a:rPr lang="en-US" baseline="0" dirty="0" smtClean="0"/>
              <a:t> data sources posted in Lab 8 on </a:t>
            </a:r>
            <a:r>
              <a:rPr lang="en-US" baseline="0" dirty="0" err="1" smtClean="0"/>
              <a:t>Courseworks</a:t>
            </a:r>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2</a:t>
            </a:fld>
            <a:endParaRPr lang="en-US"/>
          </a:p>
        </p:txBody>
      </p:sp>
    </p:spTree>
    <p:extLst>
      <p:ext uri="{BB962C8B-B14F-4D97-AF65-F5344CB8AC3E}">
        <p14:creationId xmlns:p14="http://schemas.microsoft.com/office/powerpoint/2010/main" val="662009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Milgram a</a:t>
            </a:r>
            <a:r>
              <a:rPr lang="en-US" baseline="0" dirty="0" smtClean="0"/>
              <a:t>t Yale was famous for obedience/authority experiments, became </a:t>
            </a:r>
            <a:r>
              <a:rPr lang="en-US" baseline="0" dirty="0" err="1" smtClean="0"/>
              <a:t>asst</a:t>
            </a:r>
            <a:r>
              <a:rPr lang="en-US" baseline="0" dirty="0" smtClean="0"/>
              <a:t> professor at Harvard and conducted famous “small world” experiment, sending letters to target through acquaintances; origin of “six degrees of separation” and set off analyses of social networks</a:t>
            </a:r>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3</a:t>
            </a:fld>
            <a:endParaRPr lang="en-US"/>
          </a:p>
        </p:txBody>
      </p:sp>
    </p:spTree>
    <p:extLst>
      <p:ext uri="{BB962C8B-B14F-4D97-AF65-F5344CB8AC3E}">
        <p14:creationId xmlns:p14="http://schemas.microsoft.com/office/powerpoint/2010/main" val="3739438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4</a:t>
            </a:fld>
            <a:endParaRPr lang="en-US"/>
          </a:p>
        </p:txBody>
      </p:sp>
    </p:spTree>
    <p:extLst>
      <p:ext uri="{BB962C8B-B14F-4D97-AF65-F5344CB8AC3E}">
        <p14:creationId xmlns:p14="http://schemas.microsoft.com/office/powerpoint/2010/main" val="2929894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5</a:t>
            </a:fld>
            <a:endParaRPr lang="en-US"/>
          </a:p>
        </p:txBody>
      </p:sp>
    </p:spTree>
    <p:extLst>
      <p:ext uri="{BB962C8B-B14F-4D97-AF65-F5344CB8AC3E}">
        <p14:creationId xmlns:p14="http://schemas.microsoft.com/office/powerpoint/2010/main" val="824846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Fig. 8: shows the complete social interactions network of the public Facebook page, "Against Stop Online Piracy Act SOPA", over all the contents shared on the page. At generation time there were 5690 posts, 3864 likes directly on the posts, 8564 comments to the posts and 15529 likes on the posted comments. Clusters are separated by colors. For better visibility all nodes with a degree of lower than six have been removed from the graph; hence; the above graph contains 16% of the total nodes of the original graph and 36% of the total edges of the original graph.</a:t>
            </a:r>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6</a:t>
            </a:fld>
            <a:endParaRPr lang="en-US"/>
          </a:p>
        </p:txBody>
      </p:sp>
    </p:spTree>
    <p:extLst>
      <p:ext uri="{BB962C8B-B14F-4D97-AF65-F5344CB8AC3E}">
        <p14:creationId xmlns:p14="http://schemas.microsoft.com/office/powerpoint/2010/main" val="1597609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7</a:t>
            </a:fld>
            <a:endParaRPr lang="en-US"/>
          </a:p>
        </p:txBody>
      </p:sp>
    </p:spTree>
    <p:extLst>
      <p:ext uri="{BB962C8B-B14F-4D97-AF65-F5344CB8AC3E}">
        <p14:creationId xmlns:p14="http://schemas.microsoft.com/office/powerpoint/2010/main" val="1468604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8</a:t>
            </a:fld>
            <a:endParaRPr lang="en-US"/>
          </a:p>
        </p:txBody>
      </p:sp>
    </p:spTree>
    <p:extLst>
      <p:ext uri="{BB962C8B-B14F-4D97-AF65-F5344CB8AC3E}">
        <p14:creationId xmlns:p14="http://schemas.microsoft.com/office/powerpoint/2010/main" val="3508150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9</a:t>
            </a:fld>
            <a:endParaRPr lang="en-US"/>
          </a:p>
        </p:txBody>
      </p:sp>
    </p:spTree>
    <p:extLst>
      <p:ext uri="{BB962C8B-B14F-4D97-AF65-F5344CB8AC3E}">
        <p14:creationId xmlns:p14="http://schemas.microsoft.com/office/powerpoint/2010/main" val="1947648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10</a:t>
            </a:fld>
            <a:endParaRPr lang="en-US"/>
          </a:p>
        </p:txBody>
      </p:sp>
    </p:spTree>
    <p:extLst>
      <p:ext uri="{BB962C8B-B14F-4D97-AF65-F5344CB8AC3E}">
        <p14:creationId xmlns:p14="http://schemas.microsoft.com/office/powerpoint/2010/main" val="517647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11</a:t>
            </a:fld>
            <a:endParaRPr lang="en-US"/>
          </a:p>
        </p:txBody>
      </p:sp>
    </p:spTree>
    <p:extLst>
      <p:ext uri="{BB962C8B-B14F-4D97-AF65-F5344CB8AC3E}">
        <p14:creationId xmlns:p14="http://schemas.microsoft.com/office/powerpoint/2010/main" val="774984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12</a:t>
            </a:fld>
            <a:endParaRPr lang="en-US"/>
          </a:p>
        </p:txBody>
      </p:sp>
    </p:spTree>
    <p:extLst>
      <p:ext uri="{BB962C8B-B14F-4D97-AF65-F5344CB8AC3E}">
        <p14:creationId xmlns:p14="http://schemas.microsoft.com/office/powerpoint/2010/main" val="665028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13</a:t>
            </a:fld>
            <a:endParaRPr lang="en-US"/>
          </a:p>
        </p:txBody>
      </p:sp>
    </p:spTree>
    <p:extLst>
      <p:ext uri="{BB962C8B-B14F-4D97-AF65-F5344CB8AC3E}">
        <p14:creationId xmlns:p14="http://schemas.microsoft.com/office/powerpoint/2010/main" val="1595371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14</a:t>
            </a:fld>
            <a:endParaRPr lang="en-US"/>
          </a:p>
        </p:txBody>
      </p:sp>
    </p:spTree>
    <p:extLst>
      <p:ext uri="{BB962C8B-B14F-4D97-AF65-F5344CB8AC3E}">
        <p14:creationId xmlns:p14="http://schemas.microsoft.com/office/powerpoint/2010/main" val="37192806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15</a:t>
            </a:fld>
            <a:endParaRPr lang="en-US"/>
          </a:p>
        </p:txBody>
      </p:sp>
    </p:spTree>
    <p:extLst>
      <p:ext uri="{BB962C8B-B14F-4D97-AF65-F5344CB8AC3E}">
        <p14:creationId xmlns:p14="http://schemas.microsoft.com/office/powerpoint/2010/main" val="3896981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16</a:t>
            </a:fld>
            <a:endParaRPr lang="en-US"/>
          </a:p>
        </p:txBody>
      </p:sp>
    </p:spTree>
    <p:extLst>
      <p:ext uri="{BB962C8B-B14F-4D97-AF65-F5344CB8AC3E}">
        <p14:creationId xmlns:p14="http://schemas.microsoft.com/office/powerpoint/2010/main" val="710054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17</a:t>
            </a:fld>
            <a:endParaRPr lang="en-US"/>
          </a:p>
        </p:txBody>
      </p:sp>
    </p:spTree>
    <p:extLst>
      <p:ext uri="{BB962C8B-B14F-4D97-AF65-F5344CB8AC3E}">
        <p14:creationId xmlns:p14="http://schemas.microsoft.com/office/powerpoint/2010/main" val="2325369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18</a:t>
            </a:fld>
            <a:endParaRPr lang="en-US"/>
          </a:p>
        </p:txBody>
      </p:sp>
    </p:spTree>
    <p:extLst>
      <p:ext uri="{BB962C8B-B14F-4D97-AF65-F5344CB8AC3E}">
        <p14:creationId xmlns:p14="http://schemas.microsoft.com/office/powerpoint/2010/main" val="1884154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19</a:t>
            </a:fld>
            <a:endParaRPr lang="en-US"/>
          </a:p>
        </p:txBody>
      </p:sp>
    </p:spTree>
    <p:extLst>
      <p:ext uri="{BB962C8B-B14F-4D97-AF65-F5344CB8AC3E}">
        <p14:creationId xmlns:p14="http://schemas.microsoft.com/office/powerpoint/2010/main" val="25110781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their</a:t>
            </a:r>
            <a:r>
              <a:rPr lang="en-US" baseline="0" dirty="0" smtClean="0"/>
              <a:t> main network, 138,163 nodes (individuals with an arrest record) – edges are not shown (spatially closer points are more connected)</a:t>
            </a:r>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20</a:t>
            </a:fld>
            <a:endParaRPr lang="en-US"/>
          </a:p>
        </p:txBody>
      </p:sp>
    </p:spTree>
    <p:extLst>
      <p:ext uri="{BB962C8B-B14F-4D97-AF65-F5344CB8AC3E}">
        <p14:creationId xmlns:p14="http://schemas.microsoft.com/office/powerpoint/2010/main" val="3338840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gun</a:t>
            </a:r>
            <a:r>
              <a:rPr lang="en-US" baseline="0" dirty="0" smtClean="0"/>
              <a:t> violence victims had almost twice the connections to other victims as non-victims had to other non-victims</a:t>
            </a:r>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21</a:t>
            </a:fld>
            <a:endParaRPr lang="en-US"/>
          </a:p>
        </p:txBody>
      </p:sp>
    </p:spTree>
    <p:extLst>
      <p:ext uri="{BB962C8B-B14F-4D97-AF65-F5344CB8AC3E}">
        <p14:creationId xmlns:p14="http://schemas.microsoft.com/office/powerpoint/2010/main" val="1113566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22</a:t>
            </a:fld>
            <a:endParaRPr lang="en-US"/>
          </a:p>
        </p:txBody>
      </p:sp>
    </p:spTree>
    <p:extLst>
      <p:ext uri="{BB962C8B-B14F-4D97-AF65-F5344CB8AC3E}">
        <p14:creationId xmlns:p14="http://schemas.microsoft.com/office/powerpoint/2010/main" val="4095289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23</a:t>
            </a:fld>
            <a:endParaRPr lang="en-US"/>
          </a:p>
        </p:txBody>
      </p:sp>
    </p:spTree>
    <p:extLst>
      <p:ext uri="{BB962C8B-B14F-4D97-AF65-F5344CB8AC3E}">
        <p14:creationId xmlns:p14="http://schemas.microsoft.com/office/powerpoint/2010/main" val="323642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8DF5DD-3B60-4E09-B03D-0C21E18B4B2E}" type="slidenum">
              <a:rPr lang="en-US" smtClean="0"/>
              <a:t>24</a:t>
            </a:fld>
            <a:endParaRPr lang="en-US"/>
          </a:p>
        </p:txBody>
      </p:sp>
    </p:spTree>
    <p:extLst>
      <p:ext uri="{BB962C8B-B14F-4D97-AF65-F5344CB8AC3E}">
        <p14:creationId xmlns:p14="http://schemas.microsoft.com/office/powerpoint/2010/main" val="1445800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3C094-54C2-B94A-AF1B-39031A02E9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1FC8B0-DBB8-F949-AEE0-9CB0E84DC1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B66153-8675-D84B-97EC-2615A1087212}"/>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5" name="Footer Placeholder 4">
            <a:extLst>
              <a:ext uri="{FF2B5EF4-FFF2-40B4-BE49-F238E27FC236}">
                <a16:creationId xmlns:a16="http://schemas.microsoft.com/office/drawing/2014/main" id="{734C3C42-D4F3-9545-810D-35806A39AD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DF7155-3E09-1E46-89BF-3852DEAFC496}"/>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1581628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0BF10-F78B-0941-A890-9AAEC76EE7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C83785-43B0-F941-A03D-40D850BBC4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690862-A590-2545-80F9-2F193F96994F}"/>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5" name="Footer Placeholder 4">
            <a:extLst>
              <a:ext uri="{FF2B5EF4-FFF2-40B4-BE49-F238E27FC236}">
                <a16:creationId xmlns:a16="http://schemas.microsoft.com/office/drawing/2014/main" id="{C03349BC-115B-954C-B63F-3CED0B9FBE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32BEA5-3656-3C47-A21C-7A86CFBEEFF0}"/>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3376373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6A36-932F-9F4E-B3C3-283E87CFD9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8CB2CB-9F0F-4C4A-8258-ECB40EA9F6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C2853B-BA84-E14A-82E1-E229AC740719}"/>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5" name="Footer Placeholder 4">
            <a:extLst>
              <a:ext uri="{FF2B5EF4-FFF2-40B4-BE49-F238E27FC236}">
                <a16:creationId xmlns:a16="http://schemas.microsoft.com/office/drawing/2014/main" id="{28CC4600-4668-DA4B-A252-6B5049FEE2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D1512D-5D13-7B40-8EB8-DEEEBF00D613}"/>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3604864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886CD-583E-BB4F-AD5A-8E59A24164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2F3574-254A-AE4F-851D-3186742776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F04E31-D66B-C742-851B-25DF660CCE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3B9220-10B4-C24A-A555-87E4D15B2869}"/>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6" name="Footer Placeholder 5">
            <a:extLst>
              <a:ext uri="{FF2B5EF4-FFF2-40B4-BE49-F238E27FC236}">
                <a16:creationId xmlns:a16="http://schemas.microsoft.com/office/drawing/2014/main" id="{5566B55F-CC79-D541-9ABE-D9DF4C0E2B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646608-C1EA-E248-8CB6-BF2F48088D82}"/>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713284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9AC02-8ACF-9946-A15E-26AF688BB7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AD3C71-F8AA-3A4A-9605-913EFD2F69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8668AB-472A-D24C-BE82-E36E692D63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F71E61-06F8-2148-99DB-745724B102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1EDCB6-4F99-5C40-9A1B-32D2A4995E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3B06EB-DE03-4348-AC18-00182C58D5FA}"/>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8" name="Footer Placeholder 7">
            <a:extLst>
              <a:ext uri="{FF2B5EF4-FFF2-40B4-BE49-F238E27FC236}">
                <a16:creationId xmlns:a16="http://schemas.microsoft.com/office/drawing/2014/main" id="{CFB44C5D-149B-B44C-95CA-6025FE9EB6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1E07E5-84A4-D649-A82B-2C26F37CE0F5}"/>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2145385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5DAB1-FB42-1743-BA85-B5785CA8DD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EAE764-0E65-3447-A6F0-84CE7BC4C9CC}"/>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4" name="Footer Placeholder 3">
            <a:extLst>
              <a:ext uri="{FF2B5EF4-FFF2-40B4-BE49-F238E27FC236}">
                <a16:creationId xmlns:a16="http://schemas.microsoft.com/office/drawing/2014/main" id="{4921FC23-0014-694F-8C3C-25D342AE14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FAF3CC-75BA-BA4C-9DA5-C9EC8652B353}"/>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1695475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864FD5-0A90-F944-BB89-780B224DB19E}"/>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3" name="Footer Placeholder 2">
            <a:extLst>
              <a:ext uri="{FF2B5EF4-FFF2-40B4-BE49-F238E27FC236}">
                <a16:creationId xmlns:a16="http://schemas.microsoft.com/office/drawing/2014/main" id="{1BC51DBA-DEA1-4C44-825E-EC645630A7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6BF2B0-ACFE-C942-89B2-C1E5775F9A90}"/>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140734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342E-CE9D-5744-9866-B68FF3BA6F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7D7AA8-77DC-6548-8D39-D64C4F3F8E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A45AA3-41AF-4F40-A37F-9F66611B4B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5602CA-6792-C54C-9098-ED909536F23F}"/>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6" name="Footer Placeholder 5">
            <a:extLst>
              <a:ext uri="{FF2B5EF4-FFF2-40B4-BE49-F238E27FC236}">
                <a16:creationId xmlns:a16="http://schemas.microsoft.com/office/drawing/2014/main" id="{06C45BFF-A705-A144-A779-6E5D4D9764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CDBC1E-21CB-2647-B97B-1E7008B7BB1F}"/>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4293520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7E6D4-EE5E-404D-95B2-21C050AAB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AD8392-DD4A-E845-B374-64533F4F55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4A23E6-B529-A346-8058-F98B78049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2A6FA3-B013-1949-A9CE-3CD9EB310D1F}"/>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6" name="Footer Placeholder 5">
            <a:extLst>
              <a:ext uri="{FF2B5EF4-FFF2-40B4-BE49-F238E27FC236}">
                <a16:creationId xmlns:a16="http://schemas.microsoft.com/office/drawing/2014/main" id="{CED4E784-83C8-4C41-9D40-69ACA5B746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E539E5-4B93-3F4A-AB6D-31AC328A06CF}"/>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4001587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928C3-3541-324A-AA67-BF9EB95507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C9894A-926D-664E-A3B1-77A0B12616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7F651-3FB6-8647-9CD9-BE2ED1F72BA9}"/>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5" name="Footer Placeholder 4">
            <a:extLst>
              <a:ext uri="{FF2B5EF4-FFF2-40B4-BE49-F238E27FC236}">
                <a16:creationId xmlns:a16="http://schemas.microsoft.com/office/drawing/2014/main" id="{A90FFDB1-8AA7-F34F-AD28-7EC028B71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B3335A-B5CA-D04C-8C9D-FCFFB96FA59A}"/>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4151251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F3B6BD-4005-DF41-9077-8CFD4E2B21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0BAB2E-762A-9C49-B8D6-6FFD3B5D50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3D6AF-DDF8-EC42-868A-97C16999F343}"/>
              </a:ext>
            </a:extLst>
          </p:cNvPr>
          <p:cNvSpPr>
            <a:spLocks noGrp="1"/>
          </p:cNvSpPr>
          <p:nvPr>
            <p:ph type="dt" sz="half" idx="10"/>
          </p:nvPr>
        </p:nvSpPr>
        <p:spPr/>
        <p:txBody>
          <a:bodyPr/>
          <a:lstStyle/>
          <a:p>
            <a:fld id="{C182ECEB-6AEA-C94A-A41A-D3CE19F3D862}" type="datetimeFigureOut">
              <a:rPr lang="en-US" smtClean="0"/>
              <a:t>3/27/2024</a:t>
            </a:fld>
            <a:endParaRPr lang="en-US"/>
          </a:p>
        </p:txBody>
      </p:sp>
      <p:sp>
        <p:nvSpPr>
          <p:cNvPr id="5" name="Footer Placeholder 4">
            <a:extLst>
              <a:ext uri="{FF2B5EF4-FFF2-40B4-BE49-F238E27FC236}">
                <a16:creationId xmlns:a16="http://schemas.microsoft.com/office/drawing/2014/main" id="{41170697-9333-BA4E-9A54-F6F63EC320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6EB0D-8445-9E43-B0AD-869CE9DC9B00}"/>
              </a:ext>
            </a:extLst>
          </p:cNvPr>
          <p:cNvSpPr>
            <a:spLocks noGrp="1"/>
          </p:cNvSpPr>
          <p:nvPr>
            <p:ph type="sldNum" sz="quarter" idx="12"/>
          </p:nvPr>
        </p:nvSpPr>
        <p:spPr/>
        <p:txBody>
          <a:bodyPr/>
          <a:lstStyle/>
          <a:p>
            <a:fld id="{B40E3C3E-5F2B-454A-B092-C7529FD755F8}" type="slidenum">
              <a:rPr lang="en-US" smtClean="0"/>
              <a:t>‹#›</a:t>
            </a:fld>
            <a:endParaRPr lang="en-US"/>
          </a:p>
        </p:txBody>
      </p:sp>
    </p:spTree>
    <p:extLst>
      <p:ext uri="{BB962C8B-B14F-4D97-AF65-F5344CB8AC3E}">
        <p14:creationId xmlns:p14="http://schemas.microsoft.com/office/powerpoint/2010/main" val="2126838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30574F-EC2D-F74F-96CE-58EFADB38B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7D902E-8794-7F46-A5B2-C71019777F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39B3D6-61E8-1846-B355-259113370C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82ECEB-6AEA-C94A-A41A-D3CE19F3D862}" type="datetimeFigureOut">
              <a:rPr lang="en-US" smtClean="0"/>
              <a:t>3/27/2024</a:t>
            </a:fld>
            <a:endParaRPr lang="en-US"/>
          </a:p>
        </p:txBody>
      </p:sp>
      <p:sp>
        <p:nvSpPr>
          <p:cNvPr id="5" name="Footer Placeholder 4">
            <a:extLst>
              <a:ext uri="{FF2B5EF4-FFF2-40B4-BE49-F238E27FC236}">
                <a16:creationId xmlns:a16="http://schemas.microsoft.com/office/drawing/2014/main" id="{D5A819D2-D866-AE48-BBC0-D9CEAEBA54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D8953AE-D178-544F-9920-89B519947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E3C3E-5F2B-454A-B092-C7529FD755F8}" type="slidenum">
              <a:rPr lang="en-US" smtClean="0"/>
              <a:t>‹#›</a:t>
            </a:fld>
            <a:endParaRPr lang="en-US"/>
          </a:p>
        </p:txBody>
      </p:sp>
    </p:spTree>
    <p:extLst>
      <p:ext uri="{BB962C8B-B14F-4D97-AF65-F5344CB8AC3E}">
        <p14:creationId xmlns:p14="http://schemas.microsoft.com/office/powerpoint/2010/main" val="730019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oracleofbacon.org/" TargetMode="External"/><Relationship Id="rId4" Type="http://schemas.openxmlformats.org/officeDocument/2006/relationships/hyperlink" Target="https://research.facebook.com/blog/2016/2/three-and-a-half-degrees-of-separatio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jamanetwork.com/journals/jamainternalmedicine/fullarticle/2594804"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networksciencebook.com/"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gvegayon.github.io/appliedsnar/" TargetMode="External"/><Relationship Id="rId5" Type="http://schemas.openxmlformats.org/officeDocument/2006/relationships/hyperlink" Target="https://link.springer.com/book/10.1007/978-1-4939-0983-4" TargetMode="External"/><Relationship Id="rId4" Type="http://schemas.openxmlformats.org/officeDocument/2006/relationships/hyperlink" Target="https://www.annualreviews.org/doi/abs/10.1146/annurev-criminol-011518-0247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8E09F-CF97-E140-9C72-F6B8FE068FB3}"/>
              </a:ext>
            </a:extLst>
          </p:cNvPr>
          <p:cNvSpPr>
            <a:spLocks noGrp="1"/>
          </p:cNvSpPr>
          <p:nvPr>
            <p:ph type="ctrTitle"/>
          </p:nvPr>
        </p:nvSpPr>
        <p:spPr>
          <a:xfrm>
            <a:off x="1524000" y="340043"/>
            <a:ext cx="9144000" cy="2387600"/>
          </a:xfrm>
        </p:spPr>
        <p:txBody>
          <a:bodyPr/>
          <a:lstStyle/>
          <a:p>
            <a:r>
              <a:rPr lang="en-US" dirty="0" smtClean="0"/>
              <a:t>Social Network Analysis</a:t>
            </a:r>
            <a:r>
              <a:rPr lang="en-US" dirty="0"/>
              <a:t/>
            </a:r>
            <a:br>
              <a:rPr lang="en-US" dirty="0"/>
            </a:br>
            <a:endParaRPr lang="en-US" dirty="0"/>
          </a:p>
        </p:txBody>
      </p:sp>
      <p:sp>
        <p:nvSpPr>
          <p:cNvPr id="6" name="Subtitle 2">
            <a:extLst>
              <a:ext uri="{FF2B5EF4-FFF2-40B4-BE49-F238E27FC236}">
                <a16:creationId xmlns:a16="http://schemas.microsoft.com/office/drawing/2014/main" id="{40AF042A-18C2-374D-AC35-95ED4B28F8A5}"/>
              </a:ext>
            </a:extLst>
          </p:cNvPr>
          <p:cNvSpPr txBox="1">
            <a:spLocks/>
          </p:cNvSpPr>
          <p:nvPr/>
        </p:nvSpPr>
        <p:spPr>
          <a:xfrm>
            <a:off x="1676400" y="53546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mtClean="0"/>
          </a:p>
          <a:p>
            <a:endParaRPr lang="en-US" smtClean="0"/>
          </a:p>
          <a:p>
            <a:r>
              <a:rPr lang="en-US" smtClean="0"/>
              <a:t>Lab 8</a:t>
            </a:r>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511" b="1944"/>
          <a:stretch/>
        </p:blipFill>
        <p:spPr>
          <a:xfrm>
            <a:off x="2719082" y="1992923"/>
            <a:ext cx="7058636" cy="4087446"/>
          </a:xfrm>
          <a:prstGeom prst="rect">
            <a:avLst/>
          </a:prstGeom>
        </p:spPr>
      </p:pic>
      <p:sp>
        <p:nvSpPr>
          <p:cNvPr id="7" name="TextBox 6"/>
          <p:cNvSpPr txBox="1"/>
          <p:nvPr/>
        </p:nvSpPr>
        <p:spPr>
          <a:xfrm>
            <a:off x="469821" y="6184108"/>
            <a:ext cx="3519297" cy="369332"/>
          </a:xfrm>
          <a:prstGeom prst="rect">
            <a:avLst/>
          </a:prstGeom>
          <a:noFill/>
        </p:spPr>
        <p:txBody>
          <a:bodyPr wrap="none" rtlCol="0">
            <a:spAutoFit/>
          </a:bodyPr>
          <a:lstStyle/>
          <a:p>
            <a:r>
              <a:rPr lang="en-US" dirty="0" smtClean="0">
                <a:hlinkClick r:id="rId4"/>
              </a:rPr>
              <a:t>Six (or fewer) degrees of separation</a:t>
            </a:r>
            <a:endParaRPr lang="en-US" dirty="0"/>
          </a:p>
        </p:txBody>
      </p:sp>
      <p:sp>
        <p:nvSpPr>
          <p:cNvPr id="8" name="TextBox 7"/>
          <p:cNvSpPr txBox="1"/>
          <p:nvPr/>
        </p:nvSpPr>
        <p:spPr>
          <a:xfrm>
            <a:off x="9834598" y="6184108"/>
            <a:ext cx="1666803" cy="369332"/>
          </a:xfrm>
          <a:prstGeom prst="rect">
            <a:avLst/>
          </a:prstGeom>
          <a:noFill/>
        </p:spPr>
        <p:txBody>
          <a:bodyPr wrap="none" rtlCol="0">
            <a:spAutoFit/>
          </a:bodyPr>
          <a:lstStyle/>
          <a:p>
            <a:r>
              <a:rPr lang="en-US" dirty="0" smtClean="0">
                <a:hlinkClick r:id="rId5"/>
              </a:rPr>
              <a:t>Try for yourself!</a:t>
            </a:r>
            <a:endParaRPr lang="en-US" dirty="0"/>
          </a:p>
        </p:txBody>
      </p:sp>
    </p:spTree>
    <p:extLst>
      <p:ext uri="{BB962C8B-B14F-4D97-AF65-F5344CB8AC3E}">
        <p14:creationId xmlns:p14="http://schemas.microsoft.com/office/powerpoint/2010/main" val="23662820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F121F737-C768-7F40-B84E-032A8766451A}"/>
              </a:ext>
            </a:extLst>
          </p:cNvPr>
          <p:cNvSpPr>
            <a:spLocks noGrp="1"/>
          </p:cNvSpPr>
          <p:nvPr>
            <p:ph idx="1"/>
          </p:nvPr>
        </p:nvSpPr>
        <p:spPr/>
        <p:txBody>
          <a:bodyPr>
            <a:normAutofit/>
          </a:bodyPr>
          <a:lstStyle/>
          <a:p>
            <a:r>
              <a:rPr lang="en-US" dirty="0" smtClean="0"/>
              <a:t>Network vocabulary</a:t>
            </a:r>
          </a:p>
          <a:p>
            <a:r>
              <a:rPr lang="en-US" dirty="0" smtClean="0"/>
              <a:t>Applications for justice</a:t>
            </a:r>
          </a:p>
          <a:p>
            <a:pPr marL="0" indent="0">
              <a:buNone/>
            </a:pPr>
            <a:endParaRPr lang="en-US" dirty="0" smtClean="0"/>
          </a:p>
          <a:p>
            <a:r>
              <a:rPr lang="en-US" dirty="0" smtClean="0"/>
              <a:t>Network analyses in R</a:t>
            </a:r>
          </a:p>
          <a:p>
            <a:pPr marL="0" indent="0">
              <a:buNone/>
            </a:pPr>
            <a:endParaRPr lang="en-US" dirty="0"/>
          </a:p>
          <a:p>
            <a:endParaRPr lang="en-US" dirty="0" smtClean="0"/>
          </a:p>
          <a:p>
            <a:endParaRPr lang="en-US" dirty="0"/>
          </a:p>
        </p:txBody>
      </p:sp>
    </p:spTree>
    <p:extLst>
      <p:ext uri="{BB962C8B-B14F-4D97-AF65-F5344CB8AC3E}">
        <p14:creationId xmlns:p14="http://schemas.microsoft.com/office/powerpoint/2010/main" val="9249392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“Small world”</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8253" y="1844598"/>
            <a:ext cx="6821451" cy="410352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8418" y="2032000"/>
            <a:ext cx="2286000" cy="2794000"/>
          </a:xfrm>
          <a:prstGeom prst="rect">
            <a:avLst/>
          </a:prstGeom>
        </p:spPr>
      </p:pic>
      <p:sp>
        <p:nvSpPr>
          <p:cNvPr id="7" name="TextBox 6"/>
          <p:cNvSpPr txBox="1"/>
          <p:nvPr/>
        </p:nvSpPr>
        <p:spPr>
          <a:xfrm>
            <a:off x="8791670" y="4987729"/>
            <a:ext cx="2206886" cy="461665"/>
          </a:xfrm>
          <a:prstGeom prst="rect">
            <a:avLst/>
          </a:prstGeom>
          <a:noFill/>
        </p:spPr>
        <p:txBody>
          <a:bodyPr wrap="none" rtlCol="0">
            <a:spAutoFit/>
          </a:bodyPr>
          <a:lstStyle/>
          <a:p>
            <a:r>
              <a:rPr lang="en-US" sz="2400" dirty="0" smtClean="0"/>
              <a:t>Stanley Milgram</a:t>
            </a:r>
            <a:endParaRPr lang="en-US" sz="2400" dirty="0"/>
          </a:p>
        </p:txBody>
      </p:sp>
    </p:spTree>
    <p:extLst>
      <p:ext uri="{BB962C8B-B14F-4D97-AF65-F5344CB8AC3E}">
        <p14:creationId xmlns:p14="http://schemas.microsoft.com/office/powerpoint/2010/main" val="5211601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sz="4000" dirty="0" smtClean="0"/>
              <a:t>Network science is young but increasingly popular</a:t>
            </a:r>
            <a:endParaRPr lang="en-US" sz="40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6343" y="1690688"/>
            <a:ext cx="5858395" cy="314645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7512" y="5113616"/>
            <a:ext cx="8173591" cy="1257475"/>
          </a:xfrm>
          <a:prstGeom prst="rect">
            <a:avLst/>
          </a:prstGeom>
        </p:spPr>
      </p:pic>
      <p:sp>
        <p:nvSpPr>
          <p:cNvPr id="7" name="Rectangle 6"/>
          <p:cNvSpPr/>
          <p:nvPr/>
        </p:nvSpPr>
        <p:spPr>
          <a:xfrm>
            <a:off x="2154915" y="5322277"/>
            <a:ext cx="2886008" cy="265723"/>
          </a:xfrm>
          <a:prstGeom prst="rect">
            <a:avLst/>
          </a:prstGeom>
          <a:noFill/>
          <a:ln w="571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0136622" y="5403334"/>
            <a:ext cx="1955600" cy="369332"/>
          </a:xfrm>
          <a:prstGeom prst="rect">
            <a:avLst/>
          </a:prstGeom>
          <a:noFill/>
        </p:spPr>
        <p:txBody>
          <a:bodyPr wrap="none" rtlCol="0">
            <a:spAutoFit/>
          </a:bodyPr>
          <a:lstStyle/>
          <a:p>
            <a:r>
              <a:rPr lang="en-US" dirty="0" smtClean="0"/>
              <a:t>(Faust &amp; </a:t>
            </a:r>
            <a:r>
              <a:rPr lang="en-US" dirty="0" err="1" smtClean="0"/>
              <a:t>Tita</a:t>
            </a:r>
            <a:r>
              <a:rPr lang="en-US" dirty="0" smtClean="0"/>
              <a:t> 2019)</a:t>
            </a:r>
            <a:endParaRPr lang="en-US" dirty="0"/>
          </a:p>
        </p:txBody>
      </p:sp>
    </p:spTree>
    <p:extLst>
      <p:ext uri="{BB962C8B-B14F-4D97-AF65-F5344CB8AC3E}">
        <p14:creationId xmlns:p14="http://schemas.microsoft.com/office/powerpoint/2010/main" val="32045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Networks = Graphs</a:t>
            </a:r>
            <a:endParaRPr lang="en-US" dirty="0"/>
          </a:p>
        </p:txBody>
      </p:sp>
      <p:sp>
        <p:nvSpPr>
          <p:cNvPr id="5" name="Oval 4"/>
          <p:cNvSpPr/>
          <p:nvPr/>
        </p:nvSpPr>
        <p:spPr>
          <a:xfrm>
            <a:off x="3884245" y="3911600"/>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521568" y="2594036"/>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392984" y="4708097"/>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68854" y="3826320"/>
            <a:ext cx="2497158" cy="584775"/>
          </a:xfrm>
          <a:prstGeom prst="rect">
            <a:avLst/>
          </a:prstGeom>
          <a:noFill/>
        </p:spPr>
        <p:txBody>
          <a:bodyPr wrap="none" rtlCol="0">
            <a:spAutoFit/>
          </a:bodyPr>
          <a:lstStyle/>
          <a:p>
            <a:r>
              <a:rPr lang="en-US" sz="3200" dirty="0" smtClean="0"/>
              <a:t>Node / Vertex</a:t>
            </a:r>
            <a:endParaRPr lang="en-US" sz="3200" dirty="0"/>
          </a:p>
        </p:txBody>
      </p:sp>
      <p:sp>
        <p:nvSpPr>
          <p:cNvPr id="9" name="TextBox 8"/>
          <p:cNvSpPr txBox="1"/>
          <p:nvPr/>
        </p:nvSpPr>
        <p:spPr>
          <a:xfrm>
            <a:off x="3910053" y="3421745"/>
            <a:ext cx="362600" cy="461665"/>
          </a:xfrm>
          <a:prstGeom prst="rect">
            <a:avLst/>
          </a:prstGeom>
          <a:noFill/>
        </p:spPr>
        <p:txBody>
          <a:bodyPr wrap="none" rtlCol="0">
            <a:spAutoFit/>
          </a:bodyPr>
          <a:lstStyle/>
          <a:p>
            <a:r>
              <a:rPr lang="en-US" sz="2400" dirty="0" smtClean="0"/>
              <a:t>A</a:t>
            </a:r>
            <a:endParaRPr lang="en-US" sz="2400" dirty="0"/>
          </a:p>
        </p:txBody>
      </p:sp>
      <p:sp>
        <p:nvSpPr>
          <p:cNvPr id="10" name="TextBox 9"/>
          <p:cNvSpPr txBox="1"/>
          <p:nvPr/>
        </p:nvSpPr>
        <p:spPr>
          <a:xfrm>
            <a:off x="5547376" y="2137675"/>
            <a:ext cx="362600" cy="461665"/>
          </a:xfrm>
          <a:prstGeom prst="rect">
            <a:avLst/>
          </a:prstGeom>
          <a:noFill/>
        </p:spPr>
        <p:txBody>
          <a:bodyPr wrap="none" rtlCol="0">
            <a:spAutoFit/>
          </a:bodyPr>
          <a:lstStyle/>
          <a:p>
            <a:r>
              <a:rPr lang="en-US" sz="2400" dirty="0" smtClean="0"/>
              <a:t>B</a:t>
            </a:r>
            <a:endParaRPr lang="en-US" sz="2400" dirty="0"/>
          </a:p>
        </p:txBody>
      </p:sp>
      <p:sp>
        <p:nvSpPr>
          <p:cNvPr id="11" name="TextBox 10"/>
          <p:cNvSpPr txBox="1"/>
          <p:nvPr/>
        </p:nvSpPr>
        <p:spPr>
          <a:xfrm>
            <a:off x="6418792" y="4246432"/>
            <a:ext cx="348172" cy="461665"/>
          </a:xfrm>
          <a:prstGeom prst="rect">
            <a:avLst/>
          </a:prstGeom>
          <a:noFill/>
        </p:spPr>
        <p:txBody>
          <a:bodyPr wrap="none" rtlCol="0">
            <a:spAutoFit/>
          </a:bodyPr>
          <a:lstStyle/>
          <a:p>
            <a:r>
              <a:rPr lang="en-US" sz="2400" dirty="0" smtClean="0"/>
              <a:t>C</a:t>
            </a:r>
            <a:endParaRPr lang="en-US" sz="2400" dirty="0"/>
          </a:p>
        </p:txBody>
      </p:sp>
      <p:cxnSp>
        <p:nvCxnSpPr>
          <p:cNvPr id="13" name="Straight Connector 12"/>
          <p:cNvCxnSpPr/>
          <p:nvPr/>
        </p:nvCxnSpPr>
        <p:spPr>
          <a:xfrm flipV="1">
            <a:off x="4091353" y="2801144"/>
            <a:ext cx="1637323" cy="1317563"/>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5728676" y="2801144"/>
            <a:ext cx="864202" cy="2114061"/>
          </a:xfrm>
          <a:prstGeom prst="line">
            <a:avLst/>
          </a:prstGeom>
          <a:ln w="114300"/>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4208124" y="2733416"/>
            <a:ext cx="989566" cy="584775"/>
          </a:xfrm>
          <a:prstGeom prst="rect">
            <a:avLst/>
          </a:prstGeom>
          <a:noFill/>
        </p:spPr>
        <p:txBody>
          <a:bodyPr wrap="none" rtlCol="0">
            <a:spAutoFit/>
          </a:bodyPr>
          <a:lstStyle/>
          <a:p>
            <a:r>
              <a:rPr lang="en-US" sz="3200" dirty="0" smtClean="0"/>
              <a:t>Edge</a:t>
            </a:r>
            <a:endParaRPr lang="en-US" sz="3200" dirty="0"/>
          </a:p>
        </p:txBody>
      </p:sp>
      <p:sp>
        <p:nvSpPr>
          <p:cNvPr id="21" name="TextBox 20"/>
          <p:cNvSpPr txBox="1"/>
          <p:nvPr/>
        </p:nvSpPr>
        <p:spPr>
          <a:xfrm>
            <a:off x="6246745" y="3238898"/>
            <a:ext cx="2700419" cy="584775"/>
          </a:xfrm>
          <a:prstGeom prst="rect">
            <a:avLst/>
          </a:prstGeom>
          <a:noFill/>
        </p:spPr>
        <p:txBody>
          <a:bodyPr wrap="none" rtlCol="0">
            <a:spAutoFit/>
          </a:bodyPr>
          <a:lstStyle/>
          <a:p>
            <a:r>
              <a:rPr lang="en-US" sz="3200" dirty="0" smtClean="0"/>
              <a:t>Weighted edge</a:t>
            </a:r>
            <a:endParaRPr lang="en-US" sz="3200" dirty="0"/>
          </a:p>
        </p:txBody>
      </p:sp>
      <p:cxnSp>
        <p:nvCxnSpPr>
          <p:cNvPr id="24" name="Straight Arrow Connector 23"/>
          <p:cNvCxnSpPr>
            <a:endCxn id="5" idx="6"/>
          </p:cNvCxnSpPr>
          <p:nvPr/>
        </p:nvCxnSpPr>
        <p:spPr>
          <a:xfrm flipH="1" flipV="1">
            <a:off x="4298461" y="4118708"/>
            <a:ext cx="2294417" cy="82468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3449390" y="4701478"/>
            <a:ext cx="2507033" cy="584775"/>
          </a:xfrm>
          <a:prstGeom prst="rect">
            <a:avLst/>
          </a:prstGeom>
          <a:noFill/>
        </p:spPr>
        <p:txBody>
          <a:bodyPr wrap="none" rtlCol="0">
            <a:spAutoFit/>
          </a:bodyPr>
          <a:lstStyle/>
          <a:p>
            <a:r>
              <a:rPr lang="en-US" sz="3200" dirty="0" smtClean="0"/>
              <a:t>Directed edge</a:t>
            </a:r>
            <a:endParaRPr lang="en-US" sz="3200" dirty="0"/>
          </a:p>
        </p:txBody>
      </p:sp>
    </p:spTree>
    <p:extLst>
      <p:ext uri="{BB962C8B-B14F-4D97-AF65-F5344CB8AC3E}">
        <p14:creationId xmlns:p14="http://schemas.microsoft.com/office/powerpoint/2010/main" val="351080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1" grpId="0"/>
      <p:bldP spid="20" grpId="0"/>
      <p:bldP spid="21"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Networks can get big</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168" y="1326416"/>
            <a:ext cx="7369664" cy="5531583"/>
          </a:xfrm>
          <a:prstGeom prst="rect">
            <a:avLst/>
          </a:prstGeom>
        </p:spPr>
      </p:pic>
    </p:spTree>
    <p:extLst>
      <p:ext uri="{BB962C8B-B14F-4D97-AF65-F5344CB8AC3E}">
        <p14:creationId xmlns:p14="http://schemas.microsoft.com/office/powerpoint/2010/main" val="9323180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How to represent a network/graph</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2309" y="1990034"/>
            <a:ext cx="4001412" cy="3925194"/>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r="68350"/>
          <a:stretch/>
        </p:blipFill>
        <p:spPr>
          <a:xfrm>
            <a:off x="838200" y="2073905"/>
            <a:ext cx="1944077" cy="3841323"/>
          </a:xfrm>
          <a:prstGeom prst="rect">
            <a:avLst/>
          </a:prstGeom>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36612"/>
          <a:stretch/>
        </p:blipFill>
        <p:spPr>
          <a:xfrm>
            <a:off x="3087076" y="2073905"/>
            <a:ext cx="3893587" cy="3841323"/>
          </a:xfrm>
          <a:prstGeom prst="rect">
            <a:avLst/>
          </a:prstGeom>
        </p:spPr>
      </p:pic>
      <p:sp>
        <p:nvSpPr>
          <p:cNvPr id="9" name="TextBox 8"/>
          <p:cNvSpPr txBox="1"/>
          <p:nvPr/>
        </p:nvSpPr>
        <p:spPr>
          <a:xfrm>
            <a:off x="283505" y="6006057"/>
            <a:ext cx="3053465" cy="584775"/>
          </a:xfrm>
          <a:prstGeom prst="rect">
            <a:avLst/>
          </a:prstGeom>
          <a:noFill/>
        </p:spPr>
        <p:txBody>
          <a:bodyPr wrap="none" rtlCol="0">
            <a:spAutoFit/>
          </a:bodyPr>
          <a:lstStyle/>
          <a:p>
            <a:r>
              <a:rPr lang="en-US" sz="3200" dirty="0" smtClean="0"/>
              <a:t>Adjacency matrix</a:t>
            </a:r>
            <a:endParaRPr lang="en-US" sz="3200" dirty="0"/>
          </a:p>
        </p:txBody>
      </p:sp>
      <p:sp>
        <p:nvSpPr>
          <p:cNvPr id="10" name="TextBox 9"/>
          <p:cNvSpPr txBox="1"/>
          <p:nvPr/>
        </p:nvSpPr>
        <p:spPr>
          <a:xfrm>
            <a:off x="1061371" y="4086397"/>
            <a:ext cx="1406154" cy="523220"/>
          </a:xfrm>
          <a:prstGeom prst="rect">
            <a:avLst/>
          </a:prstGeom>
          <a:noFill/>
        </p:spPr>
        <p:txBody>
          <a:bodyPr wrap="none" rtlCol="0">
            <a:spAutoFit/>
          </a:bodyPr>
          <a:lstStyle/>
          <a:p>
            <a:r>
              <a:rPr lang="en-US" sz="2800" dirty="0" smtClean="0"/>
              <a:t>1  2  3  4</a:t>
            </a:r>
            <a:endParaRPr lang="en-US" sz="2800" dirty="0"/>
          </a:p>
        </p:txBody>
      </p:sp>
      <p:sp>
        <p:nvSpPr>
          <p:cNvPr id="11" name="TextBox 10"/>
          <p:cNvSpPr txBox="1"/>
          <p:nvPr/>
        </p:nvSpPr>
        <p:spPr>
          <a:xfrm>
            <a:off x="693963" y="4258130"/>
            <a:ext cx="367408" cy="1815882"/>
          </a:xfrm>
          <a:prstGeom prst="rect">
            <a:avLst/>
          </a:prstGeom>
          <a:noFill/>
        </p:spPr>
        <p:txBody>
          <a:bodyPr wrap="none" rtlCol="0">
            <a:spAutoFit/>
          </a:bodyPr>
          <a:lstStyle/>
          <a:p>
            <a:r>
              <a:rPr lang="en-US" sz="2800" dirty="0" smtClean="0"/>
              <a:t>1</a:t>
            </a:r>
          </a:p>
          <a:p>
            <a:r>
              <a:rPr lang="en-US" sz="2800" dirty="0" smtClean="0"/>
              <a:t>2</a:t>
            </a:r>
          </a:p>
          <a:p>
            <a:r>
              <a:rPr lang="en-US" sz="2800" dirty="0" smtClean="0"/>
              <a:t>3</a:t>
            </a:r>
          </a:p>
          <a:p>
            <a:r>
              <a:rPr lang="en-US" sz="2800" dirty="0"/>
              <a:t>4</a:t>
            </a:r>
          </a:p>
        </p:txBody>
      </p:sp>
    </p:spTree>
    <p:extLst>
      <p:ext uri="{BB962C8B-B14F-4D97-AF65-F5344CB8AC3E}">
        <p14:creationId xmlns:p14="http://schemas.microsoft.com/office/powerpoint/2010/main" val="198845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How to represent a network/graph</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5883" y="2292057"/>
            <a:ext cx="2754595" cy="403232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7707" y="2275464"/>
            <a:ext cx="2771189" cy="4048923"/>
          </a:xfrm>
          <a:prstGeom prst="rect">
            <a:avLst/>
          </a:prstGeom>
        </p:spPr>
      </p:pic>
      <p:sp>
        <p:nvSpPr>
          <p:cNvPr id="12" name="TextBox 11"/>
          <p:cNvSpPr txBox="1"/>
          <p:nvPr/>
        </p:nvSpPr>
        <p:spPr>
          <a:xfrm>
            <a:off x="2887091" y="1690689"/>
            <a:ext cx="1661224" cy="584775"/>
          </a:xfrm>
          <a:prstGeom prst="rect">
            <a:avLst/>
          </a:prstGeom>
          <a:noFill/>
        </p:spPr>
        <p:txBody>
          <a:bodyPr wrap="none" rtlCol="0">
            <a:spAutoFit/>
          </a:bodyPr>
          <a:lstStyle/>
          <a:p>
            <a:r>
              <a:rPr lang="en-US" sz="3200" dirty="0" smtClean="0"/>
              <a:t>Node list</a:t>
            </a:r>
            <a:endParaRPr lang="en-US" sz="3200" dirty="0"/>
          </a:p>
        </p:txBody>
      </p:sp>
      <p:sp>
        <p:nvSpPr>
          <p:cNvPr id="13" name="TextBox 12"/>
          <p:cNvSpPr txBox="1"/>
          <p:nvPr/>
        </p:nvSpPr>
        <p:spPr>
          <a:xfrm>
            <a:off x="7502689" y="1690688"/>
            <a:ext cx="1565237" cy="584775"/>
          </a:xfrm>
          <a:prstGeom prst="rect">
            <a:avLst/>
          </a:prstGeom>
          <a:noFill/>
        </p:spPr>
        <p:txBody>
          <a:bodyPr wrap="none" rtlCol="0">
            <a:spAutoFit/>
          </a:bodyPr>
          <a:lstStyle/>
          <a:p>
            <a:r>
              <a:rPr lang="en-US" sz="3200" dirty="0" smtClean="0"/>
              <a:t>Edge list</a:t>
            </a:r>
            <a:endParaRPr lang="en-US" sz="3200" dirty="0"/>
          </a:p>
        </p:txBody>
      </p:sp>
    </p:spTree>
    <p:extLst>
      <p:ext uri="{BB962C8B-B14F-4D97-AF65-F5344CB8AC3E}">
        <p14:creationId xmlns:p14="http://schemas.microsoft.com/office/powerpoint/2010/main" val="38248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Descriptive Statistics</a:t>
            </a:r>
            <a:endParaRPr lang="en-US" dirty="0"/>
          </a:p>
        </p:txBody>
      </p:sp>
      <p:sp>
        <p:nvSpPr>
          <p:cNvPr id="3" name="Content Placeholder 2">
            <a:extLst>
              <a:ext uri="{FF2B5EF4-FFF2-40B4-BE49-F238E27FC236}">
                <a16:creationId xmlns:a16="http://schemas.microsoft.com/office/drawing/2014/main" id="{F121F737-C768-7F40-B84E-032A8766451A}"/>
              </a:ext>
            </a:extLst>
          </p:cNvPr>
          <p:cNvSpPr>
            <a:spLocks noGrp="1"/>
          </p:cNvSpPr>
          <p:nvPr>
            <p:ph idx="1"/>
          </p:nvPr>
        </p:nvSpPr>
        <p:spPr>
          <a:xfrm>
            <a:off x="838200" y="1825625"/>
            <a:ext cx="10515600" cy="4351338"/>
          </a:xfrm>
        </p:spPr>
        <p:txBody>
          <a:bodyPr>
            <a:normAutofit/>
          </a:bodyPr>
          <a:lstStyle/>
          <a:p>
            <a:r>
              <a:rPr lang="en-US" dirty="0" smtClean="0"/>
              <a:t>Node level</a:t>
            </a:r>
          </a:p>
          <a:p>
            <a:endParaRPr lang="en-US" dirty="0"/>
          </a:p>
          <a:p>
            <a:r>
              <a:rPr lang="en-US" dirty="0" smtClean="0"/>
              <a:t>Graph level</a:t>
            </a:r>
          </a:p>
          <a:p>
            <a:pPr marL="0" indent="0">
              <a:buNone/>
            </a:pPr>
            <a:endParaRPr lang="en-US" dirty="0"/>
          </a:p>
          <a:p>
            <a:endParaRPr lang="en-US" dirty="0" smtClean="0"/>
          </a:p>
          <a:p>
            <a:endParaRPr lang="en-US" dirty="0"/>
          </a:p>
        </p:txBody>
      </p:sp>
      <p:sp>
        <p:nvSpPr>
          <p:cNvPr id="4" name="Oval 3"/>
          <p:cNvSpPr/>
          <p:nvPr/>
        </p:nvSpPr>
        <p:spPr>
          <a:xfrm>
            <a:off x="6189784" y="3911600"/>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7827107" y="2594036"/>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698523" y="4708097"/>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215592" y="3421745"/>
            <a:ext cx="362600" cy="461665"/>
          </a:xfrm>
          <a:prstGeom prst="rect">
            <a:avLst/>
          </a:prstGeom>
          <a:noFill/>
        </p:spPr>
        <p:txBody>
          <a:bodyPr wrap="none" rtlCol="0">
            <a:spAutoFit/>
          </a:bodyPr>
          <a:lstStyle/>
          <a:p>
            <a:r>
              <a:rPr lang="en-US" sz="2400" dirty="0" smtClean="0"/>
              <a:t>A</a:t>
            </a:r>
            <a:endParaRPr lang="en-US" sz="2400" dirty="0"/>
          </a:p>
        </p:txBody>
      </p:sp>
      <p:sp>
        <p:nvSpPr>
          <p:cNvPr id="9" name="TextBox 8"/>
          <p:cNvSpPr txBox="1"/>
          <p:nvPr/>
        </p:nvSpPr>
        <p:spPr>
          <a:xfrm>
            <a:off x="8724331" y="5127902"/>
            <a:ext cx="348172" cy="461665"/>
          </a:xfrm>
          <a:prstGeom prst="rect">
            <a:avLst/>
          </a:prstGeom>
          <a:noFill/>
        </p:spPr>
        <p:txBody>
          <a:bodyPr wrap="none" rtlCol="0">
            <a:spAutoFit/>
          </a:bodyPr>
          <a:lstStyle/>
          <a:p>
            <a:r>
              <a:rPr lang="en-US" sz="2400" dirty="0" smtClean="0"/>
              <a:t>C</a:t>
            </a:r>
            <a:endParaRPr lang="en-US" sz="2400" dirty="0"/>
          </a:p>
        </p:txBody>
      </p:sp>
      <p:cxnSp>
        <p:nvCxnSpPr>
          <p:cNvPr id="10" name="Straight Connector 9"/>
          <p:cNvCxnSpPr/>
          <p:nvPr/>
        </p:nvCxnSpPr>
        <p:spPr>
          <a:xfrm flipV="1">
            <a:off x="6396892" y="2801144"/>
            <a:ext cx="1637323" cy="1317563"/>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8034215" y="2801144"/>
            <a:ext cx="864202" cy="2114061"/>
          </a:xfrm>
          <a:prstGeom prst="line">
            <a:avLst/>
          </a:prstGeom>
          <a:ln w="114300"/>
        </p:spPr>
        <p:style>
          <a:lnRef idx="1">
            <a:schemeClr val="dk1"/>
          </a:lnRef>
          <a:fillRef idx="0">
            <a:schemeClr val="dk1"/>
          </a:fillRef>
          <a:effectRef idx="0">
            <a:schemeClr val="dk1"/>
          </a:effectRef>
          <a:fontRef idx="minor">
            <a:schemeClr val="tx1"/>
          </a:fontRef>
        </p:style>
      </p:cxnSp>
      <p:cxnSp>
        <p:nvCxnSpPr>
          <p:cNvPr id="14" name="Straight Arrow Connector 13"/>
          <p:cNvCxnSpPr>
            <a:endCxn id="4" idx="6"/>
          </p:cNvCxnSpPr>
          <p:nvPr/>
        </p:nvCxnSpPr>
        <p:spPr>
          <a:xfrm flipH="1" flipV="1">
            <a:off x="6604000" y="4118708"/>
            <a:ext cx="2294417" cy="82468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7852915" y="2137675"/>
            <a:ext cx="362600" cy="461665"/>
          </a:xfrm>
          <a:prstGeom prst="rect">
            <a:avLst/>
          </a:prstGeom>
          <a:noFill/>
        </p:spPr>
        <p:txBody>
          <a:bodyPr wrap="none" rtlCol="0">
            <a:spAutoFit/>
          </a:bodyPr>
          <a:lstStyle/>
          <a:p>
            <a:r>
              <a:rPr lang="en-US" sz="2400" dirty="0" smtClean="0"/>
              <a:t>B</a:t>
            </a:r>
            <a:endParaRPr lang="en-US" sz="2400" dirty="0"/>
          </a:p>
        </p:txBody>
      </p:sp>
      <p:sp>
        <p:nvSpPr>
          <p:cNvPr id="17" name="Oval 16"/>
          <p:cNvSpPr/>
          <p:nvPr/>
        </p:nvSpPr>
        <p:spPr>
          <a:xfrm>
            <a:off x="10138700" y="3105943"/>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0164508" y="2594036"/>
            <a:ext cx="373820" cy="461665"/>
          </a:xfrm>
          <a:prstGeom prst="rect">
            <a:avLst/>
          </a:prstGeom>
          <a:noFill/>
        </p:spPr>
        <p:txBody>
          <a:bodyPr wrap="none" rtlCol="0">
            <a:spAutoFit/>
          </a:bodyPr>
          <a:lstStyle/>
          <a:p>
            <a:r>
              <a:rPr lang="en-US" sz="2400" dirty="0" smtClean="0"/>
              <a:t>D</a:t>
            </a:r>
            <a:endParaRPr lang="en-US" sz="2400" dirty="0"/>
          </a:p>
        </p:txBody>
      </p:sp>
      <p:cxnSp>
        <p:nvCxnSpPr>
          <p:cNvPr id="19" name="Straight Connector 18"/>
          <p:cNvCxnSpPr>
            <a:stCxn id="5" idx="6"/>
            <a:endCxn id="17" idx="2"/>
          </p:cNvCxnSpPr>
          <p:nvPr/>
        </p:nvCxnSpPr>
        <p:spPr>
          <a:xfrm>
            <a:off x="8241323" y="2801144"/>
            <a:ext cx="1897377" cy="511907"/>
          </a:xfrm>
          <a:prstGeom prst="line">
            <a:avLst/>
          </a:prstGeom>
          <a:ln w="38100"/>
        </p:spPr>
        <p:style>
          <a:lnRef idx="1">
            <a:schemeClr val="dk1"/>
          </a:lnRef>
          <a:fillRef idx="0">
            <a:schemeClr val="dk1"/>
          </a:fillRef>
          <a:effectRef idx="0">
            <a:schemeClr val="dk1"/>
          </a:effectRef>
          <a:fontRef idx="minor">
            <a:schemeClr val="tx1"/>
          </a:fontRef>
        </p:style>
      </p:cxnSp>
      <p:cxnSp>
        <p:nvCxnSpPr>
          <p:cNvPr id="22" name="Straight Connector 21"/>
          <p:cNvCxnSpPr>
            <a:endCxn id="6" idx="7"/>
          </p:cNvCxnSpPr>
          <p:nvPr/>
        </p:nvCxnSpPr>
        <p:spPr>
          <a:xfrm flipH="1">
            <a:off x="9052078" y="3313051"/>
            <a:ext cx="1293730" cy="1455707"/>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475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Node </a:t>
            </a:r>
            <a:r>
              <a:rPr lang="en-US" b="1" dirty="0" smtClean="0"/>
              <a:t>centrality</a:t>
            </a:r>
            <a:endParaRPr lang="en-US" b="1" dirty="0"/>
          </a:p>
        </p:txBody>
      </p:sp>
      <p:sp>
        <p:nvSpPr>
          <p:cNvPr id="3" name="Content Placeholder 2">
            <a:extLst>
              <a:ext uri="{FF2B5EF4-FFF2-40B4-BE49-F238E27FC236}">
                <a16:creationId xmlns:a16="http://schemas.microsoft.com/office/drawing/2014/main" id="{F121F737-C768-7F40-B84E-032A8766451A}"/>
              </a:ext>
            </a:extLst>
          </p:cNvPr>
          <p:cNvSpPr>
            <a:spLocks noGrp="1"/>
          </p:cNvSpPr>
          <p:nvPr>
            <p:ph idx="1"/>
          </p:nvPr>
        </p:nvSpPr>
        <p:spPr>
          <a:xfrm>
            <a:off x="838200" y="1825625"/>
            <a:ext cx="4513190" cy="4351338"/>
          </a:xfrm>
        </p:spPr>
        <p:txBody>
          <a:bodyPr>
            <a:normAutofit lnSpcReduction="10000"/>
          </a:bodyPr>
          <a:lstStyle/>
          <a:p>
            <a:pPr marL="0" indent="0">
              <a:buNone/>
            </a:pPr>
            <a:r>
              <a:rPr lang="en-US" dirty="0" smtClean="0"/>
              <a:t>Numbers/rankings assigned to nodes that measure position in the network</a:t>
            </a:r>
          </a:p>
          <a:p>
            <a:pPr marL="0" indent="0">
              <a:buNone/>
            </a:pPr>
            <a:endParaRPr lang="en-US" dirty="0"/>
          </a:p>
          <a:p>
            <a:pPr marL="0" indent="0">
              <a:buNone/>
            </a:pPr>
            <a:r>
              <a:rPr lang="en-US" i="1" dirty="0" smtClean="0"/>
              <a:t>E.g.</a:t>
            </a:r>
          </a:p>
          <a:p>
            <a:r>
              <a:rPr lang="en-US" dirty="0" smtClean="0"/>
              <a:t>Influential people in social network</a:t>
            </a:r>
          </a:p>
          <a:p>
            <a:r>
              <a:rPr lang="en-US" dirty="0" smtClean="0"/>
              <a:t>Key infrastructure nodes in internet or urban networks</a:t>
            </a:r>
          </a:p>
          <a:p>
            <a:r>
              <a:rPr lang="en-US" dirty="0" smtClean="0"/>
              <a:t>Super-spreaders of disease</a:t>
            </a:r>
          </a:p>
          <a:p>
            <a:pPr marL="0" indent="0">
              <a:buNone/>
            </a:pPr>
            <a:endParaRPr lang="en-US" dirty="0"/>
          </a:p>
          <a:p>
            <a:endParaRPr lang="en-US" dirty="0" smtClean="0"/>
          </a:p>
          <a:p>
            <a:endParaRPr lang="en-US" dirty="0"/>
          </a:p>
        </p:txBody>
      </p:sp>
      <p:sp>
        <p:nvSpPr>
          <p:cNvPr id="4" name="Oval 3"/>
          <p:cNvSpPr/>
          <p:nvPr/>
        </p:nvSpPr>
        <p:spPr>
          <a:xfrm>
            <a:off x="6189784" y="3911600"/>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7827107" y="2594036"/>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698523" y="4708097"/>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215592" y="3421745"/>
            <a:ext cx="362600" cy="461665"/>
          </a:xfrm>
          <a:prstGeom prst="rect">
            <a:avLst/>
          </a:prstGeom>
          <a:noFill/>
        </p:spPr>
        <p:txBody>
          <a:bodyPr wrap="none" rtlCol="0">
            <a:spAutoFit/>
          </a:bodyPr>
          <a:lstStyle/>
          <a:p>
            <a:r>
              <a:rPr lang="en-US" sz="2400" dirty="0" smtClean="0"/>
              <a:t>A</a:t>
            </a:r>
            <a:endParaRPr lang="en-US" sz="2400" dirty="0"/>
          </a:p>
        </p:txBody>
      </p:sp>
      <p:sp>
        <p:nvSpPr>
          <p:cNvPr id="9" name="TextBox 8"/>
          <p:cNvSpPr txBox="1"/>
          <p:nvPr/>
        </p:nvSpPr>
        <p:spPr>
          <a:xfrm>
            <a:off x="8724331" y="5127902"/>
            <a:ext cx="348172" cy="461665"/>
          </a:xfrm>
          <a:prstGeom prst="rect">
            <a:avLst/>
          </a:prstGeom>
          <a:noFill/>
        </p:spPr>
        <p:txBody>
          <a:bodyPr wrap="none" rtlCol="0">
            <a:spAutoFit/>
          </a:bodyPr>
          <a:lstStyle/>
          <a:p>
            <a:r>
              <a:rPr lang="en-US" sz="2400" dirty="0" smtClean="0"/>
              <a:t>C</a:t>
            </a:r>
            <a:endParaRPr lang="en-US" sz="2400" dirty="0"/>
          </a:p>
        </p:txBody>
      </p:sp>
      <p:cxnSp>
        <p:nvCxnSpPr>
          <p:cNvPr id="10" name="Straight Connector 9"/>
          <p:cNvCxnSpPr/>
          <p:nvPr/>
        </p:nvCxnSpPr>
        <p:spPr>
          <a:xfrm flipV="1">
            <a:off x="6396892" y="2801144"/>
            <a:ext cx="1637323" cy="1317563"/>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8034215" y="2801144"/>
            <a:ext cx="864202" cy="2114061"/>
          </a:xfrm>
          <a:prstGeom prst="line">
            <a:avLst/>
          </a:prstGeom>
          <a:ln w="114300"/>
        </p:spPr>
        <p:style>
          <a:lnRef idx="1">
            <a:schemeClr val="dk1"/>
          </a:lnRef>
          <a:fillRef idx="0">
            <a:schemeClr val="dk1"/>
          </a:fillRef>
          <a:effectRef idx="0">
            <a:schemeClr val="dk1"/>
          </a:effectRef>
          <a:fontRef idx="minor">
            <a:schemeClr val="tx1"/>
          </a:fontRef>
        </p:style>
      </p:cxnSp>
      <p:cxnSp>
        <p:nvCxnSpPr>
          <p:cNvPr id="14" name="Straight Arrow Connector 13"/>
          <p:cNvCxnSpPr>
            <a:endCxn id="4" idx="6"/>
          </p:cNvCxnSpPr>
          <p:nvPr/>
        </p:nvCxnSpPr>
        <p:spPr>
          <a:xfrm flipH="1" flipV="1">
            <a:off x="6604000" y="4118708"/>
            <a:ext cx="2294417" cy="82468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7852915" y="2137675"/>
            <a:ext cx="362600" cy="461665"/>
          </a:xfrm>
          <a:prstGeom prst="rect">
            <a:avLst/>
          </a:prstGeom>
          <a:noFill/>
        </p:spPr>
        <p:txBody>
          <a:bodyPr wrap="none" rtlCol="0">
            <a:spAutoFit/>
          </a:bodyPr>
          <a:lstStyle/>
          <a:p>
            <a:r>
              <a:rPr lang="en-US" sz="2400" dirty="0" smtClean="0"/>
              <a:t>B</a:t>
            </a:r>
            <a:endParaRPr lang="en-US" sz="2400" dirty="0"/>
          </a:p>
        </p:txBody>
      </p:sp>
      <p:sp>
        <p:nvSpPr>
          <p:cNvPr id="17" name="Oval 16"/>
          <p:cNvSpPr/>
          <p:nvPr/>
        </p:nvSpPr>
        <p:spPr>
          <a:xfrm>
            <a:off x="10138700" y="3105943"/>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0164508" y="2594036"/>
            <a:ext cx="373820" cy="461665"/>
          </a:xfrm>
          <a:prstGeom prst="rect">
            <a:avLst/>
          </a:prstGeom>
          <a:noFill/>
        </p:spPr>
        <p:txBody>
          <a:bodyPr wrap="none" rtlCol="0">
            <a:spAutoFit/>
          </a:bodyPr>
          <a:lstStyle/>
          <a:p>
            <a:r>
              <a:rPr lang="en-US" sz="2400" dirty="0" smtClean="0"/>
              <a:t>D</a:t>
            </a:r>
            <a:endParaRPr lang="en-US" sz="2400" dirty="0"/>
          </a:p>
        </p:txBody>
      </p:sp>
      <p:cxnSp>
        <p:nvCxnSpPr>
          <p:cNvPr id="19" name="Straight Connector 18"/>
          <p:cNvCxnSpPr>
            <a:stCxn id="5" idx="6"/>
            <a:endCxn id="17" idx="2"/>
          </p:cNvCxnSpPr>
          <p:nvPr/>
        </p:nvCxnSpPr>
        <p:spPr>
          <a:xfrm>
            <a:off x="8241323" y="2801144"/>
            <a:ext cx="1897377" cy="511907"/>
          </a:xfrm>
          <a:prstGeom prst="line">
            <a:avLst/>
          </a:prstGeom>
          <a:ln w="38100"/>
        </p:spPr>
        <p:style>
          <a:lnRef idx="1">
            <a:schemeClr val="dk1"/>
          </a:lnRef>
          <a:fillRef idx="0">
            <a:schemeClr val="dk1"/>
          </a:fillRef>
          <a:effectRef idx="0">
            <a:schemeClr val="dk1"/>
          </a:effectRef>
          <a:fontRef idx="minor">
            <a:schemeClr val="tx1"/>
          </a:fontRef>
        </p:style>
      </p:cxnSp>
      <p:cxnSp>
        <p:nvCxnSpPr>
          <p:cNvPr id="22" name="Straight Connector 21"/>
          <p:cNvCxnSpPr>
            <a:endCxn id="6" idx="7"/>
          </p:cNvCxnSpPr>
          <p:nvPr/>
        </p:nvCxnSpPr>
        <p:spPr>
          <a:xfrm flipH="1">
            <a:off x="9052078" y="3313051"/>
            <a:ext cx="1293730" cy="1455707"/>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233327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p:cNvCxnSpPr/>
          <p:nvPr/>
        </p:nvCxnSpPr>
        <p:spPr>
          <a:xfrm>
            <a:off x="8121683" y="2795435"/>
            <a:ext cx="2206949" cy="556920"/>
          </a:xfrm>
          <a:prstGeom prst="line">
            <a:avLst/>
          </a:prstGeom>
          <a:ln w="161925">
            <a:solidFill>
              <a:srgbClr val="9DC3E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8034215" y="2824868"/>
            <a:ext cx="864201" cy="2087499"/>
          </a:xfrm>
          <a:prstGeom prst="line">
            <a:avLst/>
          </a:prstGeom>
          <a:ln w="225425">
            <a:solidFill>
              <a:srgbClr val="9DC3E6"/>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359280" y="2824868"/>
            <a:ext cx="1637323" cy="1317563"/>
          </a:xfrm>
          <a:prstGeom prst="line">
            <a:avLst/>
          </a:prstGeom>
          <a:ln w="161925">
            <a:solidFill>
              <a:srgbClr val="9DC3E6"/>
            </a:solidFill>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8616085" y="4630036"/>
            <a:ext cx="564663" cy="564663"/>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10072108" y="3030719"/>
            <a:ext cx="564663" cy="564663"/>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751883" y="2521650"/>
            <a:ext cx="564663" cy="564663"/>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114561" y="3836376"/>
            <a:ext cx="564663" cy="564663"/>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Node </a:t>
            </a:r>
            <a:r>
              <a:rPr lang="en-US" b="1" dirty="0" smtClean="0"/>
              <a:t>centrality</a:t>
            </a:r>
            <a:endParaRPr lang="en-US" b="1" dirty="0"/>
          </a:p>
        </p:txBody>
      </p:sp>
      <p:sp>
        <p:nvSpPr>
          <p:cNvPr id="3" name="Content Placeholder 2">
            <a:extLst>
              <a:ext uri="{FF2B5EF4-FFF2-40B4-BE49-F238E27FC236}">
                <a16:creationId xmlns:a16="http://schemas.microsoft.com/office/drawing/2014/main" id="{F121F737-C768-7F40-B84E-032A8766451A}"/>
              </a:ext>
            </a:extLst>
          </p:cNvPr>
          <p:cNvSpPr>
            <a:spLocks noGrp="1"/>
          </p:cNvSpPr>
          <p:nvPr>
            <p:ph idx="1"/>
          </p:nvPr>
        </p:nvSpPr>
        <p:spPr>
          <a:xfrm>
            <a:off x="838200" y="1825625"/>
            <a:ext cx="4513190" cy="4351338"/>
          </a:xfrm>
        </p:spPr>
        <p:txBody>
          <a:bodyPr>
            <a:normAutofit/>
          </a:bodyPr>
          <a:lstStyle/>
          <a:p>
            <a:pPr marL="0" indent="0">
              <a:buNone/>
            </a:pPr>
            <a:r>
              <a:rPr lang="en-US" sz="2200" u="sng" dirty="0" smtClean="0"/>
              <a:t>Degree centrality</a:t>
            </a:r>
          </a:p>
          <a:p>
            <a:r>
              <a:rPr lang="en-US" sz="2200" dirty="0" smtClean="0"/>
              <a:t>How many edges in or out</a:t>
            </a:r>
            <a:endParaRPr lang="en-US" sz="2200" dirty="0"/>
          </a:p>
          <a:p>
            <a:pPr marL="0" indent="0">
              <a:buNone/>
            </a:pPr>
            <a:r>
              <a:rPr lang="en-US" sz="2200" i="1" dirty="0" smtClean="0"/>
              <a:t>In-degree</a:t>
            </a:r>
            <a:r>
              <a:rPr lang="en-US" sz="2200" dirty="0" smtClean="0"/>
              <a:t>(A) = 2; </a:t>
            </a:r>
            <a:r>
              <a:rPr lang="en-US" sz="2200" i="1" dirty="0" smtClean="0"/>
              <a:t>Out-degree</a:t>
            </a:r>
            <a:r>
              <a:rPr lang="en-US" sz="2200" dirty="0" smtClean="0"/>
              <a:t>(A) = 1</a:t>
            </a:r>
          </a:p>
          <a:p>
            <a:pPr marL="0" indent="0">
              <a:buNone/>
            </a:pPr>
            <a:r>
              <a:rPr lang="en-US" sz="2200" u="sng" dirty="0" smtClean="0"/>
              <a:t>Closeness centrality</a:t>
            </a:r>
          </a:p>
          <a:p>
            <a:r>
              <a:rPr lang="en-US" sz="2200" dirty="0" smtClean="0"/>
              <a:t>Avg. shortest path between nodes</a:t>
            </a:r>
          </a:p>
          <a:p>
            <a:pPr marL="0" indent="0">
              <a:buNone/>
            </a:pPr>
            <a:r>
              <a:rPr lang="en-US" sz="2200" i="1" dirty="0" smtClean="0"/>
              <a:t>Closeness</a:t>
            </a:r>
            <a:r>
              <a:rPr lang="en-US" sz="2200" dirty="0" smtClean="0"/>
              <a:t>(A</a:t>
            </a:r>
            <a:r>
              <a:rPr lang="en-US" sz="2200" dirty="0"/>
              <a:t>) = </a:t>
            </a:r>
            <a:r>
              <a:rPr lang="en-US" sz="2200" dirty="0" smtClean="0"/>
              <a:t>1+2+2/3 = 1.7</a:t>
            </a:r>
          </a:p>
          <a:p>
            <a:pPr marL="0" indent="0">
              <a:buNone/>
            </a:pPr>
            <a:endParaRPr lang="en-US" dirty="0" smtClean="0"/>
          </a:p>
          <a:p>
            <a:endParaRPr lang="en-US" dirty="0"/>
          </a:p>
        </p:txBody>
      </p:sp>
      <p:sp>
        <p:nvSpPr>
          <p:cNvPr id="4" name="Oval 3"/>
          <p:cNvSpPr/>
          <p:nvPr/>
        </p:nvSpPr>
        <p:spPr>
          <a:xfrm>
            <a:off x="6189784" y="3911600"/>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7827107" y="2594036"/>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698523" y="4708097"/>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215592" y="3421745"/>
            <a:ext cx="362600" cy="461665"/>
          </a:xfrm>
          <a:prstGeom prst="rect">
            <a:avLst/>
          </a:prstGeom>
          <a:noFill/>
        </p:spPr>
        <p:txBody>
          <a:bodyPr wrap="none" rtlCol="0">
            <a:spAutoFit/>
          </a:bodyPr>
          <a:lstStyle/>
          <a:p>
            <a:r>
              <a:rPr lang="en-US" sz="2400" dirty="0" smtClean="0"/>
              <a:t>A</a:t>
            </a:r>
            <a:endParaRPr lang="en-US" sz="2400" dirty="0"/>
          </a:p>
        </p:txBody>
      </p:sp>
      <p:sp>
        <p:nvSpPr>
          <p:cNvPr id="9" name="TextBox 8"/>
          <p:cNvSpPr txBox="1"/>
          <p:nvPr/>
        </p:nvSpPr>
        <p:spPr>
          <a:xfrm>
            <a:off x="8724331" y="5127902"/>
            <a:ext cx="348172" cy="461665"/>
          </a:xfrm>
          <a:prstGeom prst="rect">
            <a:avLst/>
          </a:prstGeom>
          <a:noFill/>
        </p:spPr>
        <p:txBody>
          <a:bodyPr wrap="none" rtlCol="0">
            <a:spAutoFit/>
          </a:bodyPr>
          <a:lstStyle/>
          <a:p>
            <a:r>
              <a:rPr lang="en-US" sz="2400" dirty="0" smtClean="0"/>
              <a:t>C</a:t>
            </a:r>
            <a:endParaRPr lang="en-US" sz="2400" dirty="0"/>
          </a:p>
        </p:txBody>
      </p:sp>
      <p:cxnSp>
        <p:nvCxnSpPr>
          <p:cNvPr id="10" name="Straight Connector 9"/>
          <p:cNvCxnSpPr/>
          <p:nvPr/>
        </p:nvCxnSpPr>
        <p:spPr>
          <a:xfrm flipV="1">
            <a:off x="6396892" y="2801144"/>
            <a:ext cx="1637323" cy="1317563"/>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8034215" y="2801144"/>
            <a:ext cx="864202" cy="2114061"/>
          </a:xfrm>
          <a:prstGeom prst="line">
            <a:avLst/>
          </a:prstGeom>
          <a:ln w="114300"/>
        </p:spPr>
        <p:style>
          <a:lnRef idx="1">
            <a:schemeClr val="dk1"/>
          </a:lnRef>
          <a:fillRef idx="0">
            <a:schemeClr val="dk1"/>
          </a:fillRef>
          <a:effectRef idx="0">
            <a:schemeClr val="dk1"/>
          </a:effectRef>
          <a:fontRef idx="minor">
            <a:schemeClr val="tx1"/>
          </a:fontRef>
        </p:style>
      </p:cxnSp>
      <p:cxnSp>
        <p:nvCxnSpPr>
          <p:cNvPr id="14" name="Straight Arrow Connector 13"/>
          <p:cNvCxnSpPr>
            <a:endCxn id="4" idx="6"/>
          </p:cNvCxnSpPr>
          <p:nvPr/>
        </p:nvCxnSpPr>
        <p:spPr>
          <a:xfrm flipH="1" flipV="1">
            <a:off x="6604000" y="4118708"/>
            <a:ext cx="2294417" cy="82468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7850108" y="2141213"/>
            <a:ext cx="362600" cy="461665"/>
          </a:xfrm>
          <a:prstGeom prst="rect">
            <a:avLst/>
          </a:prstGeom>
          <a:noFill/>
        </p:spPr>
        <p:txBody>
          <a:bodyPr wrap="none" rtlCol="0">
            <a:spAutoFit/>
          </a:bodyPr>
          <a:lstStyle/>
          <a:p>
            <a:r>
              <a:rPr lang="en-US" sz="2400" dirty="0" smtClean="0"/>
              <a:t>B</a:t>
            </a:r>
            <a:endParaRPr lang="en-US" sz="2400" dirty="0"/>
          </a:p>
        </p:txBody>
      </p:sp>
      <p:sp>
        <p:nvSpPr>
          <p:cNvPr id="17" name="Oval 16"/>
          <p:cNvSpPr/>
          <p:nvPr/>
        </p:nvSpPr>
        <p:spPr>
          <a:xfrm>
            <a:off x="10138700" y="3105943"/>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0164508" y="2594036"/>
            <a:ext cx="373820" cy="461665"/>
          </a:xfrm>
          <a:prstGeom prst="rect">
            <a:avLst/>
          </a:prstGeom>
          <a:noFill/>
        </p:spPr>
        <p:txBody>
          <a:bodyPr wrap="none" rtlCol="0">
            <a:spAutoFit/>
          </a:bodyPr>
          <a:lstStyle/>
          <a:p>
            <a:r>
              <a:rPr lang="en-US" sz="2400" dirty="0" smtClean="0"/>
              <a:t>D</a:t>
            </a:r>
            <a:endParaRPr lang="en-US" sz="2400" dirty="0"/>
          </a:p>
        </p:txBody>
      </p:sp>
      <p:cxnSp>
        <p:nvCxnSpPr>
          <p:cNvPr id="19" name="Straight Connector 18"/>
          <p:cNvCxnSpPr>
            <a:stCxn id="5" idx="6"/>
            <a:endCxn id="17" idx="2"/>
          </p:cNvCxnSpPr>
          <p:nvPr/>
        </p:nvCxnSpPr>
        <p:spPr>
          <a:xfrm>
            <a:off x="8241323" y="2801144"/>
            <a:ext cx="1897377" cy="511907"/>
          </a:xfrm>
          <a:prstGeom prst="line">
            <a:avLst/>
          </a:prstGeom>
          <a:ln w="38100"/>
        </p:spPr>
        <p:style>
          <a:lnRef idx="1">
            <a:schemeClr val="dk1"/>
          </a:lnRef>
          <a:fillRef idx="0">
            <a:schemeClr val="dk1"/>
          </a:fillRef>
          <a:effectRef idx="0">
            <a:schemeClr val="dk1"/>
          </a:effectRef>
          <a:fontRef idx="minor">
            <a:schemeClr val="tx1"/>
          </a:fontRef>
        </p:style>
      </p:cxnSp>
      <p:cxnSp>
        <p:nvCxnSpPr>
          <p:cNvPr id="22" name="Straight Connector 21"/>
          <p:cNvCxnSpPr>
            <a:endCxn id="6" idx="7"/>
          </p:cNvCxnSpPr>
          <p:nvPr/>
        </p:nvCxnSpPr>
        <p:spPr>
          <a:xfrm flipH="1">
            <a:off x="9052078" y="3313051"/>
            <a:ext cx="1293730" cy="1455707"/>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1801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21"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val 36"/>
          <p:cNvSpPr/>
          <p:nvPr/>
        </p:nvSpPr>
        <p:spPr>
          <a:xfrm>
            <a:off x="7750178" y="2518812"/>
            <a:ext cx="564663" cy="5646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flipV="1">
            <a:off x="6474691" y="2808759"/>
            <a:ext cx="1550893" cy="1264477"/>
          </a:xfrm>
          <a:prstGeom prst="line">
            <a:avLst/>
          </a:prstGeom>
          <a:ln w="16192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025584" y="2750010"/>
            <a:ext cx="2320224" cy="605373"/>
          </a:xfrm>
          <a:prstGeom prst="line">
            <a:avLst/>
          </a:prstGeom>
          <a:ln w="16192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8954797" y="3318641"/>
            <a:ext cx="1399642" cy="1528178"/>
          </a:xfrm>
          <a:prstGeom prst="line">
            <a:avLst/>
          </a:prstGeom>
          <a:ln w="1619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4" idx="6"/>
          </p:cNvCxnSpPr>
          <p:nvPr/>
        </p:nvCxnSpPr>
        <p:spPr>
          <a:xfrm>
            <a:off x="6604000" y="4118708"/>
            <a:ext cx="2294416" cy="817383"/>
          </a:xfrm>
          <a:prstGeom prst="line">
            <a:avLst/>
          </a:prstGeom>
          <a:ln w="2190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8625348" y="4630036"/>
            <a:ext cx="564663" cy="564663"/>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10072108" y="3030719"/>
            <a:ext cx="564663" cy="564663"/>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114561" y="3836376"/>
            <a:ext cx="564663" cy="564663"/>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Node </a:t>
            </a:r>
            <a:r>
              <a:rPr lang="en-US" b="1" dirty="0" smtClean="0"/>
              <a:t>centrality</a:t>
            </a:r>
            <a:endParaRPr lang="en-US" b="1" dirty="0"/>
          </a:p>
        </p:txBody>
      </p:sp>
      <p:sp>
        <p:nvSpPr>
          <p:cNvPr id="3" name="Content Placeholder 2">
            <a:extLst>
              <a:ext uri="{FF2B5EF4-FFF2-40B4-BE49-F238E27FC236}">
                <a16:creationId xmlns:a16="http://schemas.microsoft.com/office/drawing/2014/main" id="{F121F737-C768-7F40-B84E-032A8766451A}"/>
              </a:ext>
            </a:extLst>
          </p:cNvPr>
          <p:cNvSpPr>
            <a:spLocks noGrp="1"/>
          </p:cNvSpPr>
          <p:nvPr>
            <p:ph idx="1"/>
          </p:nvPr>
        </p:nvSpPr>
        <p:spPr>
          <a:xfrm>
            <a:off x="838200" y="1825625"/>
            <a:ext cx="4513190" cy="4351338"/>
          </a:xfrm>
        </p:spPr>
        <p:txBody>
          <a:bodyPr>
            <a:normAutofit fontScale="92500"/>
          </a:bodyPr>
          <a:lstStyle/>
          <a:p>
            <a:pPr marL="0" indent="0">
              <a:buNone/>
            </a:pPr>
            <a:r>
              <a:rPr lang="en-US" sz="2400" u="sng" dirty="0" smtClean="0"/>
              <a:t>Degree centrality</a:t>
            </a:r>
          </a:p>
          <a:p>
            <a:r>
              <a:rPr lang="en-US" sz="2400" dirty="0" smtClean="0"/>
              <a:t>How many edges in or out</a:t>
            </a:r>
            <a:endParaRPr lang="en-US" sz="2400" dirty="0"/>
          </a:p>
          <a:p>
            <a:pPr marL="0" indent="0">
              <a:buNone/>
            </a:pPr>
            <a:r>
              <a:rPr lang="en-US" sz="2400" i="1" dirty="0" smtClean="0"/>
              <a:t>In-degree</a:t>
            </a:r>
            <a:r>
              <a:rPr lang="en-US" sz="2400" dirty="0" smtClean="0"/>
              <a:t>(A) = 2; </a:t>
            </a:r>
            <a:r>
              <a:rPr lang="en-US" sz="2400" i="1" dirty="0" smtClean="0"/>
              <a:t>Out-degree</a:t>
            </a:r>
            <a:r>
              <a:rPr lang="en-US" sz="2400" dirty="0" smtClean="0"/>
              <a:t>(A) = 1</a:t>
            </a:r>
          </a:p>
          <a:p>
            <a:pPr marL="0" indent="0">
              <a:buNone/>
            </a:pPr>
            <a:r>
              <a:rPr lang="en-US" sz="2400" u="sng" dirty="0" smtClean="0"/>
              <a:t>Closeness centrality</a:t>
            </a:r>
          </a:p>
          <a:p>
            <a:r>
              <a:rPr lang="en-US" sz="2400" dirty="0" smtClean="0"/>
              <a:t>Avg. shortest path between nodes</a:t>
            </a:r>
          </a:p>
          <a:p>
            <a:pPr marL="0" indent="0">
              <a:buNone/>
            </a:pPr>
            <a:r>
              <a:rPr lang="en-US" sz="2400" i="1" dirty="0" smtClean="0"/>
              <a:t>Closeness</a:t>
            </a:r>
            <a:r>
              <a:rPr lang="en-US" sz="2400" dirty="0" smtClean="0"/>
              <a:t>(A</a:t>
            </a:r>
            <a:r>
              <a:rPr lang="en-US" sz="2400" dirty="0"/>
              <a:t>) = </a:t>
            </a:r>
            <a:r>
              <a:rPr lang="en-US" sz="2400" dirty="0" smtClean="0"/>
              <a:t>1+2+2/3 = 1.7</a:t>
            </a:r>
            <a:endParaRPr lang="en-US" sz="2400" dirty="0"/>
          </a:p>
          <a:p>
            <a:pPr marL="0" indent="0">
              <a:buNone/>
            </a:pPr>
            <a:r>
              <a:rPr lang="en-US" sz="2400" u="sng" dirty="0" err="1" smtClean="0"/>
              <a:t>Betweenness</a:t>
            </a:r>
            <a:r>
              <a:rPr lang="en-US" sz="2400" u="sng" dirty="0" smtClean="0"/>
              <a:t> centrality</a:t>
            </a:r>
          </a:p>
          <a:p>
            <a:r>
              <a:rPr lang="en-US" sz="2400" dirty="0" smtClean="0"/>
              <a:t>How many times a node bridges other nodes</a:t>
            </a:r>
          </a:p>
          <a:p>
            <a:pPr marL="0" indent="0">
              <a:buNone/>
            </a:pPr>
            <a:r>
              <a:rPr lang="en-US" sz="2400" i="1" dirty="0" err="1" smtClean="0"/>
              <a:t>Betweenness</a:t>
            </a:r>
            <a:r>
              <a:rPr lang="en-US" sz="2400" dirty="0" smtClean="0"/>
              <a:t>(C) = 1/2 = 0.5</a:t>
            </a:r>
            <a:endParaRPr lang="en-US" sz="2400" dirty="0"/>
          </a:p>
          <a:p>
            <a:endParaRPr lang="en-US" dirty="0" smtClean="0"/>
          </a:p>
          <a:p>
            <a:endParaRPr lang="en-US" dirty="0"/>
          </a:p>
        </p:txBody>
      </p:sp>
      <p:sp>
        <p:nvSpPr>
          <p:cNvPr id="4" name="Oval 3"/>
          <p:cNvSpPr/>
          <p:nvPr/>
        </p:nvSpPr>
        <p:spPr>
          <a:xfrm>
            <a:off x="6189784" y="3911600"/>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7827107" y="2594036"/>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698523" y="4708097"/>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215592" y="3421745"/>
            <a:ext cx="362600" cy="461665"/>
          </a:xfrm>
          <a:prstGeom prst="rect">
            <a:avLst/>
          </a:prstGeom>
          <a:noFill/>
        </p:spPr>
        <p:txBody>
          <a:bodyPr wrap="none" rtlCol="0">
            <a:spAutoFit/>
          </a:bodyPr>
          <a:lstStyle/>
          <a:p>
            <a:r>
              <a:rPr lang="en-US" sz="2400" dirty="0" smtClean="0"/>
              <a:t>A</a:t>
            </a:r>
            <a:endParaRPr lang="en-US" sz="2400" dirty="0"/>
          </a:p>
        </p:txBody>
      </p:sp>
      <p:sp>
        <p:nvSpPr>
          <p:cNvPr id="9" name="TextBox 8"/>
          <p:cNvSpPr txBox="1"/>
          <p:nvPr/>
        </p:nvSpPr>
        <p:spPr>
          <a:xfrm>
            <a:off x="8724331" y="5127902"/>
            <a:ext cx="348172" cy="461665"/>
          </a:xfrm>
          <a:prstGeom prst="rect">
            <a:avLst/>
          </a:prstGeom>
          <a:noFill/>
        </p:spPr>
        <p:txBody>
          <a:bodyPr wrap="none" rtlCol="0">
            <a:spAutoFit/>
          </a:bodyPr>
          <a:lstStyle/>
          <a:p>
            <a:r>
              <a:rPr lang="en-US" sz="2400" dirty="0" smtClean="0"/>
              <a:t>C</a:t>
            </a:r>
            <a:endParaRPr lang="en-US" sz="2400" dirty="0"/>
          </a:p>
        </p:txBody>
      </p:sp>
      <p:cxnSp>
        <p:nvCxnSpPr>
          <p:cNvPr id="10" name="Straight Connector 9"/>
          <p:cNvCxnSpPr/>
          <p:nvPr/>
        </p:nvCxnSpPr>
        <p:spPr>
          <a:xfrm flipV="1">
            <a:off x="6396892" y="2801144"/>
            <a:ext cx="1637323" cy="1317563"/>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8034215" y="2801144"/>
            <a:ext cx="864202" cy="2114061"/>
          </a:xfrm>
          <a:prstGeom prst="line">
            <a:avLst/>
          </a:prstGeom>
          <a:ln w="114300"/>
        </p:spPr>
        <p:style>
          <a:lnRef idx="1">
            <a:schemeClr val="dk1"/>
          </a:lnRef>
          <a:fillRef idx="0">
            <a:schemeClr val="dk1"/>
          </a:fillRef>
          <a:effectRef idx="0">
            <a:schemeClr val="dk1"/>
          </a:effectRef>
          <a:fontRef idx="minor">
            <a:schemeClr val="tx1"/>
          </a:fontRef>
        </p:style>
      </p:cxnSp>
      <p:cxnSp>
        <p:nvCxnSpPr>
          <p:cNvPr id="14" name="Straight Arrow Connector 13"/>
          <p:cNvCxnSpPr>
            <a:endCxn id="4" idx="6"/>
          </p:cNvCxnSpPr>
          <p:nvPr/>
        </p:nvCxnSpPr>
        <p:spPr>
          <a:xfrm flipH="1" flipV="1">
            <a:off x="6604000" y="4118708"/>
            <a:ext cx="2294417" cy="82468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7850108" y="2141213"/>
            <a:ext cx="362600" cy="461665"/>
          </a:xfrm>
          <a:prstGeom prst="rect">
            <a:avLst/>
          </a:prstGeom>
          <a:noFill/>
        </p:spPr>
        <p:txBody>
          <a:bodyPr wrap="none" rtlCol="0">
            <a:spAutoFit/>
          </a:bodyPr>
          <a:lstStyle/>
          <a:p>
            <a:r>
              <a:rPr lang="en-US" sz="2400" dirty="0" smtClean="0"/>
              <a:t>B</a:t>
            </a:r>
            <a:endParaRPr lang="en-US" sz="2400" dirty="0"/>
          </a:p>
        </p:txBody>
      </p:sp>
      <p:sp>
        <p:nvSpPr>
          <p:cNvPr id="17" name="Oval 16"/>
          <p:cNvSpPr/>
          <p:nvPr/>
        </p:nvSpPr>
        <p:spPr>
          <a:xfrm>
            <a:off x="10138700" y="3105943"/>
            <a:ext cx="414216" cy="4142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0164508" y="2594036"/>
            <a:ext cx="373820" cy="461665"/>
          </a:xfrm>
          <a:prstGeom prst="rect">
            <a:avLst/>
          </a:prstGeom>
          <a:noFill/>
        </p:spPr>
        <p:txBody>
          <a:bodyPr wrap="none" rtlCol="0">
            <a:spAutoFit/>
          </a:bodyPr>
          <a:lstStyle/>
          <a:p>
            <a:r>
              <a:rPr lang="en-US" sz="2400" dirty="0" smtClean="0"/>
              <a:t>D</a:t>
            </a:r>
            <a:endParaRPr lang="en-US" sz="2400" dirty="0"/>
          </a:p>
        </p:txBody>
      </p:sp>
      <p:cxnSp>
        <p:nvCxnSpPr>
          <p:cNvPr id="19" name="Straight Connector 18"/>
          <p:cNvCxnSpPr>
            <a:stCxn id="5" idx="6"/>
            <a:endCxn id="17" idx="2"/>
          </p:cNvCxnSpPr>
          <p:nvPr/>
        </p:nvCxnSpPr>
        <p:spPr>
          <a:xfrm>
            <a:off x="8241323" y="2801144"/>
            <a:ext cx="1897377" cy="511907"/>
          </a:xfrm>
          <a:prstGeom prst="line">
            <a:avLst/>
          </a:prstGeom>
          <a:ln w="38100"/>
        </p:spPr>
        <p:style>
          <a:lnRef idx="1">
            <a:schemeClr val="dk1"/>
          </a:lnRef>
          <a:fillRef idx="0">
            <a:schemeClr val="dk1"/>
          </a:fillRef>
          <a:effectRef idx="0">
            <a:schemeClr val="dk1"/>
          </a:effectRef>
          <a:fontRef idx="minor">
            <a:schemeClr val="tx1"/>
          </a:fontRef>
        </p:style>
      </p:cxnSp>
      <p:cxnSp>
        <p:nvCxnSpPr>
          <p:cNvPr id="22" name="Straight Connector 21"/>
          <p:cNvCxnSpPr>
            <a:endCxn id="6" idx="7"/>
          </p:cNvCxnSpPr>
          <p:nvPr/>
        </p:nvCxnSpPr>
        <p:spPr>
          <a:xfrm flipH="1">
            <a:off x="9052078" y="3313051"/>
            <a:ext cx="1293730" cy="1455707"/>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2688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4" grpId="0" animBg="1"/>
      <p:bldP spid="23"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9020" y="1005355"/>
            <a:ext cx="4850428" cy="5244525"/>
          </a:xfrm>
          <a:prstGeom prst="rect">
            <a:avLst/>
          </a:prstGeom>
        </p:spPr>
      </p:pic>
      <p:sp>
        <p:nvSpPr>
          <p:cNvPr id="6" name="Content Placeholder 2">
            <a:extLst>
              <a:ext uri="{FF2B5EF4-FFF2-40B4-BE49-F238E27FC236}">
                <a16:creationId xmlns:a16="http://schemas.microsoft.com/office/drawing/2014/main" id="{F121F737-C768-7F40-B84E-032A8766451A}"/>
              </a:ext>
            </a:extLst>
          </p:cNvPr>
          <p:cNvSpPr>
            <a:spLocks noGrp="1"/>
          </p:cNvSpPr>
          <p:nvPr>
            <p:ph idx="1"/>
          </p:nvPr>
        </p:nvSpPr>
        <p:spPr>
          <a:xfrm>
            <a:off x="7256756" y="3514278"/>
            <a:ext cx="3067974" cy="489551"/>
          </a:xfrm>
        </p:spPr>
        <p:txBody>
          <a:bodyPr>
            <a:normAutofit/>
          </a:bodyPr>
          <a:lstStyle/>
          <a:p>
            <a:pPr marL="0" indent="0">
              <a:buNone/>
            </a:pPr>
            <a:r>
              <a:rPr lang="en-US" sz="2400" dirty="0" smtClean="0"/>
              <a:t>High </a:t>
            </a:r>
            <a:r>
              <a:rPr lang="en-US" sz="2400" b="1" dirty="0" smtClean="0"/>
              <a:t>degree</a:t>
            </a:r>
            <a:r>
              <a:rPr lang="en-US" sz="2400" dirty="0" smtClean="0"/>
              <a:t> centrality</a:t>
            </a:r>
            <a:endParaRPr lang="en-US" sz="2400" dirty="0"/>
          </a:p>
          <a:p>
            <a:endParaRPr lang="en-US" dirty="0" smtClean="0"/>
          </a:p>
          <a:p>
            <a:endParaRPr lang="en-US" dirty="0"/>
          </a:p>
        </p:txBody>
      </p:sp>
      <p:sp>
        <p:nvSpPr>
          <p:cNvPr id="7" name="Content Placeholder 2">
            <a:extLst>
              <a:ext uri="{FF2B5EF4-FFF2-40B4-BE49-F238E27FC236}">
                <a16:creationId xmlns:a16="http://schemas.microsoft.com/office/drawing/2014/main" id="{F121F737-C768-7F40-B84E-032A8766451A}"/>
              </a:ext>
            </a:extLst>
          </p:cNvPr>
          <p:cNvSpPr txBox="1">
            <a:spLocks/>
          </p:cNvSpPr>
          <p:nvPr/>
        </p:nvSpPr>
        <p:spPr>
          <a:xfrm>
            <a:off x="5864442" y="4430300"/>
            <a:ext cx="3980894" cy="4895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smtClean="0"/>
              <a:t>High </a:t>
            </a:r>
            <a:r>
              <a:rPr lang="en-US" sz="2400" b="1" dirty="0" err="1" smtClean="0"/>
              <a:t>betweenness</a:t>
            </a:r>
            <a:r>
              <a:rPr lang="en-US" sz="2400" dirty="0" smtClean="0"/>
              <a:t> centrality</a:t>
            </a:r>
          </a:p>
          <a:p>
            <a:endParaRPr lang="en-US" dirty="0" smtClean="0"/>
          </a:p>
          <a:p>
            <a:endParaRPr lang="en-US" dirty="0"/>
          </a:p>
        </p:txBody>
      </p:sp>
      <p:cxnSp>
        <p:nvCxnSpPr>
          <p:cNvPr id="5" name="Straight Connector 4"/>
          <p:cNvCxnSpPr>
            <a:stCxn id="6" idx="1"/>
          </p:cNvCxnSpPr>
          <p:nvPr/>
        </p:nvCxnSpPr>
        <p:spPr>
          <a:xfrm flipH="1" flipV="1">
            <a:off x="5246704" y="2166152"/>
            <a:ext cx="2010052" cy="1592902"/>
          </a:xfrm>
          <a:prstGeom prst="line">
            <a:avLst/>
          </a:prstGeom>
          <a:ln w="57150"/>
        </p:spPr>
        <p:style>
          <a:lnRef idx="1">
            <a:schemeClr val="dk1"/>
          </a:lnRef>
          <a:fillRef idx="0">
            <a:schemeClr val="dk1"/>
          </a:fillRef>
          <a:effectRef idx="0">
            <a:schemeClr val="dk1"/>
          </a:effectRef>
          <a:fontRef idx="minor">
            <a:schemeClr val="tx1"/>
          </a:fontRef>
        </p:style>
      </p:cxnSp>
      <p:cxnSp>
        <p:nvCxnSpPr>
          <p:cNvPr id="10" name="Straight Connector 9"/>
          <p:cNvCxnSpPr>
            <a:stCxn id="6" idx="1"/>
          </p:cNvCxnSpPr>
          <p:nvPr/>
        </p:nvCxnSpPr>
        <p:spPr>
          <a:xfrm flipH="1" flipV="1">
            <a:off x="2663302" y="2166152"/>
            <a:ext cx="4593454" cy="1592902"/>
          </a:xfrm>
          <a:prstGeom prst="line">
            <a:avLst/>
          </a:prstGeom>
          <a:ln w="57150"/>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flipV="1">
            <a:off x="3955003" y="3411565"/>
            <a:ext cx="1909439" cy="1187068"/>
          </a:xfrm>
          <a:prstGeom prst="line">
            <a:avLst/>
          </a:prstGeom>
          <a:ln w="571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4612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105" y="1258726"/>
            <a:ext cx="6406801" cy="5087754"/>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4391" y="1518866"/>
            <a:ext cx="4827614" cy="4827614"/>
          </a:xfrm>
          <a:prstGeom prst="rect">
            <a:avLst/>
          </a:prstGeom>
        </p:spPr>
      </p:pic>
      <p:sp>
        <p:nvSpPr>
          <p:cNvPr id="11" name="Content Placeholder 2">
            <a:extLst>
              <a:ext uri="{FF2B5EF4-FFF2-40B4-BE49-F238E27FC236}">
                <a16:creationId xmlns:a16="http://schemas.microsoft.com/office/drawing/2014/main" id="{F121F737-C768-7F40-B84E-032A8766451A}"/>
              </a:ext>
            </a:extLst>
          </p:cNvPr>
          <p:cNvSpPr>
            <a:spLocks noGrp="1"/>
          </p:cNvSpPr>
          <p:nvPr>
            <p:ph idx="1"/>
          </p:nvPr>
        </p:nvSpPr>
        <p:spPr>
          <a:xfrm>
            <a:off x="638673" y="617169"/>
            <a:ext cx="3067974" cy="489551"/>
          </a:xfrm>
        </p:spPr>
        <p:txBody>
          <a:bodyPr>
            <a:normAutofit/>
          </a:bodyPr>
          <a:lstStyle/>
          <a:p>
            <a:pPr marL="0" indent="0">
              <a:buNone/>
            </a:pPr>
            <a:r>
              <a:rPr lang="en-US" sz="2400" dirty="0" smtClean="0"/>
              <a:t>Star Wars (ep. 1-6)</a:t>
            </a:r>
            <a:endParaRPr lang="en-US" sz="2400" dirty="0"/>
          </a:p>
          <a:p>
            <a:endParaRPr lang="en-US" dirty="0" smtClean="0"/>
          </a:p>
          <a:p>
            <a:endParaRPr lang="en-US" dirty="0"/>
          </a:p>
        </p:txBody>
      </p:sp>
      <p:sp>
        <p:nvSpPr>
          <p:cNvPr id="12" name="Content Placeholder 2">
            <a:extLst>
              <a:ext uri="{FF2B5EF4-FFF2-40B4-BE49-F238E27FC236}">
                <a16:creationId xmlns:a16="http://schemas.microsoft.com/office/drawing/2014/main" id="{F121F737-C768-7F40-B84E-032A8766451A}"/>
              </a:ext>
            </a:extLst>
          </p:cNvPr>
          <p:cNvSpPr txBox="1">
            <a:spLocks/>
          </p:cNvSpPr>
          <p:nvPr/>
        </p:nvSpPr>
        <p:spPr>
          <a:xfrm>
            <a:off x="7101339" y="617169"/>
            <a:ext cx="3067974" cy="4895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smtClean="0"/>
              <a:t>Romeo &amp; Juliet</a:t>
            </a:r>
          </a:p>
          <a:p>
            <a:endParaRPr lang="en-US" dirty="0" smtClean="0"/>
          </a:p>
          <a:p>
            <a:endParaRPr lang="en-US" dirty="0"/>
          </a:p>
        </p:txBody>
      </p:sp>
    </p:spTree>
    <p:extLst>
      <p:ext uri="{BB962C8B-B14F-4D97-AF65-F5344CB8AC3E}">
        <p14:creationId xmlns:p14="http://schemas.microsoft.com/office/powerpoint/2010/main" val="154549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F121F737-C768-7F40-B84E-032A8766451A}"/>
              </a:ext>
            </a:extLst>
          </p:cNvPr>
          <p:cNvSpPr>
            <a:spLocks noGrp="1"/>
          </p:cNvSpPr>
          <p:nvPr>
            <p:ph idx="1"/>
          </p:nvPr>
        </p:nvSpPr>
        <p:spPr>
          <a:xfrm>
            <a:off x="638673" y="617169"/>
            <a:ext cx="3067974" cy="489551"/>
          </a:xfrm>
        </p:spPr>
        <p:txBody>
          <a:bodyPr>
            <a:normAutofit/>
          </a:bodyPr>
          <a:lstStyle/>
          <a:p>
            <a:pPr marL="0" indent="0">
              <a:buNone/>
            </a:pPr>
            <a:r>
              <a:rPr lang="en-US" sz="2400" dirty="0" smtClean="0"/>
              <a:t>Songbird brain </a:t>
            </a:r>
            <a:r>
              <a:rPr lang="en-US" sz="2400" dirty="0" smtClean="0">
                <a:sym typeface="Wingdings" panose="05000000000000000000" pitchFamily="2" charset="2"/>
              </a:rPr>
              <a:t></a:t>
            </a:r>
            <a:endParaRPr lang="en-US" sz="2400" dirty="0"/>
          </a:p>
          <a:p>
            <a:endParaRPr lang="en-US" dirty="0" smtClean="0"/>
          </a:p>
          <a:p>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464" y="1501037"/>
            <a:ext cx="5750365" cy="4662019"/>
          </a:xfrm>
          <a:prstGeom prst="rect">
            <a:avLst/>
          </a:prstGeom>
        </p:spPr>
      </p:pic>
    </p:spTree>
    <p:extLst>
      <p:ext uri="{BB962C8B-B14F-4D97-AF65-F5344CB8AC3E}">
        <p14:creationId xmlns:p14="http://schemas.microsoft.com/office/powerpoint/2010/main" val="159847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Network</a:t>
            </a:r>
            <a:r>
              <a:rPr lang="en-US" b="1" dirty="0" smtClean="0"/>
              <a:t> cohesion</a:t>
            </a:r>
            <a:endParaRPr lang="en-US" i="1" dirty="0"/>
          </a:p>
        </p:txBody>
      </p:sp>
      <p:sp>
        <p:nvSpPr>
          <p:cNvPr id="7" name="Content Placeholder 2">
            <a:extLst>
              <a:ext uri="{FF2B5EF4-FFF2-40B4-BE49-F238E27FC236}">
                <a16:creationId xmlns:a16="http://schemas.microsoft.com/office/drawing/2014/main" id="{F121F737-C768-7F40-B84E-032A8766451A}"/>
              </a:ext>
            </a:extLst>
          </p:cNvPr>
          <p:cNvSpPr>
            <a:spLocks noGrp="1"/>
          </p:cNvSpPr>
          <p:nvPr>
            <p:ph idx="1"/>
          </p:nvPr>
        </p:nvSpPr>
        <p:spPr>
          <a:xfrm>
            <a:off x="838200" y="1825625"/>
            <a:ext cx="4513190" cy="4351338"/>
          </a:xfrm>
        </p:spPr>
        <p:txBody>
          <a:bodyPr>
            <a:normAutofit/>
          </a:bodyPr>
          <a:lstStyle/>
          <a:p>
            <a:pPr marL="0" indent="0">
              <a:buNone/>
            </a:pPr>
            <a:r>
              <a:rPr lang="en-US" sz="2400" u="sng" dirty="0" smtClean="0"/>
              <a:t>Connected components</a:t>
            </a:r>
          </a:p>
          <a:p>
            <a:r>
              <a:rPr lang="en-US" sz="2400" dirty="0" smtClean="0"/>
              <a:t>Subgraphs</a:t>
            </a:r>
          </a:p>
          <a:p>
            <a:pPr marL="0" indent="0">
              <a:buNone/>
            </a:pPr>
            <a:r>
              <a:rPr lang="en-US" sz="2400" u="sng" dirty="0" smtClean="0"/>
              <a:t>Clusters</a:t>
            </a:r>
          </a:p>
          <a:p>
            <a:r>
              <a:rPr lang="en-US" sz="2400" dirty="0" smtClean="0"/>
              <a:t>Within-component subgroups</a:t>
            </a:r>
          </a:p>
          <a:p>
            <a:pPr marL="0" indent="0">
              <a:buNone/>
            </a:pPr>
            <a:r>
              <a:rPr lang="en-US" sz="2400" u="sng" dirty="0" smtClean="0"/>
              <a:t>Reciprocity</a:t>
            </a:r>
          </a:p>
          <a:p>
            <a:r>
              <a:rPr lang="en-US" sz="2400" dirty="0" smtClean="0"/>
              <a:t>Proportion of bi-directional edges (for directed graphs)</a:t>
            </a:r>
          </a:p>
          <a:p>
            <a:pPr marL="0" indent="0">
              <a:buNone/>
            </a:pPr>
            <a:r>
              <a:rPr lang="en-US" sz="2400" u="sng" dirty="0" smtClean="0"/>
              <a:t>Path lengths</a:t>
            </a:r>
          </a:p>
          <a:p>
            <a:r>
              <a:rPr lang="en-US" sz="2400" dirty="0" smtClean="0"/>
              <a:t>Average paths among all nodes (degrees of separation)</a:t>
            </a:r>
            <a:endParaRPr lang="en-US" dirty="0" smtClean="0"/>
          </a:p>
          <a:p>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2553" y="900711"/>
            <a:ext cx="5444216" cy="5433658"/>
          </a:xfrm>
          <a:prstGeom prst="rect">
            <a:avLst/>
          </a:prstGeom>
        </p:spPr>
      </p:pic>
    </p:spTree>
    <p:extLst>
      <p:ext uri="{BB962C8B-B14F-4D97-AF65-F5344CB8AC3E}">
        <p14:creationId xmlns:p14="http://schemas.microsoft.com/office/powerpoint/2010/main" val="240391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b="1" dirty="0" smtClean="0"/>
              <a:t>Paths</a:t>
            </a:r>
            <a:r>
              <a:rPr lang="en-US" dirty="0" smtClean="0"/>
              <a:t> describe </a:t>
            </a:r>
            <a:r>
              <a:rPr lang="en-US" i="1" dirty="0" smtClean="0"/>
              <a:t>flows</a:t>
            </a:r>
            <a:endParaRPr lang="en-US" i="1"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768" y="1753820"/>
            <a:ext cx="10744982" cy="4037379"/>
          </a:xfrm>
          <a:prstGeom prst="rect">
            <a:avLst/>
          </a:prstGeom>
        </p:spPr>
      </p:pic>
      <p:sp>
        <p:nvSpPr>
          <p:cNvPr id="6" name="TextBox 5"/>
          <p:cNvSpPr txBox="1"/>
          <p:nvPr/>
        </p:nvSpPr>
        <p:spPr>
          <a:xfrm>
            <a:off x="6096000" y="5854331"/>
            <a:ext cx="4018664" cy="830997"/>
          </a:xfrm>
          <a:prstGeom prst="rect">
            <a:avLst/>
          </a:prstGeom>
          <a:noFill/>
        </p:spPr>
        <p:txBody>
          <a:bodyPr wrap="none" rtlCol="0">
            <a:spAutoFit/>
          </a:bodyPr>
          <a:lstStyle/>
          <a:p>
            <a:r>
              <a:rPr lang="en-US" sz="2400" dirty="0" smtClean="0"/>
              <a:t>E.g. average path length = 6</a:t>
            </a:r>
          </a:p>
          <a:p>
            <a:r>
              <a:rPr lang="en-US" sz="2400" dirty="0" smtClean="0"/>
              <a:t>means 6 degrees of separation</a:t>
            </a:r>
            <a:endParaRPr lang="en-US" sz="2400" dirty="0"/>
          </a:p>
        </p:txBody>
      </p:sp>
    </p:spTree>
    <p:extLst>
      <p:ext uri="{BB962C8B-B14F-4D97-AF65-F5344CB8AC3E}">
        <p14:creationId xmlns:p14="http://schemas.microsoft.com/office/powerpoint/2010/main" val="3713837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Network analyses in justice data</a:t>
            </a:r>
            <a:endParaRPr lang="en-US" dirty="0"/>
          </a:p>
        </p:txBody>
      </p:sp>
      <p:sp>
        <p:nvSpPr>
          <p:cNvPr id="3" name="Content Placeholder 2">
            <a:extLst>
              <a:ext uri="{FF2B5EF4-FFF2-40B4-BE49-F238E27FC236}">
                <a16:creationId xmlns:a16="http://schemas.microsoft.com/office/drawing/2014/main" id="{F121F737-C768-7F40-B84E-032A8766451A}"/>
              </a:ext>
            </a:extLst>
          </p:cNvPr>
          <p:cNvSpPr>
            <a:spLocks noGrp="1"/>
          </p:cNvSpPr>
          <p:nvPr>
            <p:ph idx="1"/>
          </p:nvPr>
        </p:nvSpPr>
        <p:spPr>
          <a:xfrm>
            <a:off x="838200" y="4142153"/>
            <a:ext cx="6320692" cy="2235201"/>
          </a:xfrm>
        </p:spPr>
        <p:txBody>
          <a:bodyPr>
            <a:normAutofit fontScale="92500" lnSpcReduction="10000"/>
          </a:bodyPr>
          <a:lstStyle/>
          <a:p>
            <a:r>
              <a:rPr lang="en-US" dirty="0" smtClean="0"/>
              <a:t>Gun violence as an “epidemic”</a:t>
            </a:r>
          </a:p>
          <a:p>
            <a:r>
              <a:rPr lang="en-US" dirty="0" smtClean="0"/>
              <a:t>Due to demographics, geography, </a:t>
            </a:r>
            <a:r>
              <a:rPr lang="en-US" i="1" dirty="0" smtClean="0"/>
              <a:t>social network</a:t>
            </a:r>
            <a:r>
              <a:rPr lang="en-US" dirty="0" smtClean="0"/>
              <a:t>?</a:t>
            </a:r>
          </a:p>
          <a:p>
            <a:endParaRPr lang="en-US" dirty="0"/>
          </a:p>
          <a:p>
            <a:pPr marL="0" indent="0">
              <a:buNone/>
            </a:pPr>
            <a:r>
              <a:rPr lang="en-US" dirty="0" smtClean="0">
                <a:hlinkClick r:id="rId3"/>
              </a:rPr>
              <a:t>link to paper</a:t>
            </a:r>
            <a:endParaRPr lang="en-US" dirty="0"/>
          </a:p>
          <a:p>
            <a:endParaRPr lang="en-US" dirty="0" smtClean="0"/>
          </a:p>
          <a:p>
            <a:endParaRPr lang="en-US" dirty="0"/>
          </a:p>
        </p:txBody>
      </p:sp>
      <p:pic>
        <p:nvPicPr>
          <p:cNvPr id="5" name="Picture 4">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6093" y="1685682"/>
            <a:ext cx="10573934" cy="2142890"/>
          </a:xfrm>
          <a:prstGeom prst="rect">
            <a:avLst/>
          </a:prstGeom>
        </p:spPr>
      </p:pic>
    </p:spTree>
    <p:extLst>
      <p:ext uri="{BB962C8B-B14F-4D97-AF65-F5344CB8AC3E}">
        <p14:creationId xmlns:p14="http://schemas.microsoft.com/office/powerpoint/2010/main" val="6691933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Co-offending network data</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3918" y="1588925"/>
            <a:ext cx="7504163" cy="4821111"/>
          </a:xfrm>
          <a:prstGeom prst="rect">
            <a:avLst/>
          </a:prstGeom>
        </p:spPr>
      </p:pic>
    </p:spTree>
    <p:extLst>
      <p:ext uri="{BB962C8B-B14F-4D97-AF65-F5344CB8AC3E}">
        <p14:creationId xmlns:p14="http://schemas.microsoft.com/office/powerpoint/2010/main" val="29082548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normAutofit/>
          </a:bodyPr>
          <a:lstStyle/>
          <a:p>
            <a:r>
              <a:rPr lang="en-US" sz="2800" dirty="0" smtClean="0"/>
              <a:t>Violence victims are non-randomly dispersed among non-victims</a:t>
            </a:r>
            <a:endParaRPr lang="en-US" sz="28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9931" y="1560672"/>
            <a:ext cx="5492137" cy="5297328"/>
          </a:xfrm>
          <a:prstGeom prst="rect">
            <a:avLst/>
          </a:prstGeom>
        </p:spPr>
      </p:pic>
      <p:sp>
        <p:nvSpPr>
          <p:cNvPr id="6" name="Oval 5"/>
          <p:cNvSpPr/>
          <p:nvPr/>
        </p:nvSpPr>
        <p:spPr>
          <a:xfrm>
            <a:off x="9722338" y="2633785"/>
            <a:ext cx="320430" cy="320430"/>
          </a:xfrm>
          <a:prstGeom prst="ellipse">
            <a:avLst/>
          </a:prstGeom>
          <a:solidFill>
            <a:srgbClr val="1777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9722338" y="3380154"/>
            <a:ext cx="320430" cy="320430"/>
          </a:xfrm>
          <a:prstGeom prst="ellipse">
            <a:avLst/>
          </a:prstGeom>
          <a:solidFill>
            <a:srgbClr val="E02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0048629" y="2609334"/>
            <a:ext cx="1217000" cy="369332"/>
          </a:xfrm>
          <a:prstGeom prst="rect">
            <a:avLst/>
          </a:prstGeom>
          <a:noFill/>
        </p:spPr>
        <p:txBody>
          <a:bodyPr wrap="none" rtlCol="0">
            <a:spAutoFit/>
          </a:bodyPr>
          <a:lstStyle/>
          <a:p>
            <a:r>
              <a:rPr lang="en-US" dirty="0" smtClean="0"/>
              <a:t>Non-victim</a:t>
            </a:r>
            <a:endParaRPr lang="en-US" dirty="0"/>
          </a:p>
        </p:txBody>
      </p:sp>
      <p:sp>
        <p:nvSpPr>
          <p:cNvPr id="9" name="TextBox 8"/>
          <p:cNvSpPr txBox="1"/>
          <p:nvPr/>
        </p:nvSpPr>
        <p:spPr>
          <a:xfrm>
            <a:off x="10075066" y="3355703"/>
            <a:ext cx="1431802" cy="646331"/>
          </a:xfrm>
          <a:prstGeom prst="rect">
            <a:avLst/>
          </a:prstGeom>
          <a:noFill/>
        </p:spPr>
        <p:txBody>
          <a:bodyPr wrap="none" rtlCol="0">
            <a:spAutoFit/>
          </a:bodyPr>
          <a:lstStyle/>
          <a:p>
            <a:r>
              <a:rPr lang="en-US" dirty="0" smtClean="0"/>
              <a:t>Victim of gun</a:t>
            </a:r>
          </a:p>
          <a:p>
            <a:r>
              <a:rPr lang="en-US" dirty="0" smtClean="0"/>
              <a:t>violence</a:t>
            </a:r>
            <a:endParaRPr lang="en-US" dirty="0"/>
          </a:p>
        </p:txBody>
      </p:sp>
    </p:spTree>
    <p:extLst>
      <p:ext uri="{BB962C8B-B14F-4D97-AF65-F5344CB8AC3E}">
        <p14:creationId xmlns:p14="http://schemas.microsoft.com/office/powerpoint/2010/main" val="10116301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256" y="73891"/>
            <a:ext cx="11087092" cy="6687127"/>
          </a:xfrm>
          <a:prstGeom prst="rect">
            <a:avLst/>
          </a:prstGeom>
        </p:spPr>
      </p:pic>
      <p:sp>
        <p:nvSpPr>
          <p:cNvPr id="5" name="Rectangle 4"/>
          <p:cNvSpPr/>
          <p:nvPr/>
        </p:nvSpPr>
        <p:spPr>
          <a:xfrm>
            <a:off x="7758545" y="4562764"/>
            <a:ext cx="2826328" cy="378691"/>
          </a:xfrm>
          <a:prstGeom prst="rect">
            <a:avLst/>
          </a:prstGeom>
          <a:noFill/>
          <a:ln w="571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8657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normAutofit/>
          </a:bodyPr>
          <a:lstStyle/>
          <a:p>
            <a:r>
              <a:rPr lang="en-US" sz="4000" dirty="0" smtClean="0"/>
              <a:t>4,107 cascades of gun violence</a:t>
            </a:r>
            <a:endParaRPr lang="en-US" sz="4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389" y="1853416"/>
            <a:ext cx="10877221" cy="4414521"/>
          </a:xfrm>
          <a:prstGeom prst="rect">
            <a:avLst/>
          </a:prstGeom>
        </p:spPr>
      </p:pic>
    </p:spTree>
    <p:extLst>
      <p:ext uri="{BB962C8B-B14F-4D97-AF65-F5344CB8AC3E}">
        <p14:creationId xmlns:p14="http://schemas.microsoft.com/office/powerpoint/2010/main" val="40864693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normAutofit/>
          </a:bodyPr>
          <a:lstStyle/>
          <a:p>
            <a:r>
              <a:rPr lang="en-US" sz="2800" dirty="0" smtClean="0"/>
              <a:t>Social contagion accounts for 63% of 11,123 gunshot violence episodes</a:t>
            </a:r>
            <a:endParaRPr lang="en-US" sz="28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9805" y="1589088"/>
            <a:ext cx="5272389" cy="5091580"/>
          </a:xfrm>
          <a:prstGeom prst="rect">
            <a:avLst/>
          </a:prstGeom>
        </p:spPr>
      </p:pic>
      <p:cxnSp>
        <p:nvCxnSpPr>
          <p:cNvPr id="7" name="Straight Arrow Connector 6"/>
          <p:cNvCxnSpPr/>
          <p:nvPr/>
        </p:nvCxnSpPr>
        <p:spPr>
          <a:xfrm>
            <a:off x="7674708" y="1531815"/>
            <a:ext cx="0" cy="8128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188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85749-3CF9-AF43-9AFA-8858834B8357}"/>
              </a:ext>
            </a:extLst>
          </p:cNvPr>
          <p:cNvSpPr>
            <a:spLocks noGrp="1"/>
          </p:cNvSpPr>
          <p:nvPr>
            <p:ph type="title"/>
          </p:nvPr>
        </p:nvSpPr>
        <p:spPr/>
        <p:txBody>
          <a:bodyPr/>
          <a:lstStyle/>
          <a:p>
            <a:r>
              <a:rPr lang="en-US" dirty="0" smtClean="0"/>
              <a:t>Extended reading</a:t>
            </a:r>
            <a:endParaRPr lang="en-US" dirty="0"/>
          </a:p>
        </p:txBody>
      </p:sp>
      <p:sp>
        <p:nvSpPr>
          <p:cNvPr id="3" name="Content Placeholder 2">
            <a:extLst>
              <a:ext uri="{FF2B5EF4-FFF2-40B4-BE49-F238E27FC236}">
                <a16:creationId xmlns:a16="http://schemas.microsoft.com/office/drawing/2014/main" id="{F121F737-C768-7F40-B84E-032A8766451A}"/>
              </a:ext>
            </a:extLst>
          </p:cNvPr>
          <p:cNvSpPr>
            <a:spLocks noGrp="1"/>
          </p:cNvSpPr>
          <p:nvPr>
            <p:ph idx="1"/>
          </p:nvPr>
        </p:nvSpPr>
        <p:spPr/>
        <p:txBody>
          <a:bodyPr>
            <a:normAutofit fontScale="92500" lnSpcReduction="10000"/>
          </a:bodyPr>
          <a:lstStyle/>
          <a:p>
            <a:pPr marL="0" indent="0">
              <a:buNone/>
            </a:pPr>
            <a:r>
              <a:rPr lang="en-US" dirty="0" smtClean="0"/>
              <a:t>Deeper reading into general network science</a:t>
            </a:r>
          </a:p>
          <a:p>
            <a:r>
              <a:rPr lang="en-US" dirty="0" smtClean="0">
                <a:hlinkClick r:id="rId3"/>
              </a:rPr>
              <a:t>Network Science by Albert-</a:t>
            </a:r>
            <a:r>
              <a:rPr lang="en-US" dirty="0" err="1" smtClean="0">
                <a:hlinkClick r:id="rId3"/>
              </a:rPr>
              <a:t>László</a:t>
            </a:r>
            <a:r>
              <a:rPr lang="en-US" dirty="0" smtClean="0">
                <a:hlinkClick r:id="rId3"/>
              </a:rPr>
              <a:t> </a:t>
            </a:r>
            <a:r>
              <a:rPr lang="en-US" dirty="0" err="1" smtClean="0">
                <a:hlinkClick r:id="rId3"/>
              </a:rPr>
              <a:t>Barabási</a:t>
            </a:r>
            <a:endParaRPr lang="en-US" dirty="0" smtClean="0"/>
          </a:p>
          <a:p>
            <a:pPr marL="0" indent="0">
              <a:buNone/>
            </a:pPr>
            <a:endParaRPr lang="en-US" dirty="0"/>
          </a:p>
          <a:p>
            <a:pPr marL="0" indent="0">
              <a:buNone/>
            </a:pPr>
            <a:r>
              <a:rPr lang="en-US" dirty="0" smtClean="0"/>
              <a:t>Network analyses applied to justice problems</a:t>
            </a:r>
          </a:p>
          <a:p>
            <a:r>
              <a:rPr lang="en-US" dirty="0">
                <a:hlinkClick r:id="rId4"/>
              </a:rPr>
              <a:t>Social Networks and </a:t>
            </a:r>
            <a:r>
              <a:rPr lang="en-US" dirty="0" smtClean="0">
                <a:hlinkClick r:id="rId4"/>
              </a:rPr>
              <a:t>Crime: Pitfalls </a:t>
            </a:r>
            <a:r>
              <a:rPr lang="en-US" dirty="0">
                <a:hlinkClick r:id="rId4"/>
              </a:rPr>
              <a:t>and Promises </a:t>
            </a:r>
            <a:r>
              <a:rPr lang="en-US" dirty="0" smtClean="0">
                <a:hlinkClick r:id="rId4"/>
              </a:rPr>
              <a:t>for Advancing </a:t>
            </a:r>
            <a:r>
              <a:rPr lang="en-US" dirty="0">
                <a:hlinkClick r:id="rId4"/>
              </a:rPr>
              <a:t>the </a:t>
            </a:r>
            <a:r>
              <a:rPr lang="en-US" dirty="0" smtClean="0">
                <a:hlinkClick r:id="rId4"/>
              </a:rPr>
              <a:t>Field </a:t>
            </a:r>
            <a:r>
              <a:rPr lang="en-US" dirty="0" smtClean="0"/>
              <a:t>(Faust &amp; </a:t>
            </a:r>
            <a:r>
              <a:rPr lang="en-US" dirty="0" err="1" smtClean="0"/>
              <a:t>Tita</a:t>
            </a:r>
            <a:r>
              <a:rPr lang="en-US" dirty="0" smtClean="0"/>
              <a:t> 2019)</a:t>
            </a:r>
          </a:p>
          <a:p>
            <a:pPr marL="0" indent="0">
              <a:buNone/>
            </a:pPr>
            <a:endParaRPr lang="en-US" dirty="0"/>
          </a:p>
          <a:p>
            <a:pPr marL="0" indent="0">
              <a:buNone/>
            </a:pPr>
            <a:r>
              <a:rPr lang="en-US" dirty="0" smtClean="0"/>
              <a:t>Dealing with network data in R</a:t>
            </a:r>
          </a:p>
          <a:p>
            <a:r>
              <a:rPr lang="en-US" dirty="0" smtClean="0">
                <a:hlinkClick r:id="rId5"/>
              </a:rPr>
              <a:t>Statistical Analysis of Network Data with R</a:t>
            </a:r>
            <a:endParaRPr lang="en-US" dirty="0" smtClean="0"/>
          </a:p>
          <a:p>
            <a:r>
              <a:rPr lang="en-US" dirty="0" smtClean="0">
                <a:hlinkClick r:id="rId6"/>
              </a:rPr>
              <a:t>Applied Network Science with R e-book</a:t>
            </a:r>
            <a:endParaRPr lang="en-US" dirty="0" smtClean="0"/>
          </a:p>
          <a:p>
            <a:pPr marL="0" indent="0">
              <a:buNone/>
            </a:pPr>
            <a:endParaRPr lang="en-US" dirty="0" smtClean="0"/>
          </a:p>
          <a:p>
            <a:pPr marL="0" indent="0">
              <a:buNone/>
            </a:pPr>
            <a:endParaRPr lang="en-US" dirty="0"/>
          </a:p>
          <a:p>
            <a:endParaRPr lang="en-US" dirty="0" smtClean="0"/>
          </a:p>
          <a:p>
            <a:endParaRPr lang="en-US" dirty="0"/>
          </a:p>
        </p:txBody>
      </p:sp>
    </p:spTree>
    <p:extLst>
      <p:ext uri="{BB962C8B-B14F-4D97-AF65-F5344CB8AC3E}">
        <p14:creationId xmlns:p14="http://schemas.microsoft.com/office/powerpoint/2010/main" val="102613389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8072</TotalTime>
  <Words>640</Words>
  <Application>Microsoft Office PowerPoint</Application>
  <PresentationFormat>Widescreen</PresentationFormat>
  <Paragraphs>152</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Office Theme</vt:lpstr>
      <vt:lpstr>Social Network Analysis </vt:lpstr>
      <vt:lpstr>Agenda</vt:lpstr>
      <vt:lpstr>“Small world”</vt:lpstr>
      <vt:lpstr>Network science is young but increasingly popular</vt:lpstr>
      <vt:lpstr>Networks = Graphs</vt:lpstr>
      <vt:lpstr>Networks can get big</vt:lpstr>
      <vt:lpstr>How to represent a network/graph</vt:lpstr>
      <vt:lpstr>How to represent a network/graph</vt:lpstr>
      <vt:lpstr>Descriptive Statistics</vt:lpstr>
      <vt:lpstr>Node centrality</vt:lpstr>
      <vt:lpstr>Node centrality</vt:lpstr>
      <vt:lpstr>Node centrality</vt:lpstr>
      <vt:lpstr>PowerPoint Presentation</vt:lpstr>
      <vt:lpstr>PowerPoint Presentation</vt:lpstr>
      <vt:lpstr>PowerPoint Presentation</vt:lpstr>
      <vt:lpstr>Network cohesion</vt:lpstr>
      <vt:lpstr>Paths describe flows</vt:lpstr>
      <vt:lpstr>Network analyses in justice data</vt:lpstr>
      <vt:lpstr>Co-offending network data</vt:lpstr>
      <vt:lpstr>Violence victims are non-randomly dispersed among non-victims</vt:lpstr>
      <vt:lpstr>PowerPoint Presentation</vt:lpstr>
      <vt:lpstr>4,107 cascades of gun violence</vt:lpstr>
      <vt:lpstr>Social contagion accounts for 63% of 11,123 gunshot violence episodes</vt:lpstr>
      <vt:lpstr>Extended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Choices: img of R,python</dc:title>
  <dc:creator>Microsoft Office User</dc:creator>
  <cp:lastModifiedBy>jacob</cp:lastModifiedBy>
  <cp:revision>224</cp:revision>
  <dcterms:created xsi:type="dcterms:W3CDTF">2022-01-22T23:15:34Z</dcterms:created>
  <dcterms:modified xsi:type="dcterms:W3CDTF">2024-03-27T16:49:09Z</dcterms:modified>
</cp:coreProperties>
</file>