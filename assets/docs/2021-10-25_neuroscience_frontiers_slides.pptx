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92" r:id="rId3"/>
    <p:sldId id="298" r:id="rId4"/>
    <p:sldId id="299" r:id="rId5"/>
    <p:sldId id="300" r:id="rId6"/>
    <p:sldId id="308" r:id="rId7"/>
    <p:sldId id="301" r:id="rId8"/>
    <p:sldId id="307" r:id="rId9"/>
    <p:sldId id="306" r:id="rId10"/>
    <p:sldId id="303" r:id="rId11"/>
    <p:sldId id="302" r:id="rId12"/>
    <p:sldId id="304" r:id="rId13"/>
    <p:sldId id="305" r:id="rId14"/>
    <p:sldId id="309" r:id="rId15"/>
    <p:sldId id="269" r:id="rId16"/>
    <p:sldId id="273" r:id="rId17"/>
    <p:sldId id="278" r:id="rId18"/>
    <p:sldId id="275" r:id="rId19"/>
    <p:sldId id="293" r:id="rId20"/>
    <p:sldId id="276" r:id="rId21"/>
    <p:sldId id="277" r:id="rId22"/>
    <p:sldId id="267" r:id="rId23"/>
    <p:sldId id="291" r:id="rId24"/>
    <p:sldId id="260" r:id="rId25"/>
    <p:sldId id="274" r:id="rId26"/>
    <p:sldId id="279" r:id="rId27"/>
    <p:sldId id="265" r:id="rId28"/>
    <p:sldId id="262" r:id="rId29"/>
    <p:sldId id="266" r:id="rId30"/>
    <p:sldId id="287" r:id="rId31"/>
    <p:sldId id="284" r:id="rId32"/>
    <p:sldId id="271" r:id="rId33"/>
    <p:sldId id="272" r:id="rId34"/>
    <p:sldId id="311" r:id="rId35"/>
    <p:sldId id="313" r:id="rId36"/>
    <p:sldId id="310" r:id="rId37"/>
    <p:sldId id="314" r:id="rId38"/>
    <p:sldId id="316" r:id="rId39"/>
    <p:sldId id="31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0F0F"/>
    <a:srgbClr val="CD2BC5"/>
    <a:srgbClr val="808080"/>
    <a:srgbClr val="F47920"/>
    <a:srgbClr val="959595"/>
    <a:srgbClr val="218350"/>
    <a:srgbClr val="75FFAD"/>
    <a:srgbClr val="2CAE6A"/>
    <a:srgbClr val="DCFFEA"/>
    <a:srgbClr val="A4E8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15" autoAdjust="0"/>
    <p:restoredTop sz="91208" autoAdjust="0"/>
  </p:normalViewPr>
  <p:slideViewPr>
    <p:cSldViewPr snapToGrid="0">
      <p:cViewPr varScale="1">
        <p:scale>
          <a:sx n="122" d="100"/>
          <a:sy n="122" d="100"/>
        </p:scale>
        <p:origin x="120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99DF9D-0DB7-4862-9520-6948893F6474}"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BF5247-4A99-48B0-AE50-D17C1C5CC27A}" type="slidenum">
              <a:rPr lang="en-US" smtClean="0"/>
              <a:t>‹#›</a:t>
            </a:fld>
            <a:endParaRPr lang="en-US"/>
          </a:p>
        </p:txBody>
      </p:sp>
    </p:spTree>
    <p:extLst>
      <p:ext uri="{BB962C8B-B14F-4D97-AF65-F5344CB8AC3E}">
        <p14:creationId xmlns:p14="http://schemas.microsoft.com/office/powerpoint/2010/main" val="2402091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1</a:t>
            </a:fld>
            <a:endParaRPr lang="en-US"/>
          </a:p>
        </p:txBody>
      </p:sp>
    </p:spTree>
    <p:extLst>
      <p:ext uri="{BB962C8B-B14F-4D97-AF65-F5344CB8AC3E}">
        <p14:creationId xmlns:p14="http://schemas.microsoft.com/office/powerpoint/2010/main" val="2600945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2</a:t>
            </a:fld>
            <a:endParaRPr lang="en-US"/>
          </a:p>
        </p:txBody>
      </p:sp>
    </p:spTree>
    <p:extLst>
      <p:ext uri="{BB962C8B-B14F-4D97-AF65-F5344CB8AC3E}">
        <p14:creationId xmlns:p14="http://schemas.microsoft.com/office/powerpoint/2010/main" val="2812789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3</a:t>
            </a:fld>
            <a:endParaRPr lang="en-US"/>
          </a:p>
        </p:txBody>
      </p:sp>
    </p:spTree>
    <p:extLst>
      <p:ext uri="{BB962C8B-B14F-4D97-AF65-F5344CB8AC3E}">
        <p14:creationId xmlns:p14="http://schemas.microsoft.com/office/powerpoint/2010/main" val="1063732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4</a:t>
            </a:fld>
            <a:endParaRPr lang="en-US"/>
          </a:p>
        </p:txBody>
      </p:sp>
    </p:spTree>
    <p:extLst>
      <p:ext uri="{BB962C8B-B14F-4D97-AF65-F5344CB8AC3E}">
        <p14:creationId xmlns:p14="http://schemas.microsoft.com/office/powerpoint/2010/main" val="4072140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5</a:t>
            </a:fld>
            <a:endParaRPr lang="en-US"/>
          </a:p>
        </p:txBody>
      </p:sp>
    </p:spTree>
    <p:extLst>
      <p:ext uri="{BB962C8B-B14F-4D97-AF65-F5344CB8AC3E}">
        <p14:creationId xmlns:p14="http://schemas.microsoft.com/office/powerpoint/2010/main" val="2709720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7</a:t>
            </a:fld>
            <a:endParaRPr lang="en-US"/>
          </a:p>
        </p:txBody>
      </p:sp>
    </p:spTree>
    <p:extLst>
      <p:ext uri="{BB962C8B-B14F-4D97-AF65-F5344CB8AC3E}">
        <p14:creationId xmlns:p14="http://schemas.microsoft.com/office/powerpoint/2010/main" val="3393160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8</a:t>
            </a:fld>
            <a:endParaRPr lang="en-US"/>
          </a:p>
        </p:txBody>
      </p:sp>
    </p:spTree>
    <p:extLst>
      <p:ext uri="{BB962C8B-B14F-4D97-AF65-F5344CB8AC3E}">
        <p14:creationId xmlns:p14="http://schemas.microsoft.com/office/powerpoint/2010/main" val="3339796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9</a:t>
            </a:fld>
            <a:endParaRPr lang="en-US"/>
          </a:p>
        </p:txBody>
      </p:sp>
    </p:spTree>
    <p:extLst>
      <p:ext uri="{BB962C8B-B14F-4D97-AF65-F5344CB8AC3E}">
        <p14:creationId xmlns:p14="http://schemas.microsoft.com/office/powerpoint/2010/main" val="2727798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10</a:t>
            </a:fld>
            <a:endParaRPr lang="en-US"/>
          </a:p>
        </p:txBody>
      </p:sp>
    </p:spTree>
    <p:extLst>
      <p:ext uri="{BB962C8B-B14F-4D97-AF65-F5344CB8AC3E}">
        <p14:creationId xmlns:p14="http://schemas.microsoft.com/office/powerpoint/2010/main" val="30483870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11</a:t>
            </a:fld>
            <a:endParaRPr lang="en-US"/>
          </a:p>
        </p:txBody>
      </p:sp>
    </p:spTree>
    <p:extLst>
      <p:ext uri="{BB962C8B-B14F-4D97-AF65-F5344CB8AC3E}">
        <p14:creationId xmlns:p14="http://schemas.microsoft.com/office/powerpoint/2010/main" val="3590764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12</a:t>
            </a:fld>
            <a:endParaRPr lang="en-US"/>
          </a:p>
        </p:txBody>
      </p:sp>
    </p:spTree>
    <p:extLst>
      <p:ext uri="{BB962C8B-B14F-4D97-AF65-F5344CB8AC3E}">
        <p14:creationId xmlns:p14="http://schemas.microsoft.com/office/powerpoint/2010/main" val="16607099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13</a:t>
            </a:fld>
            <a:endParaRPr lang="en-US"/>
          </a:p>
        </p:txBody>
      </p:sp>
    </p:spTree>
    <p:extLst>
      <p:ext uri="{BB962C8B-B14F-4D97-AF65-F5344CB8AC3E}">
        <p14:creationId xmlns:p14="http://schemas.microsoft.com/office/powerpoint/2010/main" val="31679356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vocal communicators. We convey social information using voice and our listeners process that information using the sense of hearing. In fact, most animals communicate vocally to some degree. </a:t>
            </a:r>
            <a:r>
              <a:rPr lang="en-US" baseline="0" dirty="0"/>
              <a:t>Our lab is interested in the brain mechanisms underlying social communication, and the overarching question in my talk is – how does the brain pick out sounds in the environment that are relevant to YOU? Among all animals that communicate vocally, none resemble the richness and complexity of human communication more than songbirds.</a:t>
            </a:r>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16</a:t>
            </a:fld>
            <a:endParaRPr lang="en-US"/>
          </a:p>
        </p:txBody>
      </p:sp>
    </p:spTree>
    <p:extLst>
      <p:ext uri="{BB962C8B-B14F-4D97-AF65-F5344CB8AC3E}">
        <p14:creationId xmlns:p14="http://schemas.microsoft.com/office/powerpoint/2010/main" val="6352594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17</a:t>
            </a:fld>
            <a:endParaRPr lang="en-US"/>
          </a:p>
        </p:txBody>
      </p:sp>
    </p:spTree>
    <p:extLst>
      <p:ext uri="{BB962C8B-B14F-4D97-AF65-F5344CB8AC3E}">
        <p14:creationId xmlns:p14="http://schemas.microsoft.com/office/powerpoint/2010/main" val="12423637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like humans</a:t>
            </a:r>
            <a:r>
              <a:rPr lang="en-US" baseline="0" dirty="0"/>
              <a:t>, songbirds are outstanding vocal learners. Point out that humans go through the same phases of vocal learning – sensory, babbling &amp; refinement, and stable mature behavior</a:t>
            </a:r>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18</a:t>
            </a:fld>
            <a:endParaRPr lang="en-US"/>
          </a:p>
        </p:txBody>
      </p:sp>
    </p:spTree>
    <p:extLst>
      <p:ext uri="{BB962C8B-B14F-4D97-AF65-F5344CB8AC3E}">
        <p14:creationId xmlns:p14="http://schemas.microsoft.com/office/powerpoint/2010/main" val="11298858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What learning means is that each male bird sings a unique song – song is specific to each individual. But, differences in song are not random – all zebra finches sing something with the “essence” of zebra finch song. And that “essence” is also different across species.</a:t>
            </a:r>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20</a:t>
            </a:fld>
            <a:endParaRPr lang="en-US"/>
          </a:p>
        </p:txBody>
      </p:sp>
    </p:spTree>
    <p:extLst>
      <p:ext uri="{BB962C8B-B14F-4D97-AF65-F5344CB8AC3E}">
        <p14:creationId xmlns:p14="http://schemas.microsoft.com/office/powerpoint/2010/main" val="28861974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describe this sound using some simple building blocks. Ladder analogy. First</a:t>
            </a:r>
            <a:r>
              <a:rPr lang="en-US" baseline="0" dirty="0"/>
              <a:t> thing we notice is a ladder at the start of the first note. Then, there’s another ladder, but it’s tilted to the right. Then, the long note is also a ladder, but with more steps than the first one. So we could describe these sounds in terms of: how many steps are on the ladder, and how much does it tilt to the left or right. We call these building blocks “</a:t>
            </a:r>
            <a:r>
              <a:rPr lang="en-US" baseline="0"/>
              <a:t>ripples”. </a:t>
            </a:r>
            <a:r>
              <a:rPr lang="en-US"/>
              <a:t>We </a:t>
            </a:r>
            <a:r>
              <a:rPr lang="en-US" dirty="0"/>
              <a:t>can recreate any complex sound using ripples.</a:t>
            </a:r>
          </a:p>
        </p:txBody>
      </p:sp>
      <p:sp>
        <p:nvSpPr>
          <p:cNvPr id="4" name="Slide Number Placeholder 3"/>
          <p:cNvSpPr>
            <a:spLocks noGrp="1"/>
          </p:cNvSpPr>
          <p:nvPr>
            <p:ph type="sldNum" sz="quarter" idx="10"/>
          </p:nvPr>
        </p:nvSpPr>
        <p:spPr/>
        <p:txBody>
          <a:bodyPr/>
          <a:lstStyle/>
          <a:p>
            <a:fld id="{87BF5247-4A99-48B0-AE50-D17C1C5CC27A}" type="slidenum">
              <a:rPr lang="en-US" smtClean="0"/>
              <a:t>22</a:t>
            </a:fld>
            <a:endParaRPr lang="en-US"/>
          </a:p>
        </p:txBody>
      </p:sp>
    </p:spTree>
    <p:extLst>
      <p:ext uri="{BB962C8B-B14F-4D97-AF65-F5344CB8AC3E}">
        <p14:creationId xmlns:p14="http://schemas.microsoft.com/office/powerpoint/2010/main" val="1737993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23</a:t>
            </a:fld>
            <a:endParaRPr lang="en-US"/>
          </a:p>
        </p:txBody>
      </p:sp>
    </p:spTree>
    <p:extLst>
      <p:ext uri="{BB962C8B-B14F-4D97-AF65-F5344CB8AC3E}">
        <p14:creationId xmlns:p14="http://schemas.microsoft.com/office/powerpoint/2010/main" val="5611480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24</a:t>
            </a:fld>
            <a:endParaRPr lang="en-US"/>
          </a:p>
        </p:txBody>
      </p:sp>
    </p:spTree>
    <p:extLst>
      <p:ext uri="{BB962C8B-B14F-4D97-AF65-F5344CB8AC3E}">
        <p14:creationId xmlns:p14="http://schemas.microsoft.com/office/powerpoint/2010/main" val="7550215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same neurons, that are necessary for song learning, are also respond</a:t>
            </a:r>
            <a:r>
              <a:rPr lang="en-US" baseline="0" dirty="0"/>
              <a:t> selectively to conspecific songs. Recent work from our lab showed that </a:t>
            </a:r>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26</a:t>
            </a:fld>
            <a:endParaRPr lang="en-US"/>
          </a:p>
        </p:txBody>
      </p:sp>
    </p:spTree>
    <p:extLst>
      <p:ext uri="{BB962C8B-B14F-4D97-AF65-F5344CB8AC3E}">
        <p14:creationId xmlns:p14="http://schemas.microsoft.com/office/powerpoint/2010/main" val="42514187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So wanted to expand on these findings and present neurons with a diverse but natural stimulus set, containing songs that ranged from acoustically very similar to vastly different</a:t>
            </a:r>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27</a:t>
            </a:fld>
            <a:endParaRPr lang="en-US"/>
          </a:p>
        </p:txBody>
      </p:sp>
    </p:spTree>
    <p:extLst>
      <p:ext uri="{BB962C8B-B14F-4D97-AF65-F5344CB8AC3E}">
        <p14:creationId xmlns:p14="http://schemas.microsoft.com/office/powerpoint/2010/main" val="11931371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down view of the brain, NCM is the medial-most</a:t>
            </a:r>
            <a:r>
              <a:rPr lang="en-US" baseline="0" dirty="0"/>
              <a:t> 0.7mm on either side of midline. I lower an array of electrodes, with 32 conductive sites spread over 4 shanks, into the brain. Before this, I paint the electrode array with a fluorescent dye so I can resolve where the recording locations were in tissue sections. I then stain these sections with Nissl stain, that allows me to mark out the anatomical borders of brain regions. From this I can reconstruct the position of each recording site throughout the brain. At each site, I’m picking up a continuous voltage signal, and I’m looking for these sharp, fast deflections called spikes. When a neuron is driven by a stimulus, the rate at which spikes occur goes up from baseline. This spike rate is the measure of brain activity I’ll refer to throughout my results.</a:t>
            </a:r>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28</a:t>
            </a:fld>
            <a:endParaRPr lang="en-US"/>
          </a:p>
        </p:txBody>
      </p:sp>
    </p:spTree>
    <p:extLst>
      <p:ext uri="{BB962C8B-B14F-4D97-AF65-F5344CB8AC3E}">
        <p14:creationId xmlns:p14="http://schemas.microsoft.com/office/powerpoint/2010/main" val="11372913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Height of the bar is spike rate,</a:t>
            </a:r>
            <a:r>
              <a:rPr lang="en-US" baseline="0" dirty="0"/>
              <a:t> color is species. Yes, NCM neurons respond best to conspecific song, but also to songs of other species. We wondered if this had anything to do with acoustic structure?</a:t>
            </a:r>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29</a:t>
            </a:fld>
            <a:endParaRPr lang="en-US"/>
          </a:p>
        </p:txBody>
      </p:sp>
    </p:spTree>
    <p:extLst>
      <p:ext uri="{BB962C8B-B14F-4D97-AF65-F5344CB8AC3E}">
        <p14:creationId xmlns:p14="http://schemas.microsoft.com/office/powerpoint/2010/main" val="3264051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If we look carefully at the acoustics of these other species, we find that they contain song elements with similar structures, that are all very different from the songs that didn’t drive high responses. So to understand these differences and similarities in responses to songs, I wanted to analyze how neurons respond to differences in acoustic structure</a:t>
            </a:r>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30</a:t>
            </a:fld>
            <a:endParaRPr lang="en-US"/>
          </a:p>
        </p:txBody>
      </p:sp>
    </p:spTree>
    <p:extLst>
      <p:ext uri="{BB962C8B-B14F-4D97-AF65-F5344CB8AC3E}">
        <p14:creationId xmlns:p14="http://schemas.microsoft.com/office/powerpoint/2010/main" val="22596051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 ripple matrix, that allows us to describe song in terms of its density</a:t>
            </a:r>
            <a:r>
              <a:rPr lang="en-US" baseline="0" dirty="0"/>
              <a:t> of harmonic frequencies, and the changes in frequency over time.</a:t>
            </a:r>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31</a:t>
            </a:fld>
            <a:endParaRPr lang="en-US"/>
          </a:p>
        </p:txBody>
      </p:sp>
    </p:spTree>
    <p:extLst>
      <p:ext uri="{BB962C8B-B14F-4D97-AF65-F5344CB8AC3E}">
        <p14:creationId xmlns:p14="http://schemas.microsoft.com/office/powerpoint/2010/main" val="19350702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the point home that neurons are responding to the fine acoustic structure of song</a:t>
            </a:r>
            <a:r>
              <a:rPr lang="en-US" baseline="0" dirty="0"/>
              <a:t> – other species songs might share similar features, and neurons respond to those songs because of this</a:t>
            </a:r>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33</a:t>
            </a:fld>
            <a:endParaRPr lang="en-US"/>
          </a:p>
        </p:txBody>
      </p:sp>
    </p:spTree>
    <p:extLst>
      <p:ext uri="{BB962C8B-B14F-4D97-AF65-F5344CB8AC3E}">
        <p14:creationId xmlns:p14="http://schemas.microsoft.com/office/powerpoint/2010/main" val="32570833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34</a:t>
            </a:fld>
            <a:endParaRPr lang="en-US"/>
          </a:p>
        </p:txBody>
      </p:sp>
    </p:spTree>
    <p:extLst>
      <p:ext uri="{BB962C8B-B14F-4D97-AF65-F5344CB8AC3E}">
        <p14:creationId xmlns:p14="http://schemas.microsoft.com/office/powerpoint/2010/main" val="25390190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35</a:t>
            </a:fld>
            <a:endParaRPr lang="en-US"/>
          </a:p>
        </p:txBody>
      </p:sp>
    </p:spTree>
    <p:extLst>
      <p:ext uri="{BB962C8B-B14F-4D97-AF65-F5344CB8AC3E}">
        <p14:creationId xmlns:p14="http://schemas.microsoft.com/office/powerpoint/2010/main" val="37068023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Zfzf</a:t>
            </a:r>
            <a:r>
              <a:rPr lang="en-US" dirty="0"/>
              <a:t>: Tutor Albz209320; Pupil rr3132</a:t>
            </a:r>
          </a:p>
          <a:p>
            <a:r>
              <a:rPr lang="en-US" dirty="0" err="1"/>
              <a:t>Zfbf</a:t>
            </a:r>
            <a:r>
              <a:rPr lang="en-US" dirty="0"/>
              <a:t>:</a:t>
            </a:r>
            <a:r>
              <a:rPr lang="en-US" baseline="0" dirty="0"/>
              <a:t> Tutor; Pupil</a:t>
            </a:r>
          </a:p>
          <a:p>
            <a:r>
              <a:rPr lang="en-US" baseline="0" dirty="0" err="1"/>
              <a:t>Zflf</a:t>
            </a:r>
            <a:r>
              <a:rPr lang="en-US" baseline="0" dirty="0"/>
              <a:t>: Tutor; Pupil</a:t>
            </a:r>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37</a:t>
            </a:fld>
            <a:endParaRPr lang="en-US"/>
          </a:p>
        </p:txBody>
      </p:sp>
    </p:spTree>
    <p:extLst>
      <p:ext uri="{BB962C8B-B14F-4D97-AF65-F5344CB8AC3E}">
        <p14:creationId xmlns:p14="http://schemas.microsoft.com/office/powerpoint/2010/main" val="41670180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Zfzf</a:t>
            </a:r>
            <a:r>
              <a:rPr lang="en-US" dirty="0"/>
              <a:t>: Tutor Albz209320; Pupil rr3132</a:t>
            </a:r>
          </a:p>
          <a:p>
            <a:r>
              <a:rPr lang="en-US" dirty="0" err="1"/>
              <a:t>Zfbf</a:t>
            </a:r>
            <a:r>
              <a:rPr lang="en-US" dirty="0"/>
              <a:t>:</a:t>
            </a:r>
            <a:r>
              <a:rPr lang="en-US" baseline="0" dirty="0"/>
              <a:t> Tutor; Pupil</a:t>
            </a:r>
          </a:p>
          <a:p>
            <a:r>
              <a:rPr lang="en-US" baseline="0" dirty="0" err="1"/>
              <a:t>Zflf</a:t>
            </a:r>
            <a:r>
              <a:rPr lang="en-US" baseline="0" dirty="0"/>
              <a:t>: Tutor; Pupil</a:t>
            </a:r>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38</a:t>
            </a:fld>
            <a:endParaRPr lang="en-US"/>
          </a:p>
        </p:txBody>
      </p:sp>
    </p:spTree>
    <p:extLst>
      <p:ext uri="{BB962C8B-B14F-4D97-AF65-F5344CB8AC3E}">
        <p14:creationId xmlns:p14="http://schemas.microsoft.com/office/powerpoint/2010/main" val="20640984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Zfzf</a:t>
            </a:r>
            <a:r>
              <a:rPr lang="en-US" dirty="0"/>
              <a:t>: Tutor Albz209320; Pupil rr3132</a:t>
            </a:r>
          </a:p>
          <a:p>
            <a:r>
              <a:rPr lang="en-US" dirty="0" err="1"/>
              <a:t>Zfbf</a:t>
            </a:r>
            <a:r>
              <a:rPr lang="en-US" dirty="0"/>
              <a:t>:</a:t>
            </a:r>
            <a:r>
              <a:rPr lang="en-US" baseline="0" dirty="0"/>
              <a:t> Tutor; Pupil</a:t>
            </a:r>
          </a:p>
          <a:p>
            <a:r>
              <a:rPr lang="en-US" baseline="0" dirty="0" err="1"/>
              <a:t>Zflf</a:t>
            </a:r>
            <a:r>
              <a:rPr lang="en-US" baseline="0" dirty="0"/>
              <a:t>: Tutor; Pupil</a:t>
            </a:r>
            <a:endParaRPr lang="en-US" dirty="0"/>
          </a:p>
        </p:txBody>
      </p:sp>
      <p:sp>
        <p:nvSpPr>
          <p:cNvPr id="4" name="Slide Number Placeholder 3"/>
          <p:cNvSpPr>
            <a:spLocks noGrp="1"/>
          </p:cNvSpPr>
          <p:nvPr>
            <p:ph type="sldNum" sz="quarter" idx="10"/>
          </p:nvPr>
        </p:nvSpPr>
        <p:spPr/>
        <p:txBody>
          <a:bodyPr/>
          <a:lstStyle/>
          <a:p>
            <a:fld id="{87BF5247-4A99-48B0-AE50-D17C1C5CC27A}" type="slidenum">
              <a:rPr lang="en-US" smtClean="0"/>
              <a:t>39</a:t>
            </a:fld>
            <a:endParaRPr lang="en-US"/>
          </a:p>
        </p:txBody>
      </p:sp>
    </p:spTree>
    <p:extLst>
      <p:ext uri="{BB962C8B-B14F-4D97-AF65-F5344CB8AC3E}">
        <p14:creationId xmlns:p14="http://schemas.microsoft.com/office/powerpoint/2010/main" val="2469949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8BCA7B8-0BC9-471E-95D8-4C87CA3FCEF3}"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DEED02-F833-49BA-BBDD-B6293CCA8D09}" type="slidenum">
              <a:rPr lang="en-US" smtClean="0"/>
              <a:t>‹#›</a:t>
            </a:fld>
            <a:endParaRPr lang="en-US"/>
          </a:p>
        </p:txBody>
      </p:sp>
    </p:spTree>
    <p:extLst>
      <p:ext uri="{BB962C8B-B14F-4D97-AF65-F5344CB8AC3E}">
        <p14:creationId xmlns:p14="http://schemas.microsoft.com/office/powerpoint/2010/main" val="3857245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BCA7B8-0BC9-471E-95D8-4C87CA3FCEF3}"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DEED02-F833-49BA-BBDD-B6293CCA8D09}" type="slidenum">
              <a:rPr lang="en-US" smtClean="0"/>
              <a:t>‹#›</a:t>
            </a:fld>
            <a:endParaRPr lang="en-US"/>
          </a:p>
        </p:txBody>
      </p:sp>
    </p:spTree>
    <p:extLst>
      <p:ext uri="{BB962C8B-B14F-4D97-AF65-F5344CB8AC3E}">
        <p14:creationId xmlns:p14="http://schemas.microsoft.com/office/powerpoint/2010/main" val="1266932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8BCA7B8-0BC9-471E-95D8-4C87CA3FCEF3}"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DEED02-F833-49BA-BBDD-B6293CCA8D09}" type="slidenum">
              <a:rPr lang="en-US" smtClean="0"/>
              <a:t>‹#›</a:t>
            </a:fld>
            <a:endParaRPr lang="en-US"/>
          </a:p>
        </p:txBody>
      </p:sp>
    </p:spTree>
    <p:extLst>
      <p:ext uri="{BB962C8B-B14F-4D97-AF65-F5344CB8AC3E}">
        <p14:creationId xmlns:p14="http://schemas.microsoft.com/office/powerpoint/2010/main" val="397240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8BCA7B8-0BC9-471E-95D8-4C87CA3FCEF3}"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DEED02-F833-49BA-BBDD-B6293CCA8D09}" type="slidenum">
              <a:rPr lang="en-US" smtClean="0"/>
              <a:t>‹#›</a:t>
            </a:fld>
            <a:endParaRPr lang="en-US"/>
          </a:p>
        </p:txBody>
      </p:sp>
    </p:spTree>
    <p:extLst>
      <p:ext uri="{BB962C8B-B14F-4D97-AF65-F5344CB8AC3E}">
        <p14:creationId xmlns:p14="http://schemas.microsoft.com/office/powerpoint/2010/main" val="583460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8BCA7B8-0BC9-471E-95D8-4C87CA3FCEF3}" type="datetimeFigureOut">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DEED02-F833-49BA-BBDD-B6293CCA8D09}" type="slidenum">
              <a:rPr lang="en-US" smtClean="0"/>
              <a:t>‹#›</a:t>
            </a:fld>
            <a:endParaRPr lang="en-US"/>
          </a:p>
        </p:txBody>
      </p:sp>
    </p:spTree>
    <p:extLst>
      <p:ext uri="{BB962C8B-B14F-4D97-AF65-F5344CB8AC3E}">
        <p14:creationId xmlns:p14="http://schemas.microsoft.com/office/powerpoint/2010/main" val="1699955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8BCA7B8-0BC9-471E-95D8-4C87CA3FCEF3}" type="datetimeFigureOut">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DEED02-F833-49BA-BBDD-B6293CCA8D09}" type="slidenum">
              <a:rPr lang="en-US" smtClean="0"/>
              <a:t>‹#›</a:t>
            </a:fld>
            <a:endParaRPr lang="en-US"/>
          </a:p>
        </p:txBody>
      </p:sp>
    </p:spTree>
    <p:extLst>
      <p:ext uri="{BB962C8B-B14F-4D97-AF65-F5344CB8AC3E}">
        <p14:creationId xmlns:p14="http://schemas.microsoft.com/office/powerpoint/2010/main" val="917149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BCA7B8-0BC9-471E-95D8-4C87CA3FCEF3}" type="datetimeFigureOut">
              <a:rPr lang="en-US" smtClean="0"/>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DEED02-F833-49BA-BBDD-B6293CCA8D09}" type="slidenum">
              <a:rPr lang="en-US" smtClean="0"/>
              <a:t>‹#›</a:t>
            </a:fld>
            <a:endParaRPr lang="en-US"/>
          </a:p>
        </p:txBody>
      </p:sp>
    </p:spTree>
    <p:extLst>
      <p:ext uri="{BB962C8B-B14F-4D97-AF65-F5344CB8AC3E}">
        <p14:creationId xmlns:p14="http://schemas.microsoft.com/office/powerpoint/2010/main" val="941610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8BCA7B8-0BC9-471E-95D8-4C87CA3FCEF3}"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DEED02-F833-49BA-BBDD-B6293CCA8D09}" type="slidenum">
              <a:rPr lang="en-US" smtClean="0"/>
              <a:t>‹#›</a:t>
            </a:fld>
            <a:endParaRPr lang="en-US"/>
          </a:p>
        </p:txBody>
      </p:sp>
    </p:spTree>
    <p:extLst>
      <p:ext uri="{BB962C8B-B14F-4D97-AF65-F5344CB8AC3E}">
        <p14:creationId xmlns:p14="http://schemas.microsoft.com/office/powerpoint/2010/main" val="259631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8BCA7B8-0BC9-471E-95D8-4C87CA3FCEF3}"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DEED02-F833-49BA-BBDD-B6293CCA8D09}" type="slidenum">
              <a:rPr lang="en-US" smtClean="0"/>
              <a:t>‹#›</a:t>
            </a:fld>
            <a:endParaRPr lang="en-US"/>
          </a:p>
        </p:txBody>
      </p:sp>
    </p:spTree>
    <p:extLst>
      <p:ext uri="{BB962C8B-B14F-4D97-AF65-F5344CB8AC3E}">
        <p14:creationId xmlns:p14="http://schemas.microsoft.com/office/powerpoint/2010/main" val="3743592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BCA7B8-0BC9-471E-95D8-4C87CA3FCEF3}"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DEED02-F833-49BA-BBDD-B6293CCA8D09}" type="slidenum">
              <a:rPr lang="en-US" smtClean="0"/>
              <a:t>‹#›</a:t>
            </a:fld>
            <a:endParaRPr lang="en-US"/>
          </a:p>
        </p:txBody>
      </p:sp>
    </p:spTree>
    <p:extLst>
      <p:ext uri="{BB962C8B-B14F-4D97-AF65-F5344CB8AC3E}">
        <p14:creationId xmlns:p14="http://schemas.microsoft.com/office/powerpoint/2010/main" val="1216684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BCA7B8-0BC9-471E-95D8-4C87CA3FCEF3}"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DEED02-F833-49BA-BBDD-B6293CCA8D09}" type="slidenum">
              <a:rPr lang="en-US" smtClean="0"/>
              <a:t>‹#›</a:t>
            </a:fld>
            <a:endParaRPr lang="en-US"/>
          </a:p>
        </p:txBody>
      </p:sp>
    </p:spTree>
    <p:extLst>
      <p:ext uri="{BB962C8B-B14F-4D97-AF65-F5344CB8AC3E}">
        <p14:creationId xmlns:p14="http://schemas.microsoft.com/office/powerpoint/2010/main" val="1233264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BCA7B8-0BC9-471E-95D8-4C87CA3FCEF3}" type="datetimeFigureOut">
              <a:rPr lang="en-US" smtClean="0"/>
              <a:t>4/24/2026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DEED02-F833-49BA-BBDD-B6293CCA8D09}" type="slidenum">
              <a:rPr lang="en-US" smtClean="0"/>
              <a:t>‹#›</a:t>
            </a:fld>
            <a:endParaRPr lang="en-US"/>
          </a:p>
        </p:txBody>
      </p:sp>
    </p:spTree>
    <p:extLst>
      <p:ext uri="{BB962C8B-B14F-4D97-AF65-F5344CB8AC3E}">
        <p14:creationId xmlns:p14="http://schemas.microsoft.com/office/powerpoint/2010/main" val="57407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microsoft.com/office/2007/relationships/hdphoto" Target="../media/hdphoto1.wdp"/><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jpe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 Id="rId9"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1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jpe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8" Type="http://schemas.openxmlformats.org/officeDocument/2006/relationships/image" Target="../media/image56.jpeg"/><Relationship Id="rId3" Type="http://schemas.openxmlformats.org/officeDocument/2006/relationships/image" Target="../media/image51.png"/><Relationship Id="rId7" Type="http://schemas.openxmlformats.org/officeDocument/2006/relationships/image" Target="../media/image55.jpeg"/><Relationship Id="rId12" Type="http://schemas.openxmlformats.org/officeDocument/2006/relationships/image" Target="../media/image6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jpeg"/></Relationships>
</file>

<file path=ppt/slides/_rels/slide2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63.png"/></Relationships>
</file>

<file path=ppt/slides/_rels/slide22.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4.png"/><Relationship Id="rId7" Type="http://schemas.openxmlformats.org/officeDocument/2006/relationships/image" Target="../media/image6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66.png"/><Relationship Id="rId4" Type="http://schemas.openxmlformats.org/officeDocument/2006/relationships/image" Target="../media/image65.png"/></Relationships>
</file>

<file path=ppt/slides/_rels/slide23.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72.png"/><Relationship Id="rId11" Type="http://schemas.openxmlformats.org/officeDocument/2006/relationships/image" Target="../media/image75.png"/><Relationship Id="rId5" Type="http://schemas.openxmlformats.org/officeDocument/2006/relationships/image" Target="../media/image71.png"/><Relationship Id="rId10" Type="http://schemas.openxmlformats.org/officeDocument/2006/relationships/image" Target="../media/image74.png"/><Relationship Id="rId4" Type="http://schemas.openxmlformats.org/officeDocument/2006/relationships/image" Target="../media/image70.png"/><Relationship Id="rId9"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2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28.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jpeg"/><Relationship Id="rId4" Type="http://schemas.openxmlformats.org/officeDocument/2006/relationships/image" Target="../media/image89.png"/></Relationships>
</file>

<file path=ppt/slides/_rels/slide29.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93.png"/><Relationship Id="rId7" Type="http://schemas.openxmlformats.org/officeDocument/2006/relationships/image" Target="../media/image96.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95.png"/><Relationship Id="rId4" Type="http://schemas.openxmlformats.org/officeDocument/2006/relationships/image" Target="../media/image94.png"/></Relationships>
</file>

<file path=ppt/slides/_rels/slide30.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93.png"/><Relationship Id="rId7" Type="http://schemas.openxmlformats.org/officeDocument/2006/relationships/image" Target="../media/image96.png"/><Relationship Id="rId12" Type="http://schemas.openxmlformats.org/officeDocument/2006/relationships/image" Target="../media/image10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99.png"/><Relationship Id="rId5" Type="http://schemas.openxmlformats.org/officeDocument/2006/relationships/image" Target="../media/image95.png"/><Relationship Id="rId10" Type="http://schemas.openxmlformats.org/officeDocument/2006/relationships/image" Target="../media/image98.png"/><Relationship Id="rId4" Type="http://schemas.openxmlformats.org/officeDocument/2006/relationships/image" Target="../media/image94.png"/><Relationship Id="rId9" Type="http://schemas.openxmlformats.org/officeDocument/2006/relationships/image" Target="../media/image97.png"/></Relationships>
</file>

<file path=ppt/slides/_rels/slide31.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101.png"/><Relationship Id="rId7" Type="http://schemas.openxmlformats.org/officeDocument/2006/relationships/image" Target="../media/image105.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image" Target="../media/image103.png"/><Relationship Id="rId10" Type="http://schemas.openxmlformats.org/officeDocument/2006/relationships/image" Target="../media/image106.png"/><Relationship Id="rId4" Type="http://schemas.openxmlformats.org/officeDocument/2006/relationships/image" Target="../media/image102.png"/><Relationship Id="rId9" Type="http://schemas.openxmlformats.org/officeDocument/2006/relationships/image" Target="../media/image65.png"/></Relationships>
</file>

<file path=ppt/slides/_rels/slide32.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108.png"/><Relationship Id="rId7" Type="http://schemas.openxmlformats.org/officeDocument/2006/relationships/image" Target="../media/image110.png"/><Relationship Id="rId2" Type="http://schemas.openxmlformats.org/officeDocument/2006/relationships/image" Target="../media/image107.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109.png"/><Relationship Id="rId4" Type="http://schemas.openxmlformats.org/officeDocument/2006/relationships/image" Target="../media/image104.png"/></Relationships>
</file>

<file path=ppt/slides/_rels/slide33.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111.png"/><Relationship Id="rId7" Type="http://schemas.openxmlformats.org/officeDocument/2006/relationships/image" Target="../media/image104.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14.jpeg"/><Relationship Id="rId11" Type="http://schemas.openxmlformats.org/officeDocument/2006/relationships/image" Target="../media/image115.png"/><Relationship Id="rId5" Type="http://schemas.openxmlformats.org/officeDocument/2006/relationships/image" Target="../media/image113.jpeg"/><Relationship Id="rId10" Type="http://schemas.openxmlformats.org/officeDocument/2006/relationships/image" Target="../media/image60.png"/><Relationship Id="rId4" Type="http://schemas.openxmlformats.org/officeDocument/2006/relationships/image" Target="../media/image112.png"/><Relationship Id="rId9" Type="http://schemas.openxmlformats.org/officeDocument/2006/relationships/image" Target="../media/image96.png"/></Relationships>
</file>

<file path=ppt/slides/_rels/slide34.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116.png"/><Relationship Id="rId7" Type="http://schemas.openxmlformats.org/officeDocument/2006/relationships/image" Target="../media/image96.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118.png"/><Relationship Id="rId4" Type="http://schemas.openxmlformats.org/officeDocument/2006/relationships/image" Target="../media/image117.png"/></Relationships>
</file>

<file path=ppt/slides/_rels/slide35.xml.rels><?xml version="1.0" encoding="UTF-8" standalone="yes"?>
<Relationships xmlns="http://schemas.openxmlformats.org/package/2006/relationships"><Relationship Id="rId3" Type="http://schemas.openxmlformats.org/officeDocument/2006/relationships/image" Target="../media/image119.png"/><Relationship Id="rId7" Type="http://schemas.openxmlformats.org/officeDocument/2006/relationships/image" Target="../media/image122.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21.png"/><Relationship Id="rId5" Type="http://schemas.openxmlformats.org/officeDocument/2006/relationships/image" Target="../media/image63.png"/><Relationship Id="rId4" Type="http://schemas.openxmlformats.org/officeDocument/2006/relationships/image" Target="../media/image120.png"/></Relationships>
</file>

<file path=ppt/slides/_rels/slide36.xml.rels><?xml version="1.0" encoding="UTF-8" standalone="yes"?>
<Relationships xmlns="http://schemas.openxmlformats.org/package/2006/relationships"><Relationship Id="rId3" Type="http://schemas.openxmlformats.org/officeDocument/2006/relationships/image" Target="../media/image124.jpeg"/><Relationship Id="rId7" Type="http://schemas.openxmlformats.org/officeDocument/2006/relationships/image" Target="../media/image128.png"/><Relationship Id="rId2" Type="http://schemas.openxmlformats.org/officeDocument/2006/relationships/image" Target="../media/image123.jpeg"/><Relationship Id="rId1" Type="http://schemas.openxmlformats.org/officeDocument/2006/relationships/slideLayout" Target="../slideLayouts/slideLayout2.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jpeg"/></Relationships>
</file>

<file path=ppt/slides/_rels/slide37.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image" Target="../media/image129.png"/><Relationship Id="rId7" Type="http://schemas.openxmlformats.org/officeDocument/2006/relationships/image" Target="../media/image13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32.jpeg"/><Relationship Id="rId5" Type="http://schemas.openxmlformats.org/officeDocument/2006/relationships/image" Target="../media/image131.png"/><Relationship Id="rId4" Type="http://schemas.openxmlformats.org/officeDocument/2006/relationships/image" Target="../media/image130.png"/><Relationship Id="rId9" Type="http://schemas.microsoft.com/office/2007/relationships/hdphoto" Target="../media/hdphoto2.wdp"/></Relationships>
</file>

<file path=ppt/slides/_rels/slide38.xml.rels><?xml version="1.0" encoding="UTF-8" standalone="yes"?>
<Relationships xmlns="http://schemas.openxmlformats.org/package/2006/relationships"><Relationship Id="rId3" Type="http://schemas.openxmlformats.org/officeDocument/2006/relationships/image" Target="../media/image135.jpeg"/><Relationship Id="rId7" Type="http://schemas.openxmlformats.org/officeDocument/2006/relationships/image" Target="../media/image139.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38.png"/><Relationship Id="rId5" Type="http://schemas.openxmlformats.org/officeDocument/2006/relationships/image" Target="../media/image137.jpeg"/><Relationship Id="rId4" Type="http://schemas.openxmlformats.org/officeDocument/2006/relationships/image" Target="../media/image136.jpeg"/></Relationships>
</file>

<file path=ppt/slides/_rels/slide39.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309644" y="3509963"/>
            <a:ext cx="5061206" cy="3162801"/>
          </a:xfrm>
          <a:prstGeom prst="rect">
            <a:avLst/>
          </a:prstGeom>
        </p:spPr>
      </p:pic>
      <p:sp>
        <p:nvSpPr>
          <p:cNvPr id="2" name="Title 1"/>
          <p:cNvSpPr>
            <a:spLocks noGrp="1"/>
          </p:cNvSpPr>
          <p:nvPr>
            <p:ph type="ctrTitle"/>
          </p:nvPr>
        </p:nvSpPr>
        <p:spPr/>
        <p:txBody>
          <a:bodyPr>
            <a:normAutofit/>
          </a:bodyPr>
          <a:lstStyle/>
          <a:p>
            <a:pPr algn="l"/>
            <a:r>
              <a:rPr lang="en-US" sz="4800" dirty="0">
                <a:latin typeface="Myriad Pro" panose="020B0503030403020204" pitchFamily="34" charset="0"/>
              </a:rPr>
              <a:t>Different brains for different songs</a:t>
            </a:r>
          </a:p>
        </p:txBody>
      </p:sp>
      <p:sp>
        <p:nvSpPr>
          <p:cNvPr id="3" name="Subtitle 2"/>
          <p:cNvSpPr>
            <a:spLocks noGrp="1"/>
          </p:cNvSpPr>
          <p:nvPr>
            <p:ph type="subTitle" idx="1"/>
          </p:nvPr>
        </p:nvSpPr>
        <p:spPr/>
        <p:txBody>
          <a:bodyPr>
            <a:normAutofit fontScale="77500" lnSpcReduction="20000"/>
          </a:bodyPr>
          <a:lstStyle/>
          <a:p>
            <a:pPr algn="l"/>
            <a:endParaRPr lang="en-US" dirty="0">
              <a:latin typeface="Myriad Pro" panose="020B0503030403020204" pitchFamily="34" charset="0"/>
            </a:endParaRPr>
          </a:p>
          <a:p>
            <a:pPr algn="l"/>
            <a:r>
              <a:rPr lang="en-US" b="1" dirty="0">
                <a:latin typeface="Myriad Pro" panose="020B0503030403020204" pitchFamily="34" charset="0"/>
              </a:rPr>
              <a:t>Jacob Edwards</a:t>
            </a:r>
          </a:p>
          <a:p>
            <a:pPr algn="l"/>
            <a:r>
              <a:rPr lang="en-US" dirty="0">
                <a:latin typeface="Myriad Pro" panose="020B0503030403020204" pitchFamily="34" charset="0"/>
              </a:rPr>
              <a:t>PhD Student</a:t>
            </a:r>
          </a:p>
          <a:p>
            <a:pPr algn="l"/>
            <a:r>
              <a:rPr lang="en-US" dirty="0">
                <a:latin typeface="Myriad Pro" panose="020B0503030403020204" pitchFamily="34" charset="0"/>
              </a:rPr>
              <a:t>Columbia Psychology Dept.</a:t>
            </a:r>
          </a:p>
          <a:p>
            <a:pPr algn="l"/>
            <a:r>
              <a:rPr lang="en-US" dirty="0">
                <a:latin typeface="Myriad Pro" panose="020B0503030403020204" pitchFamily="34" charset="0"/>
              </a:rPr>
              <a:t>Woolley Lab</a:t>
            </a:r>
          </a:p>
        </p:txBody>
      </p:sp>
    </p:spTree>
    <p:extLst>
      <p:ext uri="{BB962C8B-B14F-4D97-AF65-F5344CB8AC3E}">
        <p14:creationId xmlns:p14="http://schemas.microsoft.com/office/powerpoint/2010/main" val="1545888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524000" y="0"/>
            <a:ext cx="9144000" cy="6858000"/>
          </a:xfrm>
          <a:prstGeom prst="rect">
            <a:avLst/>
          </a:prstGeom>
        </p:spPr>
      </p:pic>
      <p:pic>
        <p:nvPicPr>
          <p:cNvPr id="5" name="Picture 4"/>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81662" y="604300"/>
            <a:ext cx="4556097" cy="1216549"/>
          </a:xfrm>
          <a:prstGeom prst="rect">
            <a:avLst/>
          </a:prstGeom>
        </p:spPr>
      </p:pic>
      <p:sp>
        <p:nvSpPr>
          <p:cNvPr id="2" name="TextBox 1"/>
          <p:cNvSpPr txBox="1"/>
          <p:nvPr/>
        </p:nvSpPr>
        <p:spPr>
          <a:xfrm>
            <a:off x="1949570" y="3364303"/>
            <a:ext cx="3579962" cy="2400657"/>
          </a:xfrm>
          <a:prstGeom prst="rect">
            <a:avLst/>
          </a:prstGeom>
          <a:noFill/>
        </p:spPr>
        <p:txBody>
          <a:bodyPr wrap="square" rtlCol="0">
            <a:spAutoFit/>
          </a:bodyPr>
          <a:lstStyle/>
          <a:p>
            <a:r>
              <a:rPr lang="en-US" sz="2000" b="1" u="sng" dirty="0">
                <a:solidFill>
                  <a:schemeClr val="bg1"/>
                </a:solidFill>
                <a:latin typeface="Myriad Pro" panose="020B0503030403020204" pitchFamily="34" charset="0"/>
              </a:rPr>
              <a:t>Undergrad major:</a:t>
            </a:r>
          </a:p>
          <a:p>
            <a:r>
              <a:rPr lang="en-US" b="1" dirty="0">
                <a:solidFill>
                  <a:schemeClr val="bg1"/>
                </a:solidFill>
                <a:latin typeface="Myriad Pro" panose="020B0503030403020204" pitchFamily="34" charset="0"/>
              </a:rPr>
              <a:t>Ecology &amp; Evolutionary Biology</a:t>
            </a:r>
          </a:p>
          <a:p>
            <a:endParaRPr lang="en-US" b="1" dirty="0">
              <a:solidFill>
                <a:schemeClr val="bg1"/>
              </a:solidFill>
              <a:latin typeface="Myriad Pro" panose="020B0503030403020204" pitchFamily="34" charset="0"/>
            </a:endParaRPr>
          </a:p>
          <a:p>
            <a:r>
              <a:rPr lang="en-US" sz="2000" b="1" u="sng" dirty="0">
                <a:solidFill>
                  <a:schemeClr val="bg1"/>
                </a:solidFill>
                <a:latin typeface="Myriad Pro" panose="020B0503030403020204" pitchFamily="34" charset="0"/>
              </a:rPr>
              <a:t>Career goal:</a:t>
            </a:r>
          </a:p>
          <a:p>
            <a:r>
              <a:rPr lang="en-US" b="1" dirty="0">
                <a:solidFill>
                  <a:schemeClr val="bg1"/>
                </a:solidFill>
                <a:latin typeface="Myriad Pro" panose="020B0503030403020204" pitchFamily="34" charset="0"/>
              </a:rPr>
              <a:t>Botanist</a:t>
            </a:r>
          </a:p>
          <a:p>
            <a:endParaRPr lang="en-US" b="1" dirty="0">
              <a:solidFill>
                <a:schemeClr val="bg1"/>
              </a:solidFill>
              <a:latin typeface="Myriad Pro" panose="020B0503030403020204" pitchFamily="34" charset="0"/>
            </a:endParaRPr>
          </a:p>
          <a:p>
            <a:r>
              <a:rPr lang="en-US" sz="2000" b="1" u="sng" dirty="0">
                <a:solidFill>
                  <a:schemeClr val="bg1"/>
                </a:solidFill>
                <a:latin typeface="Myriad Pro" panose="020B0503030403020204" pitchFamily="34" charset="0"/>
              </a:rPr>
              <a:t>Spoiler alert:</a:t>
            </a:r>
          </a:p>
          <a:p>
            <a:r>
              <a:rPr lang="en-US" b="1" dirty="0">
                <a:solidFill>
                  <a:schemeClr val="bg1"/>
                </a:solidFill>
                <a:latin typeface="Myriad Pro" panose="020B0503030403020204" pitchFamily="34" charset="0"/>
              </a:rPr>
              <a:t>Didn’t happen</a:t>
            </a:r>
          </a:p>
        </p:txBody>
      </p:sp>
    </p:spTree>
    <p:extLst>
      <p:ext uri="{BB962C8B-B14F-4D97-AF65-F5344CB8AC3E}">
        <p14:creationId xmlns:p14="http://schemas.microsoft.com/office/powerpoint/2010/main" val="3348846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645858" y="0"/>
            <a:ext cx="8659176" cy="6858000"/>
          </a:xfrm>
          <a:prstGeom prst="rect">
            <a:avLst/>
          </a:prstGeom>
        </p:spPr>
      </p:pic>
      <p:sp>
        <p:nvSpPr>
          <p:cNvPr id="2" name="TextBox 1"/>
          <p:cNvSpPr txBox="1"/>
          <p:nvPr/>
        </p:nvSpPr>
        <p:spPr>
          <a:xfrm>
            <a:off x="0" y="448573"/>
            <a:ext cx="3088257" cy="4154984"/>
          </a:xfrm>
          <a:prstGeom prst="rect">
            <a:avLst/>
          </a:prstGeom>
          <a:noFill/>
        </p:spPr>
        <p:txBody>
          <a:bodyPr wrap="square" rtlCol="0">
            <a:spAutoFit/>
          </a:bodyPr>
          <a:lstStyle/>
          <a:p>
            <a:r>
              <a:rPr lang="en-US" sz="2400" b="1" u="sng" dirty="0">
                <a:latin typeface="Myriad Pro" panose="020B0503030403020204" pitchFamily="34" charset="0"/>
              </a:rPr>
              <a:t>Best skills I learned:</a:t>
            </a:r>
          </a:p>
          <a:p>
            <a:endParaRPr lang="en-US" sz="2400" dirty="0">
              <a:latin typeface="Myriad Pro" panose="020B0503030403020204" pitchFamily="34" charset="0"/>
            </a:endParaRPr>
          </a:p>
          <a:p>
            <a:pPr marL="285750" indent="-285750">
              <a:buFont typeface="Arial" panose="020B0604020202020204" pitchFamily="34" charset="0"/>
              <a:buChar char="•"/>
            </a:pPr>
            <a:r>
              <a:rPr lang="en-US" sz="2400" b="1" dirty="0">
                <a:latin typeface="Myriad Pro" panose="020B0503030403020204" pitchFamily="34" charset="0"/>
              </a:rPr>
              <a:t>Taking detailed notes</a:t>
            </a:r>
          </a:p>
          <a:p>
            <a:pPr marL="285750" indent="-285750">
              <a:buFont typeface="Arial" panose="020B0604020202020204" pitchFamily="34" charset="0"/>
              <a:buChar char="•"/>
            </a:pPr>
            <a:endParaRPr lang="en-US" sz="2400" b="1" dirty="0">
              <a:latin typeface="Myriad Pro" panose="020B0503030403020204" pitchFamily="34" charset="0"/>
            </a:endParaRPr>
          </a:p>
          <a:p>
            <a:pPr marL="285750" indent="-285750">
              <a:buFont typeface="Arial" panose="020B0604020202020204" pitchFamily="34" charset="0"/>
              <a:buChar char="•"/>
            </a:pPr>
            <a:r>
              <a:rPr lang="en-US" sz="2400" b="1" dirty="0">
                <a:latin typeface="Myriad Pro" panose="020B0503030403020204" pitchFamily="34" charset="0"/>
              </a:rPr>
              <a:t>Thinking methodically</a:t>
            </a:r>
          </a:p>
          <a:p>
            <a:endParaRPr lang="en-US" sz="2400" b="1" dirty="0">
              <a:latin typeface="Myriad Pro" panose="020B0503030403020204" pitchFamily="34" charset="0"/>
            </a:endParaRPr>
          </a:p>
          <a:p>
            <a:pPr marL="285750" indent="-285750">
              <a:buFont typeface="Arial" panose="020B0604020202020204" pitchFamily="34" charset="0"/>
              <a:buChar char="•"/>
            </a:pPr>
            <a:r>
              <a:rPr lang="en-US" sz="2400" b="1" dirty="0">
                <a:latin typeface="Myriad Pro" panose="020B0503030403020204" pitchFamily="34" charset="0"/>
              </a:rPr>
              <a:t>Staining tissue/using a microscope</a:t>
            </a:r>
          </a:p>
        </p:txBody>
      </p:sp>
    </p:spTree>
    <p:extLst>
      <p:ext uri="{BB962C8B-B14F-4D97-AF65-F5344CB8AC3E}">
        <p14:creationId xmlns:p14="http://schemas.microsoft.com/office/powerpoint/2010/main" val="1639271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7970" y="0"/>
            <a:ext cx="9920883" cy="6858000"/>
          </a:xfrm>
          <a:prstGeom prst="rect">
            <a:avLst/>
          </a:prstGeom>
        </p:spPr>
      </p:pic>
      <p:pic>
        <p:nvPicPr>
          <p:cNvPr id="2" name="Picture 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554480" y="2283667"/>
            <a:ext cx="8530996" cy="3895531"/>
          </a:xfrm>
          <a:prstGeom prst="rect">
            <a:avLst/>
          </a:prstGeom>
        </p:spPr>
      </p:pic>
    </p:spTree>
    <p:extLst>
      <p:ext uri="{BB962C8B-B14F-4D97-AF65-F5344CB8AC3E}">
        <p14:creationId xmlns:p14="http://schemas.microsoft.com/office/powerpoint/2010/main" val="4263563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84220" y="0"/>
            <a:ext cx="5257354" cy="6858000"/>
          </a:xfrm>
          <a:prstGeom prst="rect">
            <a:avLst/>
          </a:prstGeom>
        </p:spPr>
      </p:pic>
    </p:spTree>
    <p:extLst>
      <p:ext uri="{BB962C8B-B14F-4D97-AF65-F5344CB8AC3E}">
        <p14:creationId xmlns:p14="http://schemas.microsoft.com/office/powerpoint/2010/main" val="3073578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94845" y="3125321"/>
            <a:ext cx="3760967" cy="3516504"/>
          </a:xfrm>
          <a:prstGeom prst="rect">
            <a:avLst/>
          </a:prstGeom>
        </p:spPr>
      </p:pic>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71033" y="241580"/>
            <a:ext cx="5687373" cy="3050260"/>
          </a:xfrm>
          <a:prstGeom prst="rect">
            <a:avLst/>
          </a:prstGeom>
        </p:spPr>
      </p:pic>
      <p:pic>
        <p:nvPicPr>
          <p:cNvPr id="7" name="Picture 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001063" y="815905"/>
            <a:ext cx="4898817" cy="5265718"/>
          </a:xfrm>
          <a:prstGeom prst="rect">
            <a:avLst/>
          </a:prstGeom>
        </p:spPr>
      </p:pic>
      <p:cxnSp>
        <p:nvCxnSpPr>
          <p:cNvPr id="9" name="Straight Arrow Connector 8"/>
          <p:cNvCxnSpPr/>
          <p:nvPr/>
        </p:nvCxnSpPr>
        <p:spPr>
          <a:xfrm>
            <a:off x="6072996" y="2812211"/>
            <a:ext cx="793630" cy="414068"/>
          </a:xfrm>
          <a:prstGeom prst="straightConnector1">
            <a:avLst/>
          </a:prstGeom>
          <a:ln w="76200">
            <a:solidFill>
              <a:srgbClr val="0F0F0F"/>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4994694" y="4364966"/>
            <a:ext cx="1871932" cy="518607"/>
          </a:xfrm>
          <a:prstGeom prst="straightConnector1">
            <a:avLst/>
          </a:prstGeom>
          <a:ln w="76200">
            <a:solidFill>
              <a:srgbClr val="0F0F0F"/>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72528" y="3605841"/>
            <a:ext cx="2007665" cy="646331"/>
          </a:xfrm>
          <a:prstGeom prst="rect">
            <a:avLst/>
          </a:prstGeom>
          <a:noFill/>
        </p:spPr>
        <p:txBody>
          <a:bodyPr wrap="none" rtlCol="0">
            <a:spAutoFit/>
          </a:bodyPr>
          <a:lstStyle/>
          <a:p>
            <a:r>
              <a:rPr lang="en-US" b="1" dirty="0">
                <a:latin typeface="Myriad Pro" panose="020B0503030403020204" pitchFamily="34" charset="0"/>
              </a:rPr>
              <a:t>Flower size across</a:t>
            </a:r>
          </a:p>
          <a:p>
            <a:r>
              <a:rPr lang="en-US" b="1" dirty="0">
                <a:latin typeface="Myriad Pro" panose="020B0503030403020204" pitchFamily="34" charset="0"/>
              </a:rPr>
              <a:t>4,828 species</a:t>
            </a:r>
          </a:p>
        </p:txBody>
      </p:sp>
      <p:sp>
        <p:nvSpPr>
          <p:cNvPr id="14" name="TextBox 13"/>
          <p:cNvSpPr txBox="1"/>
          <p:nvPr/>
        </p:nvSpPr>
        <p:spPr>
          <a:xfrm>
            <a:off x="10092269" y="2291750"/>
            <a:ext cx="1807611" cy="646331"/>
          </a:xfrm>
          <a:prstGeom prst="rect">
            <a:avLst/>
          </a:prstGeom>
          <a:noFill/>
        </p:spPr>
        <p:txBody>
          <a:bodyPr wrap="none" rtlCol="0">
            <a:spAutoFit/>
          </a:bodyPr>
          <a:lstStyle/>
          <a:p>
            <a:r>
              <a:rPr lang="en-US" b="1" dirty="0">
                <a:solidFill>
                  <a:schemeClr val="bg1"/>
                </a:solidFill>
                <a:latin typeface="Myriad Pro" panose="020B0503030403020204" pitchFamily="34" charset="0"/>
              </a:rPr>
              <a:t>Searched</a:t>
            </a:r>
          </a:p>
          <a:p>
            <a:r>
              <a:rPr lang="en-US" b="1" dirty="0">
                <a:solidFill>
                  <a:schemeClr val="bg1"/>
                </a:solidFill>
                <a:latin typeface="Myriad Pro" panose="020B0503030403020204" pitchFamily="34" charset="0"/>
              </a:rPr>
              <a:t>116,895 species</a:t>
            </a:r>
          </a:p>
        </p:txBody>
      </p:sp>
    </p:spTree>
    <p:extLst>
      <p:ext uri="{BB962C8B-B14F-4D97-AF65-F5344CB8AC3E}">
        <p14:creationId xmlns:p14="http://schemas.microsoft.com/office/powerpoint/2010/main" val="2807003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56662" y="741144"/>
            <a:ext cx="6723765" cy="5736658"/>
          </a:xfrm>
          <a:prstGeom prst="rect">
            <a:avLst/>
          </a:prstGeom>
        </p:spPr>
      </p:pic>
      <p:pic>
        <p:nvPicPr>
          <p:cNvPr id="7" name="Picture 6"/>
          <p:cNvPicPr>
            <a:picLocks noChangeAspect="1"/>
          </p:cNvPicPr>
          <p:nvPr/>
        </p:nvPicPr>
        <p:blipFill>
          <a:blip r:embed="rId4" cstate="email">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838200" y="2433851"/>
            <a:ext cx="3713584" cy="4213228"/>
          </a:xfrm>
          <a:prstGeom prst="rect">
            <a:avLst/>
          </a:prstGeom>
        </p:spPr>
      </p:pic>
      <p:sp>
        <p:nvSpPr>
          <p:cNvPr id="8" name="TextBox 7"/>
          <p:cNvSpPr txBox="1"/>
          <p:nvPr/>
        </p:nvSpPr>
        <p:spPr>
          <a:xfrm>
            <a:off x="10139009" y="6477802"/>
            <a:ext cx="1722743" cy="338554"/>
          </a:xfrm>
          <a:prstGeom prst="rect">
            <a:avLst/>
          </a:prstGeom>
          <a:noFill/>
        </p:spPr>
        <p:txBody>
          <a:bodyPr wrap="square" rtlCol="0">
            <a:spAutoFit/>
          </a:bodyPr>
          <a:lstStyle/>
          <a:p>
            <a:pPr algn="r"/>
            <a:r>
              <a:rPr lang="en-US" sz="1600" dirty="0" err="1">
                <a:latin typeface="Myriad Pro" panose="020B0503030403020204" pitchFamily="34" charset="0"/>
              </a:rPr>
              <a:t>Celio</a:t>
            </a:r>
            <a:r>
              <a:rPr lang="en-US" sz="1600" dirty="0">
                <a:latin typeface="Myriad Pro" panose="020B0503030403020204" pitchFamily="34" charset="0"/>
              </a:rPr>
              <a:t> </a:t>
            </a:r>
            <a:r>
              <a:rPr lang="en-US" sz="1600" i="1" dirty="0">
                <a:latin typeface="Myriad Pro" panose="020B0503030403020204" pitchFamily="34" charset="0"/>
              </a:rPr>
              <a:t>et al.</a:t>
            </a:r>
            <a:r>
              <a:rPr lang="en-US" sz="1600" dirty="0">
                <a:latin typeface="Myriad Pro" panose="020B0503030403020204" pitchFamily="34" charset="0"/>
              </a:rPr>
              <a:t> 1994</a:t>
            </a:r>
          </a:p>
        </p:txBody>
      </p:sp>
      <p:sp>
        <p:nvSpPr>
          <p:cNvPr id="9" name="Title 1"/>
          <p:cNvSpPr>
            <a:spLocks noGrp="1"/>
          </p:cNvSpPr>
          <p:nvPr>
            <p:ph type="title"/>
          </p:nvPr>
        </p:nvSpPr>
        <p:spPr>
          <a:xfrm>
            <a:off x="838200" y="365125"/>
            <a:ext cx="10515600" cy="1325563"/>
          </a:xfrm>
        </p:spPr>
        <p:txBody>
          <a:bodyPr>
            <a:normAutofit/>
          </a:bodyPr>
          <a:lstStyle/>
          <a:p>
            <a:r>
              <a:rPr lang="en-US" sz="3200" dirty="0">
                <a:latin typeface="Myriad Pro" panose="020B0503030403020204" pitchFamily="34" charset="0"/>
              </a:rPr>
              <a:t>Perineuronal nets</a:t>
            </a:r>
            <a:endParaRPr lang="en-US" sz="3200" dirty="0"/>
          </a:p>
        </p:txBody>
      </p:sp>
      <p:pic>
        <p:nvPicPr>
          <p:cNvPr id="3" name="Picture 2"/>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5315" y="1215692"/>
            <a:ext cx="5113177" cy="1143674"/>
          </a:xfrm>
          <a:prstGeom prst="rect">
            <a:avLst/>
          </a:prstGeom>
        </p:spPr>
      </p:pic>
    </p:spTree>
    <p:extLst>
      <p:ext uri="{BB962C8B-B14F-4D97-AF65-F5344CB8AC3E}">
        <p14:creationId xmlns:p14="http://schemas.microsoft.com/office/powerpoint/2010/main" val="3149150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838200" y="365125"/>
            <a:ext cx="10515600" cy="1325563"/>
          </a:xfrm>
        </p:spPr>
        <p:txBody>
          <a:bodyPr>
            <a:normAutofit/>
          </a:bodyPr>
          <a:lstStyle/>
          <a:p>
            <a:r>
              <a:rPr lang="en-US" sz="3200" dirty="0">
                <a:latin typeface="Myriad Pro" panose="020B0503030403020204" pitchFamily="34" charset="0"/>
              </a:rPr>
              <a:t>Learning gets harder as we get older</a:t>
            </a:r>
            <a:endParaRPr lang="en-US" sz="3200" dirty="0"/>
          </a:p>
        </p:txBody>
      </p:sp>
      <p:cxnSp>
        <p:nvCxnSpPr>
          <p:cNvPr id="10" name="Straight Connector 9"/>
          <p:cNvCxnSpPr/>
          <p:nvPr/>
        </p:nvCxnSpPr>
        <p:spPr>
          <a:xfrm>
            <a:off x="4104861" y="1431234"/>
            <a:ext cx="0" cy="4144618"/>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flipH="1" flipV="1">
            <a:off x="4086076" y="5564256"/>
            <a:ext cx="6678002" cy="11596"/>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6563705" y="5730961"/>
            <a:ext cx="1722743" cy="400110"/>
          </a:xfrm>
          <a:prstGeom prst="rect">
            <a:avLst/>
          </a:prstGeom>
          <a:solidFill>
            <a:schemeClr val="bg1"/>
          </a:solidFill>
        </p:spPr>
        <p:txBody>
          <a:bodyPr wrap="square" rtlCol="0">
            <a:spAutoFit/>
          </a:bodyPr>
          <a:lstStyle/>
          <a:p>
            <a:pPr algn="ctr"/>
            <a:r>
              <a:rPr lang="en-US" sz="2000" dirty="0">
                <a:latin typeface="Myriad Pro" panose="020B0503030403020204" pitchFamily="34" charset="0"/>
              </a:rPr>
              <a:t>Age</a:t>
            </a:r>
          </a:p>
        </p:txBody>
      </p:sp>
      <p:sp>
        <p:nvSpPr>
          <p:cNvPr id="13" name="TextBox 12"/>
          <p:cNvSpPr txBox="1"/>
          <p:nvPr/>
        </p:nvSpPr>
        <p:spPr>
          <a:xfrm rot="16200000">
            <a:off x="2590742" y="3303488"/>
            <a:ext cx="2209234" cy="400110"/>
          </a:xfrm>
          <a:prstGeom prst="rect">
            <a:avLst/>
          </a:prstGeom>
          <a:solidFill>
            <a:schemeClr val="bg1"/>
          </a:solidFill>
        </p:spPr>
        <p:txBody>
          <a:bodyPr wrap="square" rtlCol="0">
            <a:spAutoFit/>
          </a:bodyPr>
          <a:lstStyle/>
          <a:p>
            <a:pPr algn="ctr"/>
            <a:r>
              <a:rPr lang="en-US" sz="2000" dirty="0">
                <a:latin typeface="Myriad Pro" panose="020B0503030403020204" pitchFamily="34" charset="0"/>
              </a:rPr>
              <a:t>Learning capacity</a:t>
            </a:r>
          </a:p>
        </p:txBody>
      </p:sp>
      <p:sp>
        <p:nvSpPr>
          <p:cNvPr id="14" name="Freeform 13"/>
          <p:cNvSpPr/>
          <p:nvPr/>
        </p:nvSpPr>
        <p:spPr>
          <a:xfrm>
            <a:off x="4383157" y="2565636"/>
            <a:ext cx="6311347" cy="2712042"/>
          </a:xfrm>
          <a:custGeom>
            <a:avLst/>
            <a:gdLst>
              <a:gd name="connsiteX0" fmla="*/ 0 w 6311347"/>
              <a:gd name="connsiteY0" fmla="*/ 2712042 h 2712042"/>
              <a:gd name="connsiteX1" fmla="*/ 506895 w 6311347"/>
              <a:gd name="connsiteY1" fmla="*/ 2244903 h 2712042"/>
              <a:gd name="connsiteX2" fmla="*/ 1292086 w 6311347"/>
              <a:gd name="connsiteY2" fmla="*/ 8599 h 2712042"/>
              <a:gd name="connsiteX3" fmla="*/ 2425147 w 6311347"/>
              <a:gd name="connsiteY3" fmla="*/ 1499468 h 2712042"/>
              <a:gd name="connsiteX4" fmla="*/ 3916017 w 6311347"/>
              <a:gd name="connsiteY4" fmla="*/ 2155451 h 2712042"/>
              <a:gd name="connsiteX5" fmla="*/ 6311347 w 6311347"/>
              <a:gd name="connsiteY5" fmla="*/ 2314477 h 271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11347" h="2712042">
                <a:moveTo>
                  <a:pt x="0" y="2712042"/>
                </a:moveTo>
                <a:cubicBezTo>
                  <a:pt x="145773" y="2703759"/>
                  <a:pt x="291547" y="2695477"/>
                  <a:pt x="506895" y="2244903"/>
                </a:cubicBezTo>
                <a:cubicBezTo>
                  <a:pt x="722243" y="1794329"/>
                  <a:pt x="972377" y="132838"/>
                  <a:pt x="1292086" y="8599"/>
                </a:cubicBezTo>
                <a:cubicBezTo>
                  <a:pt x="1611795" y="-115640"/>
                  <a:pt x="1987825" y="1141659"/>
                  <a:pt x="2425147" y="1499468"/>
                </a:cubicBezTo>
                <a:cubicBezTo>
                  <a:pt x="2862469" y="1857277"/>
                  <a:pt x="3268317" y="2019616"/>
                  <a:pt x="3916017" y="2155451"/>
                </a:cubicBezTo>
                <a:cubicBezTo>
                  <a:pt x="4563717" y="2291286"/>
                  <a:pt x="6311347" y="2314477"/>
                  <a:pt x="6311347" y="2314477"/>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rot="2266284">
            <a:off x="4917689" y="2054387"/>
            <a:ext cx="641074" cy="457200"/>
          </a:xfrm>
          <a:prstGeom prst="rightArrow">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p:cNvSpPr/>
          <p:nvPr/>
        </p:nvSpPr>
        <p:spPr>
          <a:xfrm rot="8279606">
            <a:off x="7371523" y="3813970"/>
            <a:ext cx="641074" cy="457200"/>
          </a:xfrm>
          <a:prstGeom prst="rightArrow">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a:stCxn id="14" idx="2"/>
          </p:cNvCxnSpPr>
          <p:nvPr/>
        </p:nvCxnSpPr>
        <p:spPr>
          <a:xfrm flipV="1">
            <a:off x="5675243" y="2565636"/>
            <a:ext cx="5088835" cy="8599"/>
          </a:xfrm>
          <a:prstGeom prst="line">
            <a:avLst/>
          </a:prstGeom>
          <a:ln w="38100">
            <a:solidFill>
              <a:srgbClr val="00C2FF"/>
            </a:solidFill>
            <a:prstDash val="dash"/>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27573" y="2282987"/>
            <a:ext cx="2865649" cy="2441109"/>
          </a:xfrm>
          <a:prstGeom prst="rect">
            <a:avLst/>
          </a:prstGeom>
        </p:spPr>
      </p:pic>
      <p:sp>
        <p:nvSpPr>
          <p:cNvPr id="22" name="Right Arrow 21"/>
          <p:cNvSpPr/>
          <p:nvPr/>
        </p:nvSpPr>
        <p:spPr>
          <a:xfrm rot="8279606">
            <a:off x="6530510" y="2906861"/>
            <a:ext cx="641074" cy="457200"/>
          </a:xfrm>
          <a:prstGeom prst="rightArrow">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4416840" y="1566179"/>
            <a:ext cx="1050737" cy="369332"/>
          </a:xfrm>
          <a:prstGeom prst="rect">
            <a:avLst/>
          </a:prstGeom>
          <a:noFill/>
        </p:spPr>
        <p:txBody>
          <a:bodyPr wrap="none" rtlCol="0">
            <a:spAutoFit/>
          </a:bodyPr>
          <a:lstStyle/>
          <a:p>
            <a:r>
              <a:rPr lang="en-US" dirty="0">
                <a:latin typeface="Myriad Pro" panose="020B0503030403020204" pitchFamily="34" charset="0"/>
              </a:rPr>
              <a:t>plasticity</a:t>
            </a:r>
          </a:p>
        </p:txBody>
      </p:sp>
      <p:sp>
        <p:nvSpPr>
          <p:cNvPr id="23" name="TextBox 22"/>
          <p:cNvSpPr txBox="1"/>
          <p:nvPr/>
        </p:nvSpPr>
        <p:spPr>
          <a:xfrm>
            <a:off x="7957401" y="3503087"/>
            <a:ext cx="946541" cy="369332"/>
          </a:xfrm>
          <a:prstGeom prst="rect">
            <a:avLst/>
          </a:prstGeom>
          <a:noFill/>
        </p:spPr>
        <p:txBody>
          <a:bodyPr wrap="none" rtlCol="0">
            <a:spAutoFit/>
          </a:bodyPr>
          <a:lstStyle/>
          <a:p>
            <a:r>
              <a:rPr lang="en-US" dirty="0">
                <a:latin typeface="Myriad Pro" panose="020B0503030403020204" pitchFamily="34" charset="0"/>
              </a:rPr>
              <a:t>stability</a:t>
            </a:r>
          </a:p>
        </p:txBody>
      </p:sp>
      <p:sp>
        <p:nvSpPr>
          <p:cNvPr id="24" name="TextBox 23"/>
          <p:cNvSpPr txBox="1"/>
          <p:nvPr/>
        </p:nvSpPr>
        <p:spPr>
          <a:xfrm>
            <a:off x="7082450" y="2651157"/>
            <a:ext cx="837986" cy="369332"/>
          </a:xfrm>
          <a:prstGeom prst="rect">
            <a:avLst/>
          </a:prstGeom>
          <a:noFill/>
        </p:spPr>
        <p:txBody>
          <a:bodyPr wrap="none" rtlCol="0">
            <a:spAutoFit/>
          </a:bodyPr>
          <a:lstStyle/>
          <a:p>
            <a:r>
              <a:rPr lang="en-US" b="1" dirty="0">
                <a:solidFill>
                  <a:srgbClr val="C00000"/>
                </a:solidFill>
                <a:latin typeface="Myriad Pro" panose="020B0503030403020204" pitchFamily="34" charset="0"/>
              </a:rPr>
              <a:t>PNNs?</a:t>
            </a:r>
          </a:p>
        </p:txBody>
      </p:sp>
    </p:spTree>
    <p:extLst>
      <p:ext uri="{BB962C8B-B14F-4D97-AF65-F5344CB8AC3E}">
        <p14:creationId xmlns:p14="http://schemas.microsoft.com/office/powerpoint/2010/main" val="756474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31641" y="1385596"/>
            <a:ext cx="9728718" cy="5472404"/>
          </a:xfrm>
          <a:prstGeom prst="rect">
            <a:avLst/>
          </a:prstGeom>
        </p:spPr>
      </p:pic>
      <p:sp>
        <p:nvSpPr>
          <p:cNvPr id="22" name="Title 1"/>
          <p:cNvSpPr>
            <a:spLocks noGrp="1"/>
          </p:cNvSpPr>
          <p:nvPr>
            <p:ph type="title"/>
          </p:nvPr>
        </p:nvSpPr>
        <p:spPr>
          <a:xfrm>
            <a:off x="838200" y="365125"/>
            <a:ext cx="10515600" cy="1325563"/>
          </a:xfrm>
        </p:spPr>
        <p:txBody>
          <a:bodyPr>
            <a:normAutofit/>
          </a:bodyPr>
          <a:lstStyle/>
          <a:p>
            <a:r>
              <a:rPr lang="en-US" sz="3200" dirty="0">
                <a:latin typeface="Myriad Pro" panose="020B0503030403020204" pitchFamily="34" charset="0"/>
              </a:rPr>
              <a:t>PNNs develop in the brain from the “bottom up”</a:t>
            </a:r>
            <a:endParaRPr lang="en-US" sz="3200" dirty="0"/>
          </a:p>
        </p:txBody>
      </p:sp>
      <p:cxnSp>
        <p:nvCxnSpPr>
          <p:cNvPr id="4" name="Straight Arrow Connector 3"/>
          <p:cNvCxnSpPr/>
          <p:nvPr/>
        </p:nvCxnSpPr>
        <p:spPr>
          <a:xfrm flipH="1" flipV="1">
            <a:off x="7520473" y="4121798"/>
            <a:ext cx="1791478" cy="1373933"/>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flipV="1">
            <a:off x="6391469" y="3915357"/>
            <a:ext cx="1007706" cy="13762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flipV="1">
            <a:off x="5215812" y="2901820"/>
            <a:ext cx="1203648" cy="92101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4822371" y="4121798"/>
            <a:ext cx="1569098" cy="75811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0346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212718" y="3721394"/>
            <a:ext cx="3630925" cy="2434856"/>
          </a:xfrm>
          <a:prstGeom prst="rect">
            <a:avLst/>
          </a:prstGeom>
        </p:spPr>
      </p:pic>
      <p:pic>
        <p:nvPicPr>
          <p:cNvPr id="9" name="Picture 8"/>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212719" y="1004152"/>
            <a:ext cx="3630925" cy="2517337"/>
          </a:xfrm>
          <a:prstGeom prst="rect">
            <a:avLst/>
          </a:prstGeom>
        </p:spPr>
      </p:pic>
      <p:pic>
        <p:nvPicPr>
          <p:cNvPr id="10" name="Picture 9"/>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29586" y="2167611"/>
            <a:ext cx="3742659" cy="2495106"/>
          </a:xfrm>
          <a:prstGeom prst="rect">
            <a:avLst/>
          </a:prstGeom>
        </p:spPr>
      </p:pic>
      <p:sp>
        <p:nvSpPr>
          <p:cNvPr id="11" name="Right Arrow 10"/>
          <p:cNvSpPr/>
          <p:nvPr/>
        </p:nvSpPr>
        <p:spPr>
          <a:xfrm rot="20343827">
            <a:off x="5671944" y="2448184"/>
            <a:ext cx="641074" cy="457200"/>
          </a:xfrm>
          <a:prstGeom prst="rightArrow">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rot="1256173" flipV="1">
            <a:off x="5671942" y="4210018"/>
            <a:ext cx="641074" cy="457200"/>
          </a:xfrm>
          <a:prstGeom prst="rightArrow">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5422392" y="6477802"/>
            <a:ext cx="6439361" cy="338554"/>
          </a:xfrm>
          <a:prstGeom prst="rect">
            <a:avLst/>
          </a:prstGeom>
          <a:noFill/>
        </p:spPr>
        <p:txBody>
          <a:bodyPr wrap="square" rtlCol="0">
            <a:spAutoFit/>
          </a:bodyPr>
          <a:lstStyle/>
          <a:p>
            <a:pPr algn="r"/>
            <a:r>
              <a:rPr lang="en-US" sz="1600" dirty="0" err="1">
                <a:latin typeface="Myriad Pro" panose="020B0503030403020204" pitchFamily="34" charset="0"/>
              </a:rPr>
              <a:t>Takesian</a:t>
            </a:r>
            <a:r>
              <a:rPr lang="en-US" sz="1600" dirty="0">
                <a:latin typeface="Myriad Pro" panose="020B0503030403020204" pitchFamily="34" charset="0"/>
              </a:rPr>
              <a:t> &amp; </a:t>
            </a:r>
            <a:r>
              <a:rPr lang="en-US" sz="1600" dirty="0" err="1">
                <a:latin typeface="Myriad Pro" panose="020B0503030403020204" pitchFamily="34" charset="0"/>
              </a:rPr>
              <a:t>Hensch</a:t>
            </a:r>
            <a:r>
              <a:rPr lang="en-US" sz="1600" dirty="0">
                <a:latin typeface="Myriad Pro" panose="020B0503030403020204" pitchFamily="34" charset="0"/>
              </a:rPr>
              <a:t> (2013)</a:t>
            </a:r>
          </a:p>
        </p:txBody>
      </p:sp>
      <p:sp>
        <p:nvSpPr>
          <p:cNvPr id="14" name="Title 1"/>
          <p:cNvSpPr>
            <a:spLocks noGrp="1"/>
          </p:cNvSpPr>
          <p:nvPr>
            <p:ph type="title"/>
          </p:nvPr>
        </p:nvSpPr>
        <p:spPr>
          <a:xfrm>
            <a:off x="838200" y="365125"/>
            <a:ext cx="10515600" cy="1325563"/>
          </a:xfrm>
        </p:spPr>
        <p:txBody>
          <a:bodyPr>
            <a:normAutofit/>
          </a:bodyPr>
          <a:lstStyle/>
          <a:p>
            <a:r>
              <a:rPr lang="en-US" sz="3200" dirty="0">
                <a:latin typeface="Myriad Pro" panose="020B0503030403020204" pitchFamily="34" charset="0"/>
              </a:rPr>
              <a:t>Stability supports plasticity</a:t>
            </a:r>
            <a:endParaRPr lang="en-US" sz="3200" dirty="0"/>
          </a:p>
        </p:txBody>
      </p:sp>
    </p:spTree>
    <p:extLst>
      <p:ext uri="{BB962C8B-B14F-4D97-AF65-F5344CB8AC3E}">
        <p14:creationId xmlns:p14="http://schemas.microsoft.com/office/powerpoint/2010/main" val="475231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9108420" cy="6858000"/>
          </a:xfrm>
          <a:prstGeom prst="rect">
            <a:avLst/>
          </a:prstGeom>
        </p:spPr>
      </p:pic>
      <p:pic>
        <p:nvPicPr>
          <p:cNvPr id="2" name="Picture 1"/>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6447988" y="0"/>
            <a:ext cx="5584857" cy="3918857"/>
          </a:xfrm>
          <a:prstGeom prst="rect">
            <a:avLst/>
          </a:prstGeom>
        </p:spPr>
      </p:pic>
      <p:pic>
        <p:nvPicPr>
          <p:cNvPr id="6" name="Picture 5"/>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6447988" y="3909527"/>
            <a:ext cx="5584857" cy="2948473"/>
          </a:xfrm>
          <a:prstGeom prst="rect">
            <a:avLst/>
          </a:prstGeom>
        </p:spPr>
      </p:pic>
    </p:spTree>
    <p:extLst>
      <p:ext uri="{BB962C8B-B14F-4D97-AF65-F5344CB8AC3E}">
        <p14:creationId xmlns:p14="http://schemas.microsoft.com/office/powerpoint/2010/main" val="3334366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581254" y="0"/>
            <a:ext cx="5215605" cy="6858000"/>
          </a:xfrm>
          <a:prstGeom prst="rect">
            <a:avLst/>
          </a:prstGeom>
        </p:spPr>
      </p:pic>
      <p:pic>
        <p:nvPicPr>
          <p:cNvPr id="4" name="Picture 3"/>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6354" y="130498"/>
            <a:ext cx="6350105" cy="1802057"/>
          </a:xfrm>
          <a:prstGeom prst="rect">
            <a:avLst/>
          </a:prstGeom>
        </p:spPr>
      </p:pic>
      <p:pic>
        <p:nvPicPr>
          <p:cNvPr id="6" name="Picture 5"/>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51870" y="2030661"/>
            <a:ext cx="4647065" cy="2262472"/>
          </a:xfrm>
          <a:prstGeom prst="rect">
            <a:avLst/>
          </a:prstGeom>
        </p:spPr>
      </p:pic>
      <p:pic>
        <p:nvPicPr>
          <p:cNvPr id="7" name="Picture 6"/>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6354" y="4548146"/>
            <a:ext cx="6386282" cy="2146852"/>
          </a:xfrm>
          <a:prstGeom prst="rect">
            <a:avLst/>
          </a:prstGeom>
        </p:spPr>
      </p:pic>
    </p:spTree>
    <p:extLst>
      <p:ext uri="{BB962C8B-B14F-4D97-AF65-F5344CB8AC3E}">
        <p14:creationId xmlns:p14="http://schemas.microsoft.com/office/powerpoint/2010/main" val="487729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155019" y="2023545"/>
            <a:ext cx="4741854" cy="3343983"/>
            <a:chOff x="385648" y="1484657"/>
            <a:chExt cx="5713476" cy="4029175"/>
          </a:xfrm>
        </p:grpSpPr>
        <p:pic>
          <p:nvPicPr>
            <p:cNvPr id="11" name="Picture 10"/>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85648" y="1484657"/>
              <a:ext cx="5711444" cy="2761206"/>
            </a:xfrm>
            <a:prstGeom prst="rect">
              <a:avLst/>
            </a:prstGeom>
          </p:spPr>
        </p:pic>
        <p:pic>
          <p:nvPicPr>
            <p:cNvPr id="12" name="Picture 11"/>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85648" y="4245863"/>
              <a:ext cx="5713476" cy="1267969"/>
            </a:xfrm>
            <a:prstGeom prst="rect">
              <a:avLst/>
            </a:prstGeom>
          </p:spPr>
        </p:pic>
      </p:grpSp>
      <p:pic>
        <p:nvPicPr>
          <p:cNvPr id="13" name="Picture 12"/>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889734" y="2023545"/>
            <a:ext cx="4128268" cy="3343983"/>
          </a:xfrm>
          <a:prstGeom prst="rect">
            <a:avLst/>
          </a:prstGeom>
        </p:spPr>
      </p:pic>
      <p:sp>
        <p:nvSpPr>
          <p:cNvPr id="14" name="TextBox 13"/>
          <p:cNvSpPr txBox="1"/>
          <p:nvPr/>
        </p:nvSpPr>
        <p:spPr>
          <a:xfrm>
            <a:off x="1408542" y="5501308"/>
            <a:ext cx="2233121" cy="338554"/>
          </a:xfrm>
          <a:prstGeom prst="rect">
            <a:avLst/>
          </a:prstGeom>
          <a:noFill/>
        </p:spPr>
        <p:txBody>
          <a:bodyPr wrap="square" rtlCol="0">
            <a:spAutoFit/>
          </a:bodyPr>
          <a:lstStyle/>
          <a:p>
            <a:pPr algn="ctr"/>
            <a:r>
              <a:rPr lang="en-US" sz="1600" dirty="0">
                <a:latin typeface="Myriad Pro" panose="020B0503030403020204" pitchFamily="34" charset="0"/>
              </a:rPr>
              <a:t>McRae </a:t>
            </a:r>
            <a:r>
              <a:rPr lang="en-US" sz="1600" i="1" dirty="0">
                <a:latin typeface="Myriad Pro" panose="020B0503030403020204" pitchFamily="34" charset="0"/>
              </a:rPr>
              <a:t>et al.</a:t>
            </a:r>
            <a:r>
              <a:rPr lang="en-US" sz="1600" dirty="0">
                <a:latin typeface="Myriad Pro" panose="020B0503030403020204" pitchFamily="34" charset="0"/>
              </a:rPr>
              <a:t> 2007</a:t>
            </a:r>
          </a:p>
        </p:txBody>
      </p:sp>
      <p:sp>
        <p:nvSpPr>
          <p:cNvPr id="15" name="TextBox 14"/>
          <p:cNvSpPr txBox="1"/>
          <p:nvPr/>
        </p:nvSpPr>
        <p:spPr>
          <a:xfrm>
            <a:off x="8837307" y="5501308"/>
            <a:ext cx="2233121" cy="338554"/>
          </a:xfrm>
          <a:prstGeom prst="rect">
            <a:avLst/>
          </a:prstGeom>
          <a:noFill/>
        </p:spPr>
        <p:txBody>
          <a:bodyPr wrap="square" rtlCol="0">
            <a:spAutoFit/>
          </a:bodyPr>
          <a:lstStyle/>
          <a:p>
            <a:pPr algn="ctr"/>
            <a:r>
              <a:rPr lang="en-US" sz="1600" dirty="0" err="1">
                <a:latin typeface="Myriad Pro" panose="020B0503030403020204" pitchFamily="34" charset="0"/>
              </a:rPr>
              <a:t>Balmer</a:t>
            </a:r>
            <a:r>
              <a:rPr lang="en-US" sz="1600" dirty="0">
                <a:latin typeface="Myriad Pro" panose="020B0503030403020204" pitchFamily="34" charset="0"/>
              </a:rPr>
              <a:t> </a:t>
            </a:r>
            <a:r>
              <a:rPr lang="en-US" sz="1600" i="1" dirty="0">
                <a:latin typeface="Myriad Pro" panose="020B0503030403020204" pitchFamily="34" charset="0"/>
              </a:rPr>
              <a:t>et al.</a:t>
            </a:r>
            <a:r>
              <a:rPr lang="en-US" sz="1600" dirty="0">
                <a:latin typeface="Myriad Pro" panose="020B0503030403020204" pitchFamily="34" charset="0"/>
              </a:rPr>
              <a:t> 2009</a:t>
            </a:r>
          </a:p>
        </p:txBody>
      </p:sp>
      <p:pic>
        <p:nvPicPr>
          <p:cNvPr id="16" name="Picture 15"/>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5111495" y="2023545"/>
            <a:ext cx="2563617" cy="3343983"/>
          </a:xfrm>
          <a:prstGeom prst="rect">
            <a:avLst/>
          </a:prstGeom>
        </p:spPr>
      </p:pic>
      <p:sp>
        <p:nvSpPr>
          <p:cNvPr id="17" name="TextBox 16"/>
          <p:cNvSpPr txBox="1"/>
          <p:nvPr/>
        </p:nvSpPr>
        <p:spPr>
          <a:xfrm>
            <a:off x="5276742" y="5501308"/>
            <a:ext cx="2233121" cy="338554"/>
          </a:xfrm>
          <a:prstGeom prst="rect">
            <a:avLst/>
          </a:prstGeom>
          <a:noFill/>
        </p:spPr>
        <p:txBody>
          <a:bodyPr wrap="square" rtlCol="0">
            <a:spAutoFit/>
          </a:bodyPr>
          <a:lstStyle/>
          <a:p>
            <a:pPr algn="ctr"/>
            <a:r>
              <a:rPr lang="en-US" sz="1600" dirty="0" err="1">
                <a:latin typeface="Myriad Pro" panose="020B0503030403020204" pitchFamily="34" charset="0"/>
              </a:rPr>
              <a:t>Pizzorusso</a:t>
            </a:r>
            <a:r>
              <a:rPr lang="en-US" sz="1600" dirty="0">
                <a:latin typeface="Myriad Pro" panose="020B0503030403020204" pitchFamily="34" charset="0"/>
              </a:rPr>
              <a:t> </a:t>
            </a:r>
            <a:r>
              <a:rPr lang="en-US" sz="1600" i="1" dirty="0">
                <a:latin typeface="Myriad Pro" panose="020B0503030403020204" pitchFamily="34" charset="0"/>
              </a:rPr>
              <a:t>et al.</a:t>
            </a:r>
            <a:r>
              <a:rPr lang="en-US" sz="1600" dirty="0">
                <a:latin typeface="Myriad Pro" panose="020B0503030403020204" pitchFamily="34" charset="0"/>
              </a:rPr>
              <a:t> 2002</a:t>
            </a:r>
          </a:p>
        </p:txBody>
      </p:sp>
      <p:sp>
        <p:nvSpPr>
          <p:cNvPr id="18" name="TextBox 17"/>
          <p:cNvSpPr txBox="1"/>
          <p:nvPr/>
        </p:nvSpPr>
        <p:spPr>
          <a:xfrm>
            <a:off x="2031986" y="1356490"/>
            <a:ext cx="1008931" cy="461665"/>
          </a:xfrm>
          <a:prstGeom prst="rect">
            <a:avLst/>
          </a:prstGeom>
          <a:noFill/>
        </p:spPr>
        <p:txBody>
          <a:bodyPr wrap="none" rtlCol="0">
            <a:spAutoFit/>
          </a:bodyPr>
          <a:lstStyle/>
          <a:p>
            <a:r>
              <a:rPr lang="en-US" sz="2400" dirty="0">
                <a:latin typeface="Myriad Pro" panose="020B0503030403020204" pitchFamily="34" charset="0"/>
              </a:rPr>
              <a:t>Tactile</a:t>
            </a:r>
          </a:p>
        </p:txBody>
      </p:sp>
      <p:sp>
        <p:nvSpPr>
          <p:cNvPr id="19" name="TextBox 18"/>
          <p:cNvSpPr txBox="1"/>
          <p:nvPr/>
        </p:nvSpPr>
        <p:spPr>
          <a:xfrm>
            <a:off x="5928270" y="1356490"/>
            <a:ext cx="930063" cy="461665"/>
          </a:xfrm>
          <a:prstGeom prst="rect">
            <a:avLst/>
          </a:prstGeom>
          <a:noFill/>
        </p:spPr>
        <p:txBody>
          <a:bodyPr wrap="none" rtlCol="0">
            <a:spAutoFit/>
          </a:bodyPr>
          <a:lstStyle/>
          <a:p>
            <a:r>
              <a:rPr lang="en-US" sz="2400" dirty="0">
                <a:latin typeface="Myriad Pro" panose="020B0503030403020204" pitchFamily="34" charset="0"/>
              </a:rPr>
              <a:t>Visual</a:t>
            </a:r>
          </a:p>
        </p:txBody>
      </p:sp>
      <p:sp>
        <p:nvSpPr>
          <p:cNvPr id="20" name="TextBox 19"/>
          <p:cNvSpPr txBox="1"/>
          <p:nvPr/>
        </p:nvSpPr>
        <p:spPr>
          <a:xfrm>
            <a:off x="9320488" y="1356489"/>
            <a:ext cx="1307281" cy="461665"/>
          </a:xfrm>
          <a:prstGeom prst="rect">
            <a:avLst/>
          </a:prstGeom>
          <a:noFill/>
        </p:spPr>
        <p:txBody>
          <a:bodyPr wrap="none" rtlCol="0">
            <a:spAutoFit/>
          </a:bodyPr>
          <a:lstStyle/>
          <a:p>
            <a:r>
              <a:rPr lang="en-US" sz="2400" dirty="0">
                <a:latin typeface="Myriad Pro" panose="020B0503030403020204" pitchFamily="34" charset="0"/>
              </a:rPr>
              <a:t>Auditory</a:t>
            </a:r>
          </a:p>
        </p:txBody>
      </p:sp>
      <p:sp>
        <p:nvSpPr>
          <p:cNvPr id="22" name="Title 1"/>
          <p:cNvSpPr>
            <a:spLocks noGrp="1"/>
          </p:cNvSpPr>
          <p:nvPr>
            <p:ph type="title"/>
          </p:nvPr>
        </p:nvSpPr>
        <p:spPr>
          <a:xfrm>
            <a:off x="838200" y="365125"/>
            <a:ext cx="10515600" cy="1325563"/>
          </a:xfrm>
        </p:spPr>
        <p:txBody>
          <a:bodyPr>
            <a:normAutofit/>
          </a:bodyPr>
          <a:lstStyle/>
          <a:p>
            <a:r>
              <a:rPr lang="en-US" sz="3200" dirty="0">
                <a:latin typeface="Myriad Pro" panose="020B0503030403020204" pitchFamily="34" charset="0"/>
              </a:rPr>
              <a:t>PNNs in the auditory system remained mysterious</a:t>
            </a:r>
            <a:endParaRPr lang="en-US" sz="3200" dirty="0"/>
          </a:p>
        </p:txBody>
      </p:sp>
    </p:spTree>
    <p:extLst>
      <p:ext uri="{BB962C8B-B14F-4D97-AF65-F5344CB8AC3E}">
        <p14:creationId xmlns:p14="http://schemas.microsoft.com/office/powerpoint/2010/main" val="2962032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r="56687" b="32464"/>
          <a:stretch/>
        </p:blipFill>
        <p:spPr>
          <a:xfrm>
            <a:off x="5566172" y="172147"/>
            <a:ext cx="8296861" cy="6963256"/>
          </a:xfrm>
          <a:prstGeom prst="rect">
            <a:avLst/>
          </a:prstGeom>
        </p:spPr>
      </p:pic>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l="43313" b="33229"/>
          <a:stretch/>
        </p:blipFill>
        <p:spPr>
          <a:xfrm>
            <a:off x="-6059055" y="172146"/>
            <a:ext cx="10858609" cy="6884436"/>
          </a:xfrm>
          <a:prstGeom prst="rect">
            <a:avLst/>
          </a:prstGeom>
        </p:spPr>
      </p:pic>
      <p:pic>
        <p:nvPicPr>
          <p:cNvPr id="7" name="Picture 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402618" y="4349570"/>
            <a:ext cx="812801" cy="790465"/>
          </a:xfrm>
          <a:prstGeom prst="rect">
            <a:avLst/>
          </a:prstGeom>
        </p:spPr>
      </p:pic>
      <p:pic>
        <p:nvPicPr>
          <p:cNvPr id="8" name="Picture 7"/>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335820" y="3896492"/>
            <a:ext cx="854362" cy="797099"/>
          </a:xfrm>
          <a:prstGeom prst="rect">
            <a:avLst/>
          </a:prstGeom>
        </p:spPr>
      </p:pic>
      <p:pic>
        <p:nvPicPr>
          <p:cNvPr id="9" name="Picture 8" descr="zf headshot.jpg"/>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483442" y="3770638"/>
            <a:ext cx="840509" cy="845924"/>
          </a:xfrm>
          <a:prstGeom prst="rect">
            <a:avLst/>
          </a:prstGeom>
        </p:spPr>
      </p:pic>
      <p:pic>
        <p:nvPicPr>
          <p:cNvPr id="10" name="Picture 9" descr="zf headshot.jpg"/>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0370425" y="3724165"/>
            <a:ext cx="840509" cy="845924"/>
          </a:xfrm>
          <a:prstGeom prst="rect">
            <a:avLst/>
          </a:prstGeom>
        </p:spPr>
      </p:pic>
      <p:sp>
        <p:nvSpPr>
          <p:cNvPr id="16" name="Freeform 15"/>
          <p:cNvSpPr/>
          <p:nvPr/>
        </p:nvSpPr>
        <p:spPr>
          <a:xfrm>
            <a:off x="8838607" y="4793673"/>
            <a:ext cx="924229" cy="886423"/>
          </a:xfrm>
          <a:custGeom>
            <a:avLst/>
            <a:gdLst>
              <a:gd name="connsiteX0" fmla="*/ 924229 w 924229"/>
              <a:gd name="connsiteY0" fmla="*/ 378691 h 886423"/>
              <a:gd name="connsiteX1" fmla="*/ 323866 w 924229"/>
              <a:gd name="connsiteY1" fmla="*/ 877454 h 886423"/>
              <a:gd name="connsiteX2" fmla="*/ 593 w 924229"/>
              <a:gd name="connsiteY2" fmla="*/ 0 h 886423"/>
            </a:gdLst>
            <a:ahLst/>
            <a:cxnLst>
              <a:cxn ang="0">
                <a:pos x="connsiteX0" y="connsiteY0"/>
              </a:cxn>
              <a:cxn ang="0">
                <a:pos x="connsiteX1" y="connsiteY1"/>
              </a:cxn>
              <a:cxn ang="0">
                <a:pos x="connsiteX2" y="connsiteY2"/>
              </a:cxn>
            </a:cxnLst>
            <a:rect l="l" t="t" r="r" b="b"/>
            <a:pathLst>
              <a:path w="924229" h="886423">
                <a:moveTo>
                  <a:pt x="924229" y="378691"/>
                </a:moveTo>
                <a:cubicBezTo>
                  <a:pt x="701017" y="659630"/>
                  <a:pt x="477805" y="940569"/>
                  <a:pt x="323866" y="877454"/>
                </a:cubicBezTo>
                <a:cubicBezTo>
                  <a:pt x="169927" y="814339"/>
                  <a:pt x="-11722" y="95442"/>
                  <a:pt x="593" y="0"/>
                </a:cubicBezTo>
              </a:path>
            </a:pathLst>
          </a:custGeom>
          <a:ln w="57150">
            <a:solidFill>
              <a:srgbClr val="C00000"/>
            </a:solidFill>
            <a:prstDash val="sysDot"/>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7" name="Freeform 16"/>
          <p:cNvSpPr/>
          <p:nvPr/>
        </p:nvSpPr>
        <p:spPr>
          <a:xfrm>
            <a:off x="2493818" y="3943375"/>
            <a:ext cx="5818909" cy="352871"/>
          </a:xfrm>
          <a:custGeom>
            <a:avLst/>
            <a:gdLst>
              <a:gd name="connsiteX0" fmla="*/ 5818909 w 5818909"/>
              <a:gd name="connsiteY0" fmla="*/ 286880 h 352871"/>
              <a:gd name="connsiteX1" fmla="*/ 3482109 w 5818909"/>
              <a:gd name="connsiteY1" fmla="*/ 552 h 352871"/>
              <a:gd name="connsiteX2" fmla="*/ 0 w 5818909"/>
              <a:gd name="connsiteY2" fmla="*/ 351534 h 352871"/>
            </a:gdLst>
            <a:ahLst/>
            <a:cxnLst>
              <a:cxn ang="0">
                <a:pos x="connsiteX0" y="connsiteY0"/>
              </a:cxn>
              <a:cxn ang="0">
                <a:pos x="connsiteX1" y="connsiteY1"/>
              </a:cxn>
              <a:cxn ang="0">
                <a:pos x="connsiteX2" y="connsiteY2"/>
              </a:cxn>
            </a:cxnLst>
            <a:rect l="l" t="t" r="r" b="b"/>
            <a:pathLst>
              <a:path w="5818909" h="352871">
                <a:moveTo>
                  <a:pt x="5818909" y="286880"/>
                </a:moveTo>
                <a:cubicBezTo>
                  <a:pt x="5135418" y="138328"/>
                  <a:pt x="4451927" y="-10224"/>
                  <a:pt x="3482109" y="552"/>
                </a:cubicBezTo>
                <a:cubicBezTo>
                  <a:pt x="2512291" y="11328"/>
                  <a:pt x="524933" y="377704"/>
                  <a:pt x="0" y="351534"/>
                </a:cubicBezTo>
              </a:path>
            </a:pathLst>
          </a:custGeom>
          <a:ln w="57150">
            <a:solidFill>
              <a:srgbClr val="C00000"/>
            </a:solidFill>
            <a:prstDash val="sysDot"/>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Freeform 17"/>
          <p:cNvSpPr/>
          <p:nvPr/>
        </p:nvSpPr>
        <p:spPr>
          <a:xfrm>
            <a:off x="2348048" y="3140697"/>
            <a:ext cx="7998691" cy="947334"/>
          </a:xfrm>
          <a:custGeom>
            <a:avLst/>
            <a:gdLst>
              <a:gd name="connsiteX0" fmla="*/ 0 w 7998691"/>
              <a:gd name="connsiteY0" fmla="*/ 467043 h 947334"/>
              <a:gd name="connsiteX1" fmla="*/ 4091709 w 7998691"/>
              <a:gd name="connsiteY1" fmla="*/ 14462 h 947334"/>
              <a:gd name="connsiteX2" fmla="*/ 7998691 w 7998691"/>
              <a:gd name="connsiteY2" fmla="*/ 947334 h 947334"/>
            </a:gdLst>
            <a:ahLst/>
            <a:cxnLst>
              <a:cxn ang="0">
                <a:pos x="connsiteX0" y="connsiteY0"/>
              </a:cxn>
              <a:cxn ang="0">
                <a:pos x="connsiteX1" y="connsiteY1"/>
              </a:cxn>
              <a:cxn ang="0">
                <a:pos x="connsiteX2" y="connsiteY2"/>
              </a:cxn>
            </a:cxnLst>
            <a:rect l="l" t="t" r="r" b="b"/>
            <a:pathLst>
              <a:path w="7998691" h="947334">
                <a:moveTo>
                  <a:pt x="0" y="467043"/>
                </a:moveTo>
                <a:cubicBezTo>
                  <a:pt x="1379297" y="200728"/>
                  <a:pt x="2758594" y="-65587"/>
                  <a:pt x="4091709" y="14462"/>
                </a:cubicBezTo>
                <a:cubicBezTo>
                  <a:pt x="5424824" y="94511"/>
                  <a:pt x="7432194" y="867286"/>
                  <a:pt x="7998691" y="947334"/>
                </a:cubicBezTo>
              </a:path>
            </a:pathLst>
          </a:custGeom>
          <a:ln w="57150">
            <a:solidFill>
              <a:srgbClr val="C00000"/>
            </a:solidFill>
            <a:prstDash val="sysDot"/>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pic>
        <p:nvPicPr>
          <p:cNvPr id="11" name="Picture 10"/>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10020258" y="4946899"/>
            <a:ext cx="407597" cy="443212"/>
          </a:xfrm>
          <a:prstGeom prst="rect">
            <a:avLst/>
          </a:prstGeom>
        </p:spPr>
      </p:pic>
      <p:pic>
        <p:nvPicPr>
          <p:cNvPr id="12" name="Picture 11"/>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8032673" y="4400058"/>
            <a:ext cx="558287" cy="587065"/>
          </a:xfrm>
          <a:prstGeom prst="rect">
            <a:avLst/>
          </a:prstGeom>
        </p:spPr>
      </p:pic>
      <p:pic>
        <p:nvPicPr>
          <p:cNvPr id="13" name="Picture 12"/>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10427855" y="3377885"/>
            <a:ext cx="557976" cy="472958"/>
          </a:xfrm>
          <a:prstGeom prst="rect">
            <a:avLst/>
          </a:prstGeom>
        </p:spPr>
      </p:pic>
      <p:pic>
        <p:nvPicPr>
          <p:cNvPr id="14" name="Picture 13"/>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2130994" y="4539573"/>
            <a:ext cx="720152" cy="447550"/>
          </a:xfrm>
          <a:prstGeom prst="rect">
            <a:avLst/>
          </a:prstGeom>
        </p:spPr>
      </p:pic>
    </p:spTree>
    <p:extLst>
      <p:ext uri="{BB962C8B-B14F-4D97-AF65-F5344CB8AC3E}">
        <p14:creationId xmlns:p14="http://schemas.microsoft.com/office/powerpoint/2010/main" val="3862577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yriad Pro" panose="020B0503030403020204" pitchFamily="34" charset="0"/>
              </a:rPr>
              <a:t>Jacob’s life advice (your mileage may vary):</a:t>
            </a:r>
          </a:p>
        </p:txBody>
      </p:sp>
      <p:sp>
        <p:nvSpPr>
          <p:cNvPr id="3" name="TextBox 2"/>
          <p:cNvSpPr txBox="1"/>
          <p:nvPr/>
        </p:nvSpPr>
        <p:spPr>
          <a:xfrm>
            <a:off x="1126836" y="1877312"/>
            <a:ext cx="10335491" cy="3539430"/>
          </a:xfrm>
          <a:prstGeom prst="rect">
            <a:avLst/>
          </a:prstGeom>
          <a:noFill/>
        </p:spPr>
        <p:txBody>
          <a:bodyPr wrap="square" rtlCol="0">
            <a:spAutoFit/>
          </a:bodyPr>
          <a:lstStyle/>
          <a:p>
            <a:pPr marL="457200" indent="-457200">
              <a:buFont typeface="Arial" panose="020B0604020202020204" pitchFamily="34" charset="0"/>
              <a:buChar char="•"/>
            </a:pPr>
            <a:r>
              <a:rPr lang="en-US" sz="2800" b="1" dirty="0">
                <a:latin typeface="Myriad Pro" panose="020B0503030403020204" pitchFamily="34" charset="0"/>
              </a:rPr>
              <a:t>Talk to people!</a:t>
            </a:r>
          </a:p>
          <a:p>
            <a:endParaRPr lang="en-US" sz="2800" dirty="0">
              <a:latin typeface="Myriad Pro" panose="020B0503030403020204" pitchFamily="34" charset="0"/>
            </a:endParaRPr>
          </a:p>
          <a:p>
            <a:pPr marL="457200" indent="-457200">
              <a:buFont typeface="Arial" panose="020B0604020202020204" pitchFamily="34" charset="0"/>
              <a:buChar char="•"/>
            </a:pPr>
            <a:r>
              <a:rPr lang="en-US" sz="2800" b="1" dirty="0">
                <a:latin typeface="Myriad Pro" panose="020B0503030403020204" pitchFamily="34" charset="0"/>
              </a:rPr>
              <a:t>Dive deep into your interests</a:t>
            </a:r>
            <a:r>
              <a:rPr lang="en-US" sz="2800" dirty="0">
                <a:latin typeface="Myriad Pro" panose="020B0503030403020204" pitchFamily="34" charset="0"/>
              </a:rPr>
              <a:t>; follow your curiosity as your interests evolve</a:t>
            </a:r>
          </a:p>
          <a:p>
            <a:pPr marL="457200" indent="-457200">
              <a:buFont typeface="Arial" panose="020B0604020202020204" pitchFamily="34" charset="0"/>
              <a:buChar char="•"/>
            </a:pPr>
            <a:endParaRPr lang="en-US" sz="2800" dirty="0">
              <a:latin typeface="Myriad Pro" panose="020B0503030403020204" pitchFamily="34" charset="0"/>
            </a:endParaRPr>
          </a:p>
          <a:p>
            <a:pPr marL="457200" indent="-457200">
              <a:buFont typeface="Arial" panose="020B0604020202020204" pitchFamily="34" charset="0"/>
              <a:buChar char="•"/>
            </a:pPr>
            <a:r>
              <a:rPr lang="en-US" sz="2800" b="1" dirty="0">
                <a:latin typeface="Myriad Pro" panose="020B0503030403020204" pitchFamily="34" charset="0"/>
              </a:rPr>
              <a:t>Learn how to write code</a:t>
            </a:r>
            <a:r>
              <a:rPr lang="en-US" sz="2800" dirty="0">
                <a:latin typeface="Myriad Pro" panose="020B0503030403020204" pitchFamily="34" charset="0"/>
              </a:rPr>
              <a:t>. Python is a great 1</a:t>
            </a:r>
            <a:r>
              <a:rPr lang="en-US" sz="2800" baseline="30000" dirty="0">
                <a:latin typeface="Myriad Pro" panose="020B0503030403020204" pitchFamily="34" charset="0"/>
              </a:rPr>
              <a:t>st</a:t>
            </a:r>
            <a:r>
              <a:rPr lang="en-US" sz="2800" dirty="0">
                <a:latin typeface="Myriad Pro" panose="020B0503030403020204" pitchFamily="34" charset="0"/>
              </a:rPr>
              <a:t> language (it helps to pick a project that is meaningful to you). Writing code forces you to think methodically</a:t>
            </a:r>
          </a:p>
        </p:txBody>
      </p:sp>
    </p:spTree>
    <p:extLst>
      <p:ext uri="{BB962C8B-B14F-4D97-AF65-F5344CB8AC3E}">
        <p14:creationId xmlns:p14="http://schemas.microsoft.com/office/powerpoint/2010/main" val="3427201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yriad Pro" panose="020B0503030403020204" pitchFamily="34" charset="0"/>
              </a:rPr>
              <a:t>The power of listening</a:t>
            </a:r>
          </a:p>
        </p:txBody>
      </p:sp>
      <p:pic>
        <p:nvPicPr>
          <p:cNvPr id="5" name="Content Placeholder 4"/>
          <p:cNvPicPr>
            <a:picLocks noGrp="1" noChangeAspect="1"/>
          </p:cNvPicPr>
          <p:nvPr>
            <p:ph idx="1"/>
          </p:nvPr>
        </p:nvPicPr>
        <p:blipFill>
          <a:blip r:embed="rId3" cstate="email">
            <a:extLst>
              <a:ext uri="{28A0092B-C50C-407E-A947-70E740481C1C}">
                <a14:useLocalDpi xmlns:a14="http://schemas.microsoft.com/office/drawing/2010/main"/>
              </a:ext>
            </a:extLst>
          </a:blip>
          <a:stretch>
            <a:fillRect/>
          </a:stretch>
        </p:blipFill>
        <p:spPr>
          <a:xfrm>
            <a:off x="1698145" y="4051592"/>
            <a:ext cx="4077965" cy="2633686"/>
          </a:xfrm>
        </p:spPr>
      </p:pic>
      <p:pic>
        <p:nvPicPr>
          <p:cNvPr id="6" name="Picture 5"/>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93719" y="1448554"/>
            <a:ext cx="4035980" cy="2503450"/>
          </a:xfrm>
          <a:prstGeom prst="rect">
            <a:avLst/>
          </a:prstGeom>
        </p:spPr>
      </p:pic>
      <p:pic>
        <p:nvPicPr>
          <p:cNvPr id="7" name="Picture 6"/>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486400" y="1027906"/>
            <a:ext cx="4374751" cy="2339983"/>
          </a:xfrm>
          <a:prstGeom prst="rect">
            <a:avLst/>
          </a:prstGeom>
        </p:spPr>
      </p:pic>
      <p:pic>
        <p:nvPicPr>
          <p:cNvPr id="8" name="Picture 7"/>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413760" y="3508382"/>
            <a:ext cx="4448920" cy="3028220"/>
          </a:xfrm>
          <a:prstGeom prst="rect">
            <a:avLst/>
          </a:prstGeom>
        </p:spPr>
      </p:pic>
      <p:cxnSp>
        <p:nvCxnSpPr>
          <p:cNvPr id="4" name="Straight Arrow Connector 3"/>
          <p:cNvCxnSpPr/>
          <p:nvPr/>
        </p:nvCxnSpPr>
        <p:spPr>
          <a:xfrm>
            <a:off x="7972425" y="3724275"/>
            <a:ext cx="742950" cy="457200"/>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575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yriad Pro" panose="020B0503030403020204" pitchFamily="34" charset="0"/>
              </a:rPr>
              <a:t>Song is essential for finding a mate</a:t>
            </a:r>
            <a:endParaRPr lang="en-US" sz="3200" dirty="0"/>
          </a:p>
        </p:txBody>
      </p:sp>
      <p:pic>
        <p:nvPicPr>
          <p:cNvPr id="4" name="Picture 5" descr="male_female_zf"/>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44550" y="1690688"/>
            <a:ext cx="3143255" cy="2065568"/>
          </a:xfrm>
          <a:prstGeom prst="rect">
            <a:avLst/>
          </a:prstGeom>
          <a:noFill/>
          <a:extLst>
            <a:ext uri="{909E8E84-426E-40dd-AFC4-6F175D3DCCD1}">
              <a14:hiddenFill xmlns="" xmlns:a14="http://schemas.microsoft.com/office/drawing/2010/main">
                <a:solidFill>
                  <a:srgbClr val="FFFFFF"/>
                </a:solidFill>
              </a14:hiddenFill>
            </a:ext>
          </a:extLst>
        </p:spPr>
      </p:pic>
      <p:pic>
        <p:nvPicPr>
          <p:cNvPr id="5" name="Picture 11" descr="zf_pair_moment later_crop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38200" y="4253172"/>
            <a:ext cx="3146249" cy="2061077"/>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2"/>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4772025" y="1830448"/>
            <a:ext cx="6951105" cy="2103376"/>
          </a:xfrm>
          <a:prstGeom prst="rect">
            <a:avLst/>
          </a:prstGeom>
        </p:spPr>
      </p:pic>
      <p:pic>
        <p:nvPicPr>
          <p:cNvPr id="6" name="Picture 5"/>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4772024" y="4869356"/>
            <a:ext cx="6951105" cy="1444892"/>
          </a:xfrm>
          <a:prstGeom prst="rect">
            <a:avLst/>
          </a:prstGeom>
        </p:spPr>
      </p:pic>
      <p:sp>
        <p:nvSpPr>
          <p:cNvPr id="7" name="TextBox 6"/>
          <p:cNvSpPr txBox="1"/>
          <p:nvPr/>
        </p:nvSpPr>
        <p:spPr>
          <a:xfrm rot="16200000">
            <a:off x="3422262" y="2712262"/>
            <a:ext cx="1739579" cy="369332"/>
          </a:xfrm>
          <a:prstGeom prst="rect">
            <a:avLst/>
          </a:prstGeom>
          <a:noFill/>
        </p:spPr>
        <p:txBody>
          <a:bodyPr wrap="none" rtlCol="0">
            <a:spAutoFit/>
          </a:bodyPr>
          <a:lstStyle/>
          <a:p>
            <a:r>
              <a:rPr lang="en-US" dirty="0">
                <a:latin typeface="Myriad Pro" panose="020B0503030403020204" pitchFamily="34" charset="0"/>
              </a:rPr>
              <a:t>Frequency (kHz)</a:t>
            </a:r>
          </a:p>
        </p:txBody>
      </p:sp>
      <p:sp>
        <p:nvSpPr>
          <p:cNvPr id="8" name="TextBox 7"/>
          <p:cNvSpPr txBox="1"/>
          <p:nvPr/>
        </p:nvSpPr>
        <p:spPr>
          <a:xfrm>
            <a:off x="4468736" y="1912525"/>
            <a:ext cx="303288" cy="369332"/>
          </a:xfrm>
          <a:prstGeom prst="rect">
            <a:avLst/>
          </a:prstGeom>
          <a:noFill/>
        </p:spPr>
        <p:txBody>
          <a:bodyPr wrap="none" rtlCol="0">
            <a:spAutoFit/>
          </a:bodyPr>
          <a:lstStyle/>
          <a:p>
            <a:pPr algn="r"/>
            <a:r>
              <a:rPr lang="en-US" dirty="0">
                <a:latin typeface="Myriad Pro" panose="020B0503030403020204" pitchFamily="34" charset="0"/>
              </a:rPr>
              <a:t>8</a:t>
            </a:r>
          </a:p>
        </p:txBody>
      </p:sp>
      <p:sp>
        <p:nvSpPr>
          <p:cNvPr id="9" name="TextBox 8"/>
          <p:cNvSpPr txBox="1"/>
          <p:nvPr/>
        </p:nvSpPr>
        <p:spPr>
          <a:xfrm>
            <a:off x="4476714" y="2712263"/>
            <a:ext cx="303288" cy="369332"/>
          </a:xfrm>
          <a:prstGeom prst="rect">
            <a:avLst/>
          </a:prstGeom>
          <a:noFill/>
        </p:spPr>
        <p:txBody>
          <a:bodyPr wrap="none" rtlCol="0">
            <a:spAutoFit/>
          </a:bodyPr>
          <a:lstStyle/>
          <a:p>
            <a:pPr algn="r"/>
            <a:r>
              <a:rPr lang="en-US" dirty="0">
                <a:latin typeface="Myriad Pro" panose="020B0503030403020204" pitchFamily="34" charset="0"/>
              </a:rPr>
              <a:t>4</a:t>
            </a:r>
          </a:p>
        </p:txBody>
      </p:sp>
      <p:sp>
        <p:nvSpPr>
          <p:cNvPr id="10" name="TextBox 9"/>
          <p:cNvSpPr txBox="1"/>
          <p:nvPr/>
        </p:nvSpPr>
        <p:spPr>
          <a:xfrm>
            <a:off x="4476714" y="3509615"/>
            <a:ext cx="303288" cy="369332"/>
          </a:xfrm>
          <a:prstGeom prst="rect">
            <a:avLst/>
          </a:prstGeom>
          <a:noFill/>
        </p:spPr>
        <p:txBody>
          <a:bodyPr wrap="none" rtlCol="0">
            <a:spAutoFit/>
          </a:bodyPr>
          <a:lstStyle/>
          <a:p>
            <a:pPr algn="r"/>
            <a:r>
              <a:rPr lang="en-US" dirty="0">
                <a:latin typeface="Myriad Pro" panose="020B0503030403020204" pitchFamily="34" charset="0"/>
              </a:rPr>
              <a:t>0</a:t>
            </a:r>
          </a:p>
        </p:txBody>
      </p:sp>
      <p:sp>
        <p:nvSpPr>
          <p:cNvPr id="11" name="TextBox 10"/>
          <p:cNvSpPr txBox="1"/>
          <p:nvPr/>
        </p:nvSpPr>
        <p:spPr>
          <a:xfrm>
            <a:off x="5142866" y="3908833"/>
            <a:ext cx="611065" cy="369332"/>
          </a:xfrm>
          <a:prstGeom prst="rect">
            <a:avLst/>
          </a:prstGeom>
          <a:noFill/>
        </p:spPr>
        <p:txBody>
          <a:bodyPr wrap="none" rtlCol="0">
            <a:spAutoFit/>
          </a:bodyPr>
          <a:lstStyle/>
          <a:p>
            <a:pPr algn="ctr"/>
            <a:r>
              <a:rPr lang="en-US" dirty="0">
                <a:latin typeface="Myriad Pro" panose="020B0503030403020204" pitchFamily="34" charset="0"/>
              </a:rPr>
              <a:t>0.5 s</a:t>
            </a:r>
          </a:p>
        </p:txBody>
      </p:sp>
      <p:sp>
        <p:nvSpPr>
          <p:cNvPr id="12" name="TextBox 11"/>
          <p:cNvSpPr txBox="1"/>
          <p:nvPr/>
        </p:nvSpPr>
        <p:spPr>
          <a:xfrm>
            <a:off x="10829202" y="1470969"/>
            <a:ext cx="1189236" cy="369332"/>
          </a:xfrm>
          <a:prstGeom prst="rect">
            <a:avLst/>
          </a:prstGeom>
          <a:noFill/>
        </p:spPr>
        <p:txBody>
          <a:bodyPr wrap="none" rtlCol="0">
            <a:spAutoFit/>
          </a:bodyPr>
          <a:lstStyle/>
          <a:p>
            <a:pPr algn="ctr"/>
            <a:r>
              <a:rPr lang="en-US" dirty="0">
                <a:latin typeface="Myriad Pro" panose="020B0503030403020204" pitchFamily="34" charset="0"/>
              </a:rPr>
              <a:t>Rel. power</a:t>
            </a:r>
          </a:p>
        </p:txBody>
      </p:sp>
      <p:sp>
        <p:nvSpPr>
          <p:cNvPr id="13" name="TextBox 12"/>
          <p:cNvSpPr txBox="1"/>
          <p:nvPr/>
        </p:nvSpPr>
        <p:spPr>
          <a:xfrm>
            <a:off x="10829201" y="1746017"/>
            <a:ext cx="303288" cy="369332"/>
          </a:xfrm>
          <a:prstGeom prst="rect">
            <a:avLst/>
          </a:prstGeom>
          <a:noFill/>
        </p:spPr>
        <p:txBody>
          <a:bodyPr wrap="none" rtlCol="0">
            <a:spAutoFit/>
          </a:bodyPr>
          <a:lstStyle/>
          <a:p>
            <a:pPr algn="ctr"/>
            <a:r>
              <a:rPr lang="en-US" dirty="0">
                <a:latin typeface="Myriad Pro" panose="020B0503030403020204" pitchFamily="34" charset="0"/>
              </a:rPr>
              <a:t>0</a:t>
            </a:r>
          </a:p>
        </p:txBody>
      </p:sp>
      <p:sp>
        <p:nvSpPr>
          <p:cNvPr id="14" name="TextBox 13"/>
          <p:cNvSpPr txBox="1"/>
          <p:nvPr/>
        </p:nvSpPr>
        <p:spPr>
          <a:xfrm>
            <a:off x="11723129" y="1746017"/>
            <a:ext cx="303288" cy="369332"/>
          </a:xfrm>
          <a:prstGeom prst="rect">
            <a:avLst/>
          </a:prstGeom>
          <a:noFill/>
        </p:spPr>
        <p:txBody>
          <a:bodyPr wrap="none" rtlCol="0">
            <a:spAutoFit/>
          </a:bodyPr>
          <a:lstStyle/>
          <a:p>
            <a:pPr algn="ctr"/>
            <a:r>
              <a:rPr lang="en-US" dirty="0">
                <a:latin typeface="Myriad Pro" panose="020B0503030403020204" pitchFamily="34" charset="0"/>
              </a:rPr>
              <a:t>1</a:t>
            </a:r>
          </a:p>
        </p:txBody>
      </p:sp>
      <p:sp>
        <p:nvSpPr>
          <p:cNvPr id="17" name="TextBox 16"/>
          <p:cNvSpPr txBox="1"/>
          <p:nvPr/>
        </p:nvSpPr>
        <p:spPr>
          <a:xfrm>
            <a:off x="4865741" y="1533141"/>
            <a:ext cx="2802177" cy="461665"/>
          </a:xfrm>
          <a:prstGeom prst="rect">
            <a:avLst/>
          </a:prstGeom>
          <a:noFill/>
        </p:spPr>
        <p:txBody>
          <a:bodyPr wrap="none" rtlCol="0">
            <a:spAutoFit/>
          </a:bodyPr>
          <a:lstStyle/>
          <a:p>
            <a:r>
              <a:rPr lang="en-US" sz="2400" dirty="0">
                <a:latin typeface="Myriad Pro" panose="020B0503030403020204" pitchFamily="34" charset="0"/>
              </a:rPr>
              <a:t>Good (tutored) song</a:t>
            </a:r>
          </a:p>
        </p:txBody>
      </p:sp>
      <p:sp>
        <p:nvSpPr>
          <p:cNvPr id="18" name="TextBox 17"/>
          <p:cNvSpPr txBox="1"/>
          <p:nvPr/>
        </p:nvSpPr>
        <p:spPr>
          <a:xfrm>
            <a:off x="4865741" y="4339803"/>
            <a:ext cx="2921249" cy="461665"/>
          </a:xfrm>
          <a:prstGeom prst="rect">
            <a:avLst/>
          </a:prstGeom>
          <a:noFill/>
        </p:spPr>
        <p:txBody>
          <a:bodyPr wrap="none" rtlCol="0">
            <a:spAutoFit/>
          </a:bodyPr>
          <a:lstStyle/>
          <a:p>
            <a:r>
              <a:rPr lang="en-US" sz="2400" dirty="0">
                <a:latin typeface="Myriad Pro" panose="020B0503030403020204" pitchFamily="34" charset="0"/>
              </a:rPr>
              <a:t>Bad (untutored) song</a:t>
            </a:r>
          </a:p>
        </p:txBody>
      </p:sp>
    </p:spTree>
    <p:extLst>
      <p:ext uri="{BB962C8B-B14F-4D97-AF65-F5344CB8AC3E}">
        <p14:creationId xmlns:p14="http://schemas.microsoft.com/office/powerpoint/2010/main" val="514741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061479" y="1308686"/>
            <a:ext cx="3558521" cy="2550247"/>
          </a:xfrm>
          <a:prstGeom prst="rect">
            <a:avLst/>
          </a:prstGeom>
        </p:spPr>
      </p:pic>
      <p:sp>
        <p:nvSpPr>
          <p:cNvPr id="2" name="Title 1"/>
          <p:cNvSpPr>
            <a:spLocks noGrp="1"/>
          </p:cNvSpPr>
          <p:nvPr>
            <p:ph type="title"/>
          </p:nvPr>
        </p:nvSpPr>
        <p:spPr/>
        <p:txBody>
          <a:bodyPr>
            <a:normAutofit/>
          </a:bodyPr>
          <a:lstStyle/>
          <a:p>
            <a:r>
              <a:rPr lang="en-US" sz="3200" dirty="0">
                <a:latin typeface="Myriad Pro" panose="020B0503030403020204" pitchFamily="34" charset="0"/>
              </a:rPr>
              <a:t>Songbirds are outstanding vocal learners</a:t>
            </a:r>
            <a:endParaRPr lang="en-US" sz="3200" dirty="0"/>
          </a:p>
        </p:txBody>
      </p:sp>
      <p:cxnSp>
        <p:nvCxnSpPr>
          <p:cNvPr id="5" name="Straight Arrow Connector 4"/>
          <p:cNvCxnSpPr/>
          <p:nvPr/>
        </p:nvCxnSpPr>
        <p:spPr>
          <a:xfrm>
            <a:off x="1495237" y="5548313"/>
            <a:ext cx="8801288" cy="0"/>
          </a:xfrm>
          <a:prstGeom prst="straightConnector1">
            <a:avLst/>
          </a:prstGeom>
          <a:ln w="152400">
            <a:tailEnd type="triangle"/>
          </a:ln>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2775151" y="5114615"/>
            <a:ext cx="2654099" cy="0"/>
          </a:xfrm>
          <a:prstGeom prst="line">
            <a:avLst/>
          </a:prstGeom>
          <a:ln w="152400"/>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4810125" y="4511778"/>
            <a:ext cx="4086225" cy="0"/>
          </a:xfrm>
          <a:prstGeom prst="line">
            <a:avLst/>
          </a:prstGeom>
          <a:ln w="152400"/>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703260" y="5676516"/>
            <a:ext cx="914161" cy="461665"/>
          </a:xfrm>
          <a:prstGeom prst="rect">
            <a:avLst/>
          </a:prstGeom>
          <a:noFill/>
        </p:spPr>
        <p:txBody>
          <a:bodyPr wrap="none" rtlCol="0">
            <a:spAutoFit/>
          </a:bodyPr>
          <a:lstStyle/>
          <a:p>
            <a:r>
              <a:rPr lang="en-US" sz="2400" dirty="0">
                <a:latin typeface="Myriad Pro" panose="020B0503030403020204" pitchFamily="34" charset="0"/>
              </a:rPr>
              <a:t>hatch</a:t>
            </a:r>
          </a:p>
        </p:txBody>
      </p:sp>
      <p:sp>
        <p:nvSpPr>
          <p:cNvPr id="11" name="TextBox 10"/>
          <p:cNvSpPr txBox="1"/>
          <p:nvPr/>
        </p:nvSpPr>
        <p:spPr>
          <a:xfrm>
            <a:off x="8938447" y="4480758"/>
            <a:ext cx="1105559" cy="830997"/>
          </a:xfrm>
          <a:prstGeom prst="rect">
            <a:avLst/>
          </a:prstGeom>
          <a:noFill/>
        </p:spPr>
        <p:txBody>
          <a:bodyPr wrap="none" rtlCol="0">
            <a:spAutoFit/>
          </a:bodyPr>
          <a:lstStyle/>
          <a:p>
            <a:pPr algn="ctr"/>
            <a:r>
              <a:rPr lang="en-US" sz="2400" dirty="0">
                <a:latin typeface="Myriad Pro" panose="020B0503030403020204" pitchFamily="34" charset="0"/>
              </a:rPr>
              <a:t>Mature</a:t>
            </a:r>
          </a:p>
          <a:p>
            <a:pPr algn="ctr"/>
            <a:r>
              <a:rPr lang="en-US" sz="2400" dirty="0">
                <a:latin typeface="Myriad Pro" panose="020B0503030403020204" pitchFamily="34" charset="0"/>
              </a:rPr>
              <a:t>song</a:t>
            </a:r>
          </a:p>
        </p:txBody>
      </p:sp>
      <p:sp>
        <p:nvSpPr>
          <p:cNvPr id="12" name="TextBox 11"/>
          <p:cNvSpPr txBox="1"/>
          <p:nvPr/>
        </p:nvSpPr>
        <p:spPr>
          <a:xfrm>
            <a:off x="2525724" y="5676515"/>
            <a:ext cx="498855" cy="461665"/>
          </a:xfrm>
          <a:prstGeom prst="rect">
            <a:avLst/>
          </a:prstGeom>
          <a:noFill/>
        </p:spPr>
        <p:txBody>
          <a:bodyPr wrap="none" rtlCol="0">
            <a:spAutoFit/>
          </a:bodyPr>
          <a:lstStyle/>
          <a:p>
            <a:r>
              <a:rPr lang="en-US" sz="2400" dirty="0">
                <a:latin typeface="Myriad Pro" panose="020B0503030403020204" pitchFamily="34" charset="0"/>
              </a:rPr>
              <a:t>20</a:t>
            </a:r>
          </a:p>
        </p:txBody>
      </p:sp>
      <p:sp>
        <p:nvSpPr>
          <p:cNvPr id="13" name="TextBox 12"/>
          <p:cNvSpPr txBox="1"/>
          <p:nvPr/>
        </p:nvSpPr>
        <p:spPr>
          <a:xfrm>
            <a:off x="4086257" y="5676126"/>
            <a:ext cx="498855" cy="461665"/>
          </a:xfrm>
          <a:prstGeom prst="rect">
            <a:avLst/>
          </a:prstGeom>
          <a:noFill/>
        </p:spPr>
        <p:txBody>
          <a:bodyPr wrap="none" rtlCol="0">
            <a:spAutoFit/>
          </a:bodyPr>
          <a:lstStyle/>
          <a:p>
            <a:r>
              <a:rPr lang="en-US" sz="2400" dirty="0">
                <a:latin typeface="Myriad Pro" panose="020B0503030403020204" pitchFamily="34" charset="0"/>
              </a:rPr>
              <a:t>40</a:t>
            </a:r>
          </a:p>
        </p:txBody>
      </p:sp>
      <p:sp>
        <p:nvSpPr>
          <p:cNvPr id="14" name="TextBox 13"/>
          <p:cNvSpPr txBox="1"/>
          <p:nvPr/>
        </p:nvSpPr>
        <p:spPr>
          <a:xfrm>
            <a:off x="5742843" y="5676513"/>
            <a:ext cx="498855" cy="461665"/>
          </a:xfrm>
          <a:prstGeom prst="rect">
            <a:avLst/>
          </a:prstGeom>
          <a:noFill/>
        </p:spPr>
        <p:txBody>
          <a:bodyPr wrap="none" rtlCol="0">
            <a:spAutoFit/>
          </a:bodyPr>
          <a:lstStyle/>
          <a:p>
            <a:r>
              <a:rPr lang="en-US" sz="2400" dirty="0">
                <a:latin typeface="Myriad Pro" panose="020B0503030403020204" pitchFamily="34" charset="0"/>
              </a:rPr>
              <a:t>60</a:t>
            </a:r>
          </a:p>
        </p:txBody>
      </p:sp>
      <p:sp>
        <p:nvSpPr>
          <p:cNvPr id="15" name="TextBox 14"/>
          <p:cNvSpPr txBox="1"/>
          <p:nvPr/>
        </p:nvSpPr>
        <p:spPr>
          <a:xfrm>
            <a:off x="7511028" y="5676513"/>
            <a:ext cx="498855" cy="461665"/>
          </a:xfrm>
          <a:prstGeom prst="rect">
            <a:avLst/>
          </a:prstGeom>
          <a:noFill/>
        </p:spPr>
        <p:txBody>
          <a:bodyPr wrap="none" rtlCol="0">
            <a:spAutoFit/>
          </a:bodyPr>
          <a:lstStyle/>
          <a:p>
            <a:r>
              <a:rPr lang="en-US" sz="2400" dirty="0">
                <a:latin typeface="Myriad Pro" panose="020B0503030403020204" pitchFamily="34" charset="0"/>
              </a:rPr>
              <a:t>80</a:t>
            </a:r>
          </a:p>
        </p:txBody>
      </p:sp>
      <p:sp>
        <p:nvSpPr>
          <p:cNvPr id="16" name="TextBox 15"/>
          <p:cNvSpPr txBox="1"/>
          <p:nvPr/>
        </p:nvSpPr>
        <p:spPr>
          <a:xfrm>
            <a:off x="9279213" y="5676513"/>
            <a:ext cx="655949" cy="461665"/>
          </a:xfrm>
          <a:prstGeom prst="rect">
            <a:avLst/>
          </a:prstGeom>
          <a:noFill/>
        </p:spPr>
        <p:txBody>
          <a:bodyPr wrap="none" rtlCol="0">
            <a:spAutoFit/>
          </a:bodyPr>
          <a:lstStyle/>
          <a:p>
            <a:r>
              <a:rPr lang="en-US" sz="2400">
                <a:latin typeface="Myriad Pro" panose="020B0503030403020204" pitchFamily="34" charset="0"/>
              </a:rPr>
              <a:t>100</a:t>
            </a:r>
            <a:endParaRPr lang="en-US" sz="2400" dirty="0">
              <a:latin typeface="Myriad Pro" panose="020B0503030403020204" pitchFamily="34" charset="0"/>
            </a:endParaRPr>
          </a:p>
        </p:txBody>
      </p:sp>
      <p:sp>
        <p:nvSpPr>
          <p:cNvPr id="23" name="TextBox 22"/>
          <p:cNvSpPr txBox="1"/>
          <p:nvPr/>
        </p:nvSpPr>
        <p:spPr>
          <a:xfrm>
            <a:off x="4895175" y="6266377"/>
            <a:ext cx="1280030" cy="461665"/>
          </a:xfrm>
          <a:prstGeom prst="rect">
            <a:avLst/>
          </a:prstGeom>
          <a:noFill/>
        </p:spPr>
        <p:txBody>
          <a:bodyPr wrap="none" rtlCol="0">
            <a:spAutoFit/>
          </a:bodyPr>
          <a:lstStyle/>
          <a:p>
            <a:pPr algn="ctr"/>
            <a:r>
              <a:rPr lang="en-US" sz="2400" dirty="0">
                <a:latin typeface="Myriad Pro" panose="020B0503030403020204" pitchFamily="34" charset="0"/>
              </a:rPr>
              <a:t>Days old</a:t>
            </a:r>
          </a:p>
        </p:txBody>
      </p:sp>
      <p:sp>
        <p:nvSpPr>
          <p:cNvPr id="24" name="TextBox 23"/>
          <p:cNvSpPr txBox="1"/>
          <p:nvPr/>
        </p:nvSpPr>
        <p:spPr>
          <a:xfrm>
            <a:off x="2578609" y="4552205"/>
            <a:ext cx="3047181" cy="461665"/>
          </a:xfrm>
          <a:prstGeom prst="rect">
            <a:avLst/>
          </a:prstGeom>
          <a:noFill/>
        </p:spPr>
        <p:txBody>
          <a:bodyPr wrap="none" rtlCol="0">
            <a:spAutoFit/>
          </a:bodyPr>
          <a:lstStyle/>
          <a:p>
            <a:pPr algn="ctr"/>
            <a:r>
              <a:rPr lang="en-US" sz="2400" dirty="0">
                <a:latin typeface="Myriad Pro" panose="020B0503030403020204" pitchFamily="34" charset="0"/>
              </a:rPr>
              <a:t>Listening, memorizing</a:t>
            </a:r>
          </a:p>
        </p:txBody>
      </p:sp>
      <p:sp>
        <p:nvSpPr>
          <p:cNvPr id="25" name="TextBox 24"/>
          <p:cNvSpPr txBox="1"/>
          <p:nvPr/>
        </p:nvSpPr>
        <p:spPr>
          <a:xfrm>
            <a:off x="5098301" y="3949368"/>
            <a:ext cx="3509872" cy="461665"/>
          </a:xfrm>
          <a:prstGeom prst="rect">
            <a:avLst/>
          </a:prstGeom>
          <a:noFill/>
        </p:spPr>
        <p:txBody>
          <a:bodyPr wrap="none" rtlCol="0">
            <a:spAutoFit/>
          </a:bodyPr>
          <a:lstStyle/>
          <a:p>
            <a:pPr algn="ctr"/>
            <a:r>
              <a:rPr lang="en-US" sz="2400" dirty="0">
                <a:latin typeface="Myriad Pro" panose="020B0503030403020204" pitchFamily="34" charset="0"/>
              </a:rPr>
              <a:t>Practice, practice, practice</a:t>
            </a:r>
          </a:p>
        </p:txBody>
      </p:sp>
    </p:spTree>
    <p:extLst>
      <p:ext uri="{BB962C8B-B14F-4D97-AF65-F5344CB8AC3E}">
        <p14:creationId xmlns:p14="http://schemas.microsoft.com/office/powerpoint/2010/main" val="188320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8200" y="1248372"/>
            <a:ext cx="6669504" cy="5377288"/>
          </a:xfrm>
          <a:prstGeom prst="rect">
            <a:avLst/>
          </a:prstGeom>
        </p:spPr>
      </p:pic>
      <p:pic>
        <p:nvPicPr>
          <p:cNvPr id="6" name="Picture 5">
            <a:extLst>
              <a:ext uri="{FF2B5EF4-FFF2-40B4-BE49-F238E27FC236}">
                <a16:creationId xmlns:a16="http://schemas.microsoft.com/office/drawing/2014/main" id="{6C7D34BF-F945-D34F-97BE-8FA7F9EB951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299422" y="3429668"/>
            <a:ext cx="2149434" cy="1549855"/>
          </a:xfrm>
          <a:prstGeom prst="rect">
            <a:avLst/>
          </a:prstGeom>
        </p:spPr>
      </p:pic>
      <p:pic>
        <p:nvPicPr>
          <p:cNvPr id="7" name="Picture 6">
            <a:extLst>
              <a:ext uri="{FF2B5EF4-FFF2-40B4-BE49-F238E27FC236}">
                <a16:creationId xmlns:a16="http://schemas.microsoft.com/office/drawing/2014/main" id="{FDD38B59-F2AF-2242-98E1-79344435C9E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15005" y="1357698"/>
            <a:ext cx="2012587" cy="1876140"/>
          </a:xfrm>
          <a:prstGeom prst="rect">
            <a:avLst/>
          </a:prstGeom>
        </p:spPr>
      </p:pic>
      <p:pic>
        <p:nvPicPr>
          <p:cNvPr id="8" name="Picture 7"/>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647008" y="5111041"/>
            <a:ext cx="3221736" cy="1746959"/>
          </a:xfrm>
          <a:prstGeom prst="rect">
            <a:avLst/>
          </a:prstGeom>
        </p:spPr>
      </p:pic>
      <p:sp>
        <p:nvSpPr>
          <p:cNvPr id="9" name="Rectangle 8"/>
          <p:cNvSpPr/>
          <p:nvPr/>
        </p:nvSpPr>
        <p:spPr>
          <a:xfrm>
            <a:off x="6571136" y="6171737"/>
            <a:ext cx="657225" cy="238125"/>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p:cNvSpPr/>
          <p:nvPr/>
        </p:nvSpPr>
        <p:spPr>
          <a:xfrm>
            <a:off x="6571136" y="4047961"/>
            <a:ext cx="752475" cy="238125"/>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Rectangle 10"/>
          <p:cNvSpPr/>
          <p:nvPr/>
        </p:nvSpPr>
        <p:spPr>
          <a:xfrm>
            <a:off x="6577232" y="2790810"/>
            <a:ext cx="752475" cy="238125"/>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Title 1"/>
          <p:cNvSpPr>
            <a:spLocks noGrp="1"/>
          </p:cNvSpPr>
          <p:nvPr>
            <p:ph type="title"/>
          </p:nvPr>
        </p:nvSpPr>
        <p:spPr>
          <a:xfrm>
            <a:off x="838200" y="365125"/>
            <a:ext cx="10515600" cy="1325563"/>
          </a:xfrm>
        </p:spPr>
        <p:txBody>
          <a:bodyPr>
            <a:normAutofit/>
          </a:bodyPr>
          <a:lstStyle/>
          <a:p>
            <a:r>
              <a:rPr lang="en-US" sz="3200" dirty="0">
                <a:latin typeface="Myriad Pro" panose="020B0503030403020204" pitchFamily="34" charset="0"/>
              </a:rPr>
              <a:t>Vocal learning is RARE</a:t>
            </a:r>
            <a:endParaRPr lang="en-US" sz="3200" dirty="0"/>
          </a:p>
        </p:txBody>
      </p:sp>
    </p:spTree>
    <p:extLst>
      <p:ext uri="{BB962C8B-B14F-4D97-AF65-F5344CB8AC3E}">
        <p14:creationId xmlns:p14="http://schemas.microsoft.com/office/powerpoint/2010/main" val="2661952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yriad Pro" panose="020B0503030403020204" pitchFamily="34" charset="0"/>
              </a:rPr>
              <a:t>Song is individual-specific and species-specific</a:t>
            </a:r>
            <a:endParaRPr lang="en-US" sz="3200" dirty="0"/>
          </a:p>
        </p:txBody>
      </p:sp>
      <p:pic>
        <p:nvPicPr>
          <p:cNvPr id="5" name="Picture 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21526" y="2548017"/>
            <a:ext cx="3563900" cy="1679890"/>
          </a:xfrm>
          <a:prstGeom prst="rect">
            <a:avLst/>
          </a:prstGeom>
        </p:spPr>
      </p:pic>
      <p:pic>
        <p:nvPicPr>
          <p:cNvPr id="6" name="Picture 5"/>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133576" y="2488958"/>
            <a:ext cx="3563900" cy="1719262"/>
          </a:xfrm>
          <a:prstGeom prst="rect">
            <a:avLst/>
          </a:prstGeom>
        </p:spPr>
      </p:pic>
      <p:pic>
        <p:nvPicPr>
          <p:cNvPr id="7" name="Picture 6"/>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4227551" y="2469271"/>
            <a:ext cx="3563900" cy="1758636"/>
          </a:xfrm>
          <a:prstGeom prst="rect">
            <a:avLst/>
          </a:prstGeom>
        </p:spPr>
      </p:pic>
      <p:pic>
        <p:nvPicPr>
          <p:cNvPr id="8" name="Picture 7"/>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4227551" y="4479999"/>
            <a:ext cx="3563900" cy="1968621"/>
          </a:xfrm>
          <a:prstGeom prst="rect">
            <a:avLst/>
          </a:prstGeom>
        </p:spPr>
      </p:pic>
      <p:sp>
        <p:nvSpPr>
          <p:cNvPr id="9" name="TextBox 8"/>
          <p:cNvSpPr txBox="1"/>
          <p:nvPr/>
        </p:nvSpPr>
        <p:spPr>
          <a:xfrm rot="16200000">
            <a:off x="3466446" y="5094977"/>
            <a:ext cx="546303" cy="369332"/>
          </a:xfrm>
          <a:prstGeom prst="rect">
            <a:avLst/>
          </a:prstGeom>
          <a:noFill/>
        </p:spPr>
        <p:txBody>
          <a:bodyPr wrap="none" rtlCol="0">
            <a:spAutoFit/>
          </a:bodyPr>
          <a:lstStyle/>
          <a:p>
            <a:r>
              <a:rPr lang="en-US" dirty="0">
                <a:latin typeface="Myriad Pro" panose="020B0503030403020204" pitchFamily="34" charset="0"/>
              </a:rPr>
              <a:t>kHz</a:t>
            </a:r>
          </a:p>
        </p:txBody>
      </p:sp>
      <p:sp>
        <p:nvSpPr>
          <p:cNvPr id="10" name="TextBox 9"/>
          <p:cNvSpPr txBox="1"/>
          <p:nvPr/>
        </p:nvSpPr>
        <p:spPr>
          <a:xfrm>
            <a:off x="4227551" y="6448620"/>
            <a:ext cx="619080" cy="369332"/>
          </a:xfrm>
          <a:prstGeom prst="rect">
            <a:avLst/>
          </a:prstGeom>
          <a:noFill/>
        </p:spPr>
        <p:txBody>
          <a:bodyPr wrap="none" rtlCol="0">
            <a:spAutoFit/>
          </a:bodyPr>
          <a:lstStyle/>
          <a:p>
            <a:r>
              <a:rPr lang="en-US" dirty="0">
                <a:latin typeface="Myriad Pro" panose="020B0503030403020204" pitchFamily="34" charset="0"/>
              </a:rPr>
              <a:t>0.5 s</a:t>
            </a:r>
          </a:p>
        </p:txBody>
      </p:sp>
      <p:sp>
        <p:nvSpPr>
          <p:cNvPr id="11" name="TextBox 10"/>
          <p:cNvSpPr txBox="1"/>
          <p:nvPr/>
        </p:nvSpPr>
        <p:spPr>
          <a:xfrm>
            <a:off x="3924263" y="4384429"/>
            <a:ext cx="303288" cy="369332"/>
          </a:xfrm>
          <a:prstGeom prst="rect">
            <a:avLst/>
          </a:prstGeom>
          <a:noFill/>
        </p:spPr>
        <p:txBody>
          <a:bodyPr wrap="none" rtlCol="0">
            <a:spAutoFit/>
          </a:bodyPr>
          <a:lstStyle/>
          <a:p>
            <a:pPr algn="r"/>
            <a:r>
              <a:rPr lang="en-US" dirty="0">
                <a:latin typeface="Myriad Pro" panose="020B0503030403020204" pitchFamily="34" charset="0"/>
              </a:rPr>
              <a:t>8</a:t>
            </a:r>
          </a:p>
        </p:txBody>
      </p:sp>
      <p:sp>
        <p:nvSpPr>
          <p:cNvPr id="12" name="TextBox 11"/>
          <p:cNvSpPr txBox="1"/>
          <p:nvPr/>
        </p:nvSpPr>
        <p:spPr>
          <a:xfrm>
            <a:off x="3924263" y="5157085"/>
            <a:ext cx="303288" cy="369332"/>
          </a:xfrm>
          <a:prstGeom prst="rect">
            <a:avLst/>
          </a:prstGeom>
          <a:noFill/>
        </p:spPr>
        <p:txBody>
          <a:bodyPr wrap="none" rtlCol="0">
            <a:spAutoFit/>
          </a:bodyPr>
          <a:lstStyle/>
          <a:p>
            <a:pPr algn="r"/>
            <a:r>
              <a:rPr lang="en-US" dirty="0">
                <a:latin typeface="Myriad Pro" panose="020B0503030403020204" pitchFamily="34" charset="0"/>
              </a:rPr>
              <a:t>4</a:t>
            </a:r>
          </a:p>
        </p:txBody>
      </p:sp>
      <p:pic>
        <p:nvPicPr>
          <p:cNvPr id="13" name="Picture 12"/>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1231967" y="1420597"/>
            <a:ext cx="1743018" cy="968370"/>
          </a:xfrm>
          <a:prstGeom prst="rect">
            <a:avLst/>
          </a:prstGeom>
        </p:spPr>
      </p:pic>
      <p:pic>
        <p:nvPicPr>
          <p:cNvPr id="14" name="Picture 13"/>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5247385" y="1426822"/>
            <a:ext cx="1534263" cy="920793"/>
          </a:xfrm>
          <a:prstGeom prst="rect">
            <a:avLst/>
          </a:prstGeom>
        </p:spPr>
      </p:pic>
      <p:pic>
        <p:nvPicPr>
          <p:cNvPr id="15" name="Picture 14"/>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9142040" y="1347637"/>
            <a:ext cx="1546971" cy="999977"/>
          </a:xfrm>
          <a:prstGeom prst="rect">
            <a:avLst/>
          </a:prstGeom>
        </p:spPr>
      </p:pic>
      <p:pic>
        <p:nvPicPr>
          <p:cNvPr id="3" name="Picture 2"/>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3039296" y="1550256"/>
            <a:ext cx="945492" cy="797358"/>
          </a:xfrm>
          <a:prstGeom prst="rect">
            <a:avLst/>
          </a:prstGeom>
        </p:spPr>
      </p:pic>
      <p:pic>
        <p:nvPicPr>
          <p:cNvPr id="4" name="Picture 3"/>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0750229" y="1550256"/>
            <a:ext cx="945492" cy="797358"/>
          </a:xfrm>
          <a:prstGeom prst="rect">
            <a:avLst/>
          </a:prstGeom>
        </p:spPr>
      </p:pic>
      <p:sp>
        <p:nvSpPr>
          <p:cNvPr id="22" name="TextBox 21"/>
          <p:cNvSpPr txBox="1"/>
          <p:nvPr/>
        </p:nvSpPr>
        <p:spPr>
          <a:xfrm>
            <a:off x="3926089" y="5962047"/>
            <a:ext cx="303288" cy="369332"/>
          </a:xfrm>
          <a:prstGeom prst="rect">
            <a:avLst/>
          </a:prstGeom>
          <a:noFill/>
        </p:spPr>
        <p:txBody>
          <a:bodyPr wrap="none" rtlCol="0">
            <a:spAutoFit/>
          </a:bodyPr>
          <a:lstStyle/>
          <a:p>
            <a:pPr algn="r"/>
            <a:r>
              <a:rPr lang="en-US" dirty="0">
                <a:latin typeface="Myriad Pro" panose="020B0503030403020204" pitchFamily="34" charset="0"/>
              </a:rPr>
              <a:t>0</a:t>
            </a:r>
          </a:p>
        </p:txBody>
      </p:sp>
      <p:pic>
        <p:nvPicPr>
          <p:cNvPr id="23" name="Picture 22"/>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6845959" y="1550256"/>
            <a:ext cx="945492" cy="797358"/>
          </a:xfrm>
          <a:prstGeom prst="rect">
            <a:avLst/>
          </a:prstGeom>
        </p:spPr>
      </p:pic>
    </p:spTree>
    <p:extLst>
      <p:ext uri="{BB962C8B-B14F-4D97-AF65-F5344CB8AC3E}">
        <p14:creationId xmlns:p14="http://schemas.microsoft.com/office/powerpoint/2010/main" val="3467288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025176" y="1565580"/>
            <a:ext cx="4290397" cy="5064828"/>
          </a:xfrm>
          <a:prstGeom prst="rect">
            <a:avLst/>
          </a:prstGeom>
        </p:spPr>
      </p:pic>
      <p:sp>
        <p:nvSpPr>
          <p:cNvPr id="2" name="Title 1"/>
          <p:cNvSpPr>
            <a:spLocks noGrp="1"/>
          </p:cNvSpPr>
          <p:nvPr>
            <p:ph type="title"/>
          </p:nvPr>
        </p:nvSpPr>
        <p:spPr/>
        <p:txBody>
          <a:bodyPr>
            <a:normAutofit/>
          </a:bodyPr>
          <a:lstStyle/>
          <a:p>
            <a:r>
              <a:rPr lang="en-US" sz="3200" dirty="0">
                <a:latin typeface="Myriad Pro" panose="020B0503030403020204" pitchFamily="34" charset="0"/>
              </a:rPr>
              <a:t>In behavior, songbirds are most interested in their own species (conspecifics)</a:t>
            </a:r>
          </a:p>
        </p:txBody>
      </p:sp>
      <p:pic>
        <p:nvPicPr>
          <p:cNvPr id="14" name="Picture 13"/>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599546" y="2623180"/>
            <a:ext cx="3916744" cy="2577470"/>
          </a:xfrm>
          <a:prstGeom prst="rect">
            <a:avLst/>
          </a:prstGeom>
        </p:spPr>
      </p:pic>
      <p:sp>
        <p:nvSpPr>
          <p:cNvPr id="3" name="TextBox 2"/>
          <p:cNvSpPr txBox="1"/>
          <p:nvPr/>
        </p:nvSpPr>
        <p:spPr>
          <a:xfrm>
            <a:off x="152400" y="6257925"/>
            <a:ext cx="4393510" cy="461665"/>
          </a:xfrm>
          <a:prstGeom prst="rect">
            <a:avLst/>
          </a:prstGeom>
          <a:noFill/>
        </p:spPr>
        <p:txBody>
          <a:bodyPr wrap="none" rtlCol="0">
            <a:spAutoFit/>
          </a:bodyPr>
          <a:lstStyle/>
          <a:p>
            <a:r>
              <a:rPr lang="en-US" sz="2400" dirty="0">
                <a:latin typeface="Myriad Pro" panose="020B0503030403020204" pitchFamily="34" charset="0"/>
              </a:rPr>
              <a:t>Data from </a:t>
            </a:r>
            <a:r>
              <a:rPr lang="en-US" sz="2400" dirty="0" err="1">
                <a:latin typeface="Myriad Pro" panose="020B0503030403020204" pitchFamily="34" charset="0"/>
              </a:rPr>
              <a:t>labmate</a:t>
            </a:r>
            <a:r>
              <a:rPr lang="en-US" sz="2400" dirty="0">
                <a:latin typeface="Myriad Pro" panose="020B0503030403020204" pitchFamily="34" charset="0"/>
              </a:rPr>
              <a:t> Moises Rivera</a:t>
            </a:r>
          </a:p>
        </p:txBody>
      </p:sp>
      <p:pic>
        <p:nvPicPr>
          <p:cNvPr id="8" name="Picture 7"/>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157848" y="1690688"/>
            <a:ext cx="945492" cy="797358"/>
          </a:xfrm>
          <a:prstGeom prst="rect">
            <a:avLst/>
          </a:prstGeom>
        </p:spPr>
      </p:pic>
      <p:pic>
        <p:nvPicPr>
          <p:cNvPr id="5" name="Picture 4"/>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224884" y="1690688"/>
            <a:ext cx="945492" cy="797358"/>
          </a:xfrm>
          <a:prstGeom prst="rect">
            <a:avLst/>
          </a:prstGeom>
        </p:spPr>
      </p:pic>
    </p:spTree>
    <p:extLst>
      <p:ext uri="{BB962C8B-B14F-4D97-AF65-F5344CB8AC3E}">
        <p14:creationId xmlns:p14="http://schemas.microsoft.com/office/powerpoint/2010/main" val="41163236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02987" y="4203563"/>
            <a:ext cx="897264" cy="2654437"/>
          </a:xfrm>
          <a:prstGeom prst="rect">
            <a:avLst/>
          </a:prstGeom>
        </p:spPr>
      </p:pic>
      <p:pic>
        <p:nvPicPr>
          <p:cNvPr id="26" name="Picture 25"/>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338756" y="4203563"/>
            <a:ext cx="733425" cy="2654437"/>
          </a:xfrm>
          <a:prstGeom prst="rect">
            <a:avLst/>
          </a:prstGeom>
        </p:spPr>
      </p:pic>
      <p:pic>
        <p:nvPicPr>
          <p:cNvPr id="27" name="Picture 26"/>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3390900" y="4200052"/>
            <a:ext cx="1752294" cy="2654437"/>
          </a:xfrm>
          <a:prstGeom prst="rect">
            <a:avLst/>
          </a:prstGeom>
        </p:spPr>
      </p:pic>
      <p:sp>
        <p:nvSpPr>
          <p:cNvPr id="2" name="Title 1"/>
          <p:cNvSpPr>
            <a:spLocks noGrp="1"/>
          </p:cNvSpPr>
          <p:nvPr>
            <p:ph type="title"/>
          </p:nvPr>
        </p:nvSpPr>
        <p:spPr/>
        <p:txBody>
          <a:bodyPr>
            <a:normAutofit/>
          </a:bodyPr>
          <a:lstStyle/>
          <a:p>
            <a:r>
              <a:rPr lang="en-US" sz="3200" dirty="0">
                <a:latin typeface="Myriad Pro" panose="020B0503030403020204" pitchFamily="34" charset="0"/>
              </a:rPr>
              <a:t>Describing the acoustic structure of song</a:t>
            </a:r>
          </a:p>
        </p:txBody>
      </p:sp>
      <p:pic>
        <p:nvPicPr>
          <p:cNvPr id="12" name="Picture 11"/>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57494" y="2256069"/>
            <a:ext cx="945492" cy="797358"/>
          </a:xfrm>
          <a:prstGeom prst="rect">
            <a:avLst/>
          </a:prstGeom>
        </p:spPr>
      </p:pic>
      <p:pic>
        <p:nvPicPr>
          <p:cNvPr id="14" name="Picture 13"/>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2044650" y="1446744"/>
            <a:ext cx="2705100" cy="2499710"/>
          </a:xfrm>
          <a:prstGeom prst="rect">
            <a:avLst/>
          </a:prstGeom>
        </p:spPr>
      </p:pic>
      <p:pic>
        <p:nvPicPr>
          <p:cNvPr id="8" name="Picture 7"/>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5658732" y="2096343"/>
            <a:ext cx="5695068" cy="4399707"/>
          </a:xfrm>
          <a:prstGeom prst="rect">
            <a:avLst/>
          </a:prstGeom>
        </p:spPr>
      </p:pic>
      <p:sp>
        <p:nvSpPr>
          <p:cNvPr id="16" name="TextBox 15"/>
          <p:cNvSpPr txBox="1"/>
          <p:nvPr/>
        </p:nvSpPr>
        <p:spPr>
          <a:xfrm rot="16200000">
            <a:off x="435214" y="5346115"/>
            <a:ext cx="546303" cy="369332"/>
          </a:xfrm>
          <a:prstGeom prst="rect">
            <a:avLst/>
          </a:prstGeom>
          <a:noFill/>
        </p:spPr>
        <p:txBody>
          <a:bodyPr wrap="none" rtlCol="0">
            <a:spAutoFit/>
          </a:bodyPr>
          <a:lstStyle/>
          <a:p>
            <a:r>
              <a:rPr lang="en-US" dirty="0">
                <a:latin typeface="Myriad Pro" panose="020B0503030403020204" pitchFamily="34" charset="0"/>
              </a:rPr>
              <a:t>kHz</a:t>
            </a:r>
          </a:p>
        </p:txBody>
      </p:sp>
      <p:sp>
        <p:nvSpPr>
          <p:cNvPr id="17" name="TextBox 16"/>
          <p:cNvSpPr txBox="1"/>
          <p:nvPr/>
        </p:nvSpPr>
        <p:spPr>
          <a:xfrm>
            <a:off x="1741362" y="1363337"/>
            <a:ext cx="303288" cy="369332"/>
          </a:xfrm>
          <a:prstGeom prst="rect">
            <a:avLst/>
          </a:prstGeom>
          <a:noFill/>
        </p:spPr>
        <p:txBody>
          <a:bodyPr wrap="none" rtlCol="0">
            <a:spAutoFit/>
          </a:bodyPr>
          <a:lstStyle/>
          <a:p>
            <a:pPr algn="r"/>
            <a:r>
              <a:rPr lang="en-US" dirty="0">
                <a:latin typeface="Myriad Pro" panose="020B0503030403020204" pitchFamily="34" charset="0"/>
              </a:rPr>
              <a:t>8</a:t>
            </a:r>
          </a:p>
        </p:txBody>
      </p:sp>
      <p:sp>
        <p:nvSpPr>
          <p:cNvPr id="18" name="TextBox 17"/>
          <p:cNvSpPr txBox="1"/>
          <p:nvPr/>
        </p:nvSpPr>
        <p:spPr>
          <a:xfrm>
            <a:off x="1741362" y="2496278"/>
            <a:ext cx="303288" cy="369332"/>
          </a:xfrm>
          <a:prstGeom prst="rect">
            <a:avLst/>
          </a:prstGeom>
          <a:noFill/>
        </p:spPr>
        <p:txBody>
          <a:bodyPr wrap="none" rtlCol="0">
            <a:spAutoFit/>
          </a:bodyPr>
          <a:lstStyle/>
          <a:p>
            <a:pPr algn="r"/>
            <a:r>
              <a:rPr lang="en-US" dirty="0">
                <a:latin typeface="Myriad Pro" panose="020B0503030403020204" pitchFamily="34" charset="0"/>
              </a:rPr>
              <a:t>4</a:t>
            </a:r>
          </a:p>
        </p:txBody>
      </p:sp>
      <p:sp>
        <p:nvSpPr>
          <p:cNvPr id="19" name="TextBox 18"/>
          <p:cNvSpPr txBox="1"/>
          <p:nvPr/>
        </p:nvSpPr>
        <p:spPr>
          <a:xfrm>
            <a:off x="1743188" y="3629219"/>
            <a:ext cx="303288" cy="369332"/>
          </a:xfrm>
          <a:prstGeom prst="rect">
            <a:avLst/>
          </a:prstGeom>
          <a:noFill/>
        </p:spPr>
        <p:txBody>
          <a:bodyPr wrap="none" rtlCol="0">
            <a:spAutoFit/>
          </a:bodyPr>
          <a:lstStyle/>
          <a:p>
            <a:pPr algn="r"/>
            <a:r>
              <a:rPr lang="en-US" dirty="0">
                <a:latin typeface="Myriad Pro" panose="020B0503030403020204" pitchFamily="34" charset="0"/>
              </a:rPr>
              <a:t>0</a:t>
            </a:r>
          </a:p>
        </p:txBody>
      </p:sp>
      <p:sp>
        <p:nvSpPr>
          <p:cNvPr id="20" name="TextBox 19"/>
          <p:cNvSpPr txBox="1"/>
          <p:nvPr/>
        </p:nvSpPr>
        <p:spPr>
          <a:xfrm rot="16200000">
            <a:off x="1352817" y="2500473"/>
            <a:ext cx="546303" cy="369332"/>
          </a:xfrm>
          <a:prstGeom prst="rect">
            <a:avLst/>
          </a:prstGeom>
          <a:noFill/>
        </p:spPr>
        <p:txBody>
          <a:bodyPr wrap="none" rtlCol="0">
            <a:spAutoFit/>
          </a:bodyPr>
          <a:lstStyle/>
          <a:p>
            <a:r>
              <a:rPr lang="en-US" dirty="0">
                <a:latin typeface="Myriad Pro" panose="020B0503030403020204" pitchFamily="34" charset="0"/>
              </a:rPr>
              <a:t>kHz</a:t>
            </a:r>
          </a:p>
        </p:txBody>
      </p:sp>
      <p:sp>
        <p:nvSpPr>
          <p:cNvPr id="21" name="TextBox 20"/>
          <p:cNvSpPr txBox="1"/>
          <p:nvPr/>
        </p:nvSpPr>
        <p:spPr>
          <a:xfrm>
            <a:off x="886834" y="4207074"/>
            <a:ext cx="303288" cy="369332"/>
          </a:xfrm>
          <a:prstGeom prst="rect">
            <a:avLst/>
          </a:prstGeom>
          <a:noFill/>
        </p:spPr>
        <p:txBody>
          <a:bodyPr wrap="none" rtlCol="0">
            <a:spAutoFit/>
          </a:bodyPr>
          <a:lstStyle/>
          <a:p>
            <a:pPr algn="r"/>
            <a:r>
              <a:rPr lang="en-US" dirty="0">
                <a:latin typeface="Myriad Pro" panose="020B0503030403020204" pitchFamily="34" charset="0"/>
              </a:rPr>
              <a:t>8</a:t>
            </a:r>
          </a:p>
        </p:txBody>
      </p:sp>
      <p:sp>
        <p:nvSpPr>
          <p:cNvPr id="22" name="TextBox 21"/>
          <p:cNvSpPr txBox="1"/>
          <p:nvPr/>
        </p:nvSpPr>
        <p:spPr>
          <a:xfrm>
            <a:off x="886834" y="5346115"/>
            <a:ext cx="303288" cy="369332"/>
          </a:xfrm>
          <a:prstGeom prst="rect">
            <a:avLst/>
          </a:prstGeom>
          <a:noFill/>
        </p:spPr>
        <p:txBody>
          <a:bodyPr wrap="none" rtlCol="0">
            <a:spAutoFit/>
          </a:bodyPr>
          <a:lstStyle/>
          <a:p>
            <a:pPr algn="r"/>
            <a:r>
              <a:rPr lang="en-US" dirty="0">
                <a:latin typeface="Myriad Pro" panose="020B0503030403020204" pitchFamily="34" charset="0"/>
              </a:rPr>
              <a:t>4</a:t>
            </a:r>
          </a:p>
        </p:txBody>
      </p:sp>
      <p:sp>
        <p:nvSpPr>
          <p:cNvPr id="23" name="TextBox 22"/>
          <p:cNvSpPr txBox="1"/>
          <p:nvPr/>
        </p:nvSpPr>
        <p:spPr>
          <a:xfrm>
            <a:off x="888660" y="6337054"/>
            <a:ext cx="303288" cy="369332"/>
          </a:xfrm>
          <a:prstGeom prst="rect">
            <a:avLst/>
          </a:prstGeom>
          <a:noFill/>
        </p:spPr>
        <p:txBody>
          <a:bodyPr wrap="none" rtlCol="0">
            <a:spAutoFit/>
          </a:bodyPr>
          <a:lstStyle/>
          <a:p>
            <a:pPr algn="r"/>
            <a:r>
              <a:rPr lang="en-US" dirty="0">
                <a:latin typeface="Myriad Pro" panose="020B0503030403020204" pitchFamily="34" charset="0"/>
              </a:rPr>
              <a:t>0</a:t>
            </a:r>
          </a:p>
        </p:txBody>
      </p:sp>
      <p:sp>
        <p:nvSpPr>
          <p:cNvPr id="24" name="TextBox 23"/>
          <p:cNvSpPr txBox="1"/>
          <p:nvPr/>
        </p:nvSpPr>
        <p:spPr>
          <a:xfrm>
            <a:off x="1893006" y="5079399"/>
            <a:ext cx="551754" cy="830997"/>
          </a:xfrm>
          <a:prstGeom prst="rect">
            <a:avLst/>
          </a:prstGeom>
          <a:noFill/>
        </p:spPr>
        <p:txBody>
          <a:bodyPr wrap="none" rtlCol="0">
            <a:spAutoFit/>
          </a:bodyPr>
          <a:lstStyle/>
          <a:p>
            <a:pPr algn="ctr"/>
            <a:r>
              <a:rPr lang="en-US" sz="4800" b="1" dirty="0">
                <a:latin typeface="Myriad Pro" panose="020B0503030403020204" pitchFamily="34" charset="0"/>
              </a:rPr>
              <a:t>+</a:t>
            </a:r>
          </a:p>
        </p:txBody>
      </p:sp>
      <p:sp>
        <p:nvSpPr>
          <p:cNvPr id="25" name="TextBox 24"/>
          <p:cNvSpPr txBox="1"/>
          <p:nvPr/>
        </p:nvSpPr>
        <p:spPr>
          <a:xfrm>
            <a:off x="2958903" y="5079398"/>
            <a:ext cx="551754" cy="830997"/>
          </a:xfrm>
          <a:prstGeom prst="rect">
            <a:avLst/>
          </a:prstGeom>
          <a:noFill/>
        </p:spPr>
        <p:txBody>
          <a:bodyPr wrap="none" rtlCol="0">
            <a:spAutoFit/>
          </a:bodyPr>
          <a:lstStyle/>
          <a:p>
            <a:pPr algn="ctr"/>
            <a:r>
              <a:rPr lang="en-US" sz="4800" b="1" dirty="0">
                <a:latin typeface="Myriad Pro" panose="020B0503030403020204" pitchFamily="34" charset="0"/>
              </a:rPr>
              <a:t>+</a:t>
            </a:r>
          </a:p>
        </p:txBody>
      </p:sp>
      <p:cxnSp>
        <p:nvCxnSpPr>
          <p:cNvPr id="30" name="Straight Connector 29"/>
          <p:cNvCxnSpPr/>
          <p:nvPr/>
        </p:nvCxnSpPr>
        <p:spPr>
          <a:xfrm>
            <a:off x="2044650" y="4010025"/>
            <a:ext cx="2051100" cy="0"/>
          </a:xfrm>
          <a:prstGeom prst="line">
            <a:avLst/>
          </a:prstGeom>
          <a:ln w="76200">
            <a:solidFill>
              <a:schemeClr val="tx1"/>
            </a:solidFill>
          </a:ln>
        </p:spPr>
        <p:style>
          <a:lnRef idx="1">
            <a:schemeClr val="dk1"/>
          </a:lnRef>
          <a:fillRef idx="0">
            <a:schemeClr val="dk1"/>
          </a:fillRef>
          <a:effectRef idx="0">
            <a:schemeClr val="dk1"/>
          </a:effectRef>
          <a:fontRef idx="minor">
            <a:schemeClr val="tx1"/>
          </a:fontRef>
        </p:style>
      </p:cxnSp>
      <p:sp>
        <p:nvSpPr>
          <p:cNvPr id="31" name="TextBox 30"/>
          <p:cNvSpPr txBox="1"/>
          <p:nvPr/>
        </p:nvSpPr>
        <p:spPr>
          <a:xfrm>
            <a:off x="1967378" y="3988958"/>
            <a:ext cx="873957" cy="369332"/>
          </a:xfrm>
          <a:prstGeom prst="rect">
            <a:avLst/>
          </a:prstGeom>
          <a:noFill/>
        </p:spPr>
        <p:txBody>
          <a:bodyPr wrap="none" rtlCol="0">
            <a:spAutoFit/>
          </a:bodyPr>
          <a:lstStyle/>
          <a:p>
            <a:r>
              <a:rPr lang="en-US" dirty="0">
                <a:latin typeface="Myriad Pro" panose="020B0503030403020204" pitchFamily="34" charset="0"/>
              </a:rPr>
              <a:t>250 ms</a:t>
            </a:r>
          </a:p>
        </p:txBody>
      </p:sp>
      <p:sp>
        <p:nvSpPr>
          <p:cNvPr id="32" name="TextBox 31"/>
          <p:cNvSpPr txBox="1"/>
          <p:nvPr/>
        </p:nvSpPr>
        <p:spPr>
          <a:xfrm>
            <a:off x="6968950" y="1322706"/>
            <a:ext cx="4087914" cy="830997"/>
          </a:xfrm>
          <a:prstGeom prst="rect">
            <a:avLst/>
          </a:prstGeom>
          <a:noFill/>
        </p:spPr>
        <p:txBody>
          <a:bodyPr wrap="none" rtlCol="0">
            <a:spAutoFit/>
          </a:bodyPr>
          <a:lstStyle/>
          <a:p>
            <a:pPr marL="457200" indent="-457200">
              <a:buAutoNum type="arabicPeriod"/>
            </a:pPr>
            <a:r>
              <a:rPr lang="en-US" sz="2400" b="1" dirty="0">
                <a:latin typeface="Myriad Pro" panose="020B0503030403020204" pitchFamily="34" charset="0"/>
              </a:rPr>
              <a:t>Density </a:t>
            </a:r>
            <a:r>
              <a:rPr lang="en-US" sz="2400" dirty="0">
                <a:latin typeface="Myriad Pro" panose="020B0503030403020204" pitchFamily="34" charset="0"/>
              </a:rPr>
              <a:t>of harmonics</a:t>
            </a:r>
          </a:p>
          <a:p>
            <a:pPr marL="457200" indent="-457200">
              <a:buAutoNum type="arabicPeriod"/>
            </a:pPr>
            <a:r>
              <a:rPr lang="en-US" sz="2400" b="1" dirty="0">
                <a:latin typeface="Myriad Pro" panose="020B0503030403020204" pitchFamily="34" charset="0"/>
              </a:rPr>
              <a:t>Change </a:t>
            </a:r>
            <a:r>
              <a:rPr lang="en-US" sz="2400" dirty="0">
                <a:latin typeface="Myriad Pro" panose="020B0503030403020204" pitchFamily="34" charset="0"/>
              </a:rPr>
              <a:t>in freq. </a:t>
            </a:r>
            <a:r>
              <a:rPr lang="en-US" sz="2400" b="1" dirty="0">
                <a:latin typeface="Myriad Pro" panose="020B0503030403020204" pitchFamily="34" charset="0"/>
              </a:rPr>
              <a:t>over</a:t>
            </a:r>
            <a:r>
              <a:rPr lang="en-US" sz="2400" dirty="0">
                <a:latin typeface="Myriad Pro" panose="020B0503030403020204" pitchFamily="34" charset="0"/>
              </a:rPr>
              <a:t> </a:t>
            </a:r>
            <a:r>
              <a:rPr lang="en-US" sz="2400" b="1" dirty="0">
                <a:latin typeface="Myriad Pro" panose="020B0503030403020204" pitchFamily="34" charset="0"/>
              </a:rPr>
              <a:t>time</a:t>
            </a:r>
            <a:endParaRPr lang="en-US" sz="2400" dirty="0">
              <a:latin typeface="Myriad Pro" panose="020B0503030403020204" pitchFamily="34" charset="0"/>
            </a:endParaRPr>
          </a:p>
        </p:txBody>
      </p:sp>
      <p:sp>
        <p:nvSpPr>
          <p:cNvPr id="6" name="Rectangle 5"/>
          <p:cNvSpPr/>
          <p:nvPr/>
        </p:nvSpPr>
        <p:spPr>
          <a:xfrm>
            <a:off x="8667167" y="3053427"/>
            <a:ext cx="800684" cy="811736"/>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10384812" y="3059759"/>
            <a:ext cx="800684" cy="81173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8654170" y="2190413"/>
            <a:ext cx="800684" cy="811736"/>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1199567" y="4391247"/>
            <a:ext cx="767456" cy="2244684"/>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2392326" y="4391247"/>
            <a:ext cx="601999" cy="224468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3439633" y="4391247"/>
            <a:ext cx="1695893" cy="2244684"/>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2033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487817" y="1431051"/>
            <a:ext cx="2936343" cy="2836433"/>
          </a:xfrm>
          <a:prstGeom prst="rect">
            <a:avLst/>
          </a:prstGeom>
        </p:spPr>
      </p:pic>
      <p:sp>
        <p:nvSpPr>
          <p:cNvPr id="2" name="Title 1"/>
          <p:cNvSpPr>
            <a:spLocks noGrp="1"/>
          </p:cNvSpPr>
          <p:nvPr>
            <p:ph type="title"/>
          </p:nvPr>
        </p:nvSpPr>
        <p:spPr>
          <a:xfrm>
            <a:off x="838200" y="365125"/>
            <a:ext cx="10571922" cy="1325563"/>
          </a:xfrm>
        </p:spPr>
        <p:txBody>
          <a:bodyPr>
            <a:normAutofit/>
          </a:bodyPr>
          <a:lstStyle/>
          <a:p>
            <a:r>
              <a:rPr lang="en-US" sz="3200" b="1" dirty="0">
                <a:latin typeface="Myriad Pro" panose="020B0503030403020204" pitchFamily="34" charset="0"/>
              </a:rPr>
              <a:t>Hypothesis: </a:t>
            </a:r>
            <a:r>
              <a:rPr lang="en-US" sz="3200" dirty="0">
                <a:latin typeface="Myriad Pro" panose="020B0503030403020204" pitchFamily="34" charset="0"/>
              </a:rPr>
              <a:t>Birds key in on acoustic structure of conspecifics</a:t>
            </a:r>
          </a:p>
        </p:txBody>
      </p:sp>
      <p:pic>
        <p:nvPicPr>
          <p:cNvPr id="3" name="Picture 2"/>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160890" y="3901724"/>
            <a:ext cx="6520625" cy="2639833"/>
          </a:xfrm>
          <a:prstGeom prst="rect">
            <a:avLst/>
          </a:prstGeom>
        </p:spPr>
      </p:pic>
      <p:pic>
        <p:nvPicPr>
          <p:cNvPr id="29" name="Picture 28"/>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4560689" y="1562051"/>
            <a:ext cx="2406256" cy="2274073"/>
          </a:xfrm>
          <a:prstGeom prst="rect">
            <a:avLst/>
          </a:prstGeom>
        </p:spPr>
      </p:pic>
      <p:pic>
        <p:nvPicPr>
          <p:cNvPr id="33" name="Picture 32"/>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1447692" y="1518320"/>
            <a:ext cx="2592125" cy="2361537"/>
          </a:xfrm>
          <a:prstGeom prst="rect">
            <a:avLst/>
          </a:prstGeom>
        </p:spPr>
      </p:pic>
      <p:pic>
        <p:nvPicPr>
          <p:cNvPr id="34" name="Picture 33"/>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10660215" y="2921841"/>
            <a:ext cx="820806" cy="858166"/>
          </a:xfrm>
          <a:prstGeom prst="rect">
            <a:avLst/>
          </a:prstGeom>
        </p:spPr>
      </p:pic>
      <p:pic>
        <p:nvPicPr>
          <p:cNvPr id="35" name="Picture 34"/>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10571994" y="1812404"/>
            <a:ext cx="1032851" cy="858166"/>
          </a:xfrm>
          <a:prstGeom prst="rect">
            <a:avLst/>
          </a:prstGeom>
        </p:spPr>
      </p:pic>
      <p:sp>
        <p:nvSpPr>
          <p:cNvPr id="36" name="Freeform 35"/>
          <p:cNvSpPr/>
          <p:nvPr/>
        </p:nvSpPr>
        <p:spPr>
          <a:xfrm>
            <a:off x="9539994" y="2205863"/>
            <a:ext cx="1045677" cy="331311"/>
          </a:xfrm>
          <a:custGeom>
            <a:avLst/>
            <a:gdLst>
              <a:gd name="connsiteX0" fmla="*/ 1045677 w 1045677"/>
              <a:gd name="connsiteY0" fmla="*/ 20365 h 331311"/>
              <a:gd name="connsiteX1" fmla="*/ 188427 w 1045677"/>
              <a:gd name="connsiteY1" fmla="*/ 29890 h 331311"/>
              <a:gd name="connsiteX2" fmla="*/ 36027 w 1045677"/>
              <a:gd name="connsiteY2" fmla="*/ 306115 h 331311"/>
            </a:gdLst>
            <a:ahLst/>
            <a:cxnLst>
              <a:cxn ang="0">
                <a:pos x="connsiteX0" y="connsiteY0"/>
              </a:cxn>
              <a:cxn ang="0">
                <a:pos x="connsiteX1" y="connsiteY1"/>
              </a:cxn>
              <a:cxn ang="0">
                <a:pos x="connsiteX2" y="connsiteY2"/>
              </a:cxn>
            </a:cxnLst>
            <a:rect l="l" t="t" r="r" b="b"/>
            <a:pathLst>
              <a:path w="1045677" h="331311">
                <a:moveTo>
                  <a:pt x="1045677" y="20365"/>
                </a:moveTo>
                <a:cubicBezTo>
                  <a:pt x="701189" y="1315"/>
                  <a:pt x="356702" y="-17735"/>
                  <a:pt x="188427" y="29890"/>
                </a:cubicBezTo>
                <a:cubicBezTo>
                  <a:pt x="20152" y="77515"/>
                  <a:pt x="-48111" y="426765"/>
                  <a:pt x="36027" y="306115"/>
                </a:cubicBezTo>
              </a:path>
            </a:pathLst>
          </a:custGeom>
          <a:noFill/>
          <a:ln w="571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p:nvSpPr>
        <p:spPr>
          <a:xfrm>
            <a:off x="8999476" y="2045253"/>
            <a:ext cx="1538570" cy="1295400"/>
          </a:xfrm>
          <a:custGeom>
            <a:avLst/>
            <a:gdLst>
              <a:gd name="connsiteX0" fmla="*/ 1538570 w 1538570"/>
              <a:gd name="connsiteY0" fmla="*/ 1295400 h 1295400"/>
              <a:gd name="connsiteX1" fmla="*/ 128870 w 1538570"/>
              <a:gd name="connsiteY1" fmla="*/ 733425 h 1295400"/>
              <a:gd name="connsiteX2" fmla="*/ 119345 w 1538570"/>
              <a:gd name="connsiteY2" fmla="*/ 0 h 1295400"/>
            </a:gdLst>
            <a:ahLst/>
            <a:cxnLst>
              <a:cxn ang="0">
                <a:pos x="connsiteX0" y="connsiteY0"/>
              </a:cxn>
              <a:cxn ang="0">
                <a:pos x="connsiteX1" y="connsiteY1"/>
              </a:cxn>
              <a:cxn ang="0">
                <a:pos x="connsiteX2" y="connsiteY2"/>
              </a:cxn>
            </a:cxnLst>
            <a:rect l="l" t="t" r="r" b="b"/>
            <a:pathLst>
              <a:path w="1538570" h="1295400">
                <a:moveTo>
                  <a:pt x="1538570" y="1295400"/>
                </a:moveTo>
                <a:cubicBezTo>
                  <a:pt x="951988" y="1122362"/>
                  <a:pt x="365407" y="949325"/>
                  <a:pt x="128870" y="733425"/>
                </a:cubicBezTo>
                <a:cubicBezTo>
                  <a:pt x="-107667" y="517525"/>
                  <a:pt x="38382" y="173037"/>
                  <a:pt x="119345" y="0"/>
                </a:cubicBezTo>
              </a:path>
            </a:pathLst>
          </a:custGeom>
          <a:noFill/>
          <a:ln w="571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4012405" y="1391313"/>
            <a:ext cx="565212" cy="476658"/>
          </a:xfrm>
          <a:prstGeom prst="rect">
            <a:avLst/>
          </a:prstGeom>
        </p:spPr>
      </p:pic>
      <p:pic>
        <p:nvPicPr>
          <p:cNvPr id="39" name="Picture 38"/>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7192420" y="1431051"/>
            <a:ext cx="565212" cy="476658"/>
          </a:xfrm>
          <a:prstGeom prst="rect">
            <a:avLst/>
          </a:prstGeom>
        </p:spPr>
      </p:pic>
      <p:pic>
        <p:nvPicPr>
          <p:cNvPr id="40" name="Picture 39"/>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918257" y="1431051"/>
            <a:ext cx="565212" cy="476658"/>
          </a:xfrm>
          <a:prstGeom prst="rect">
            <a:avLst/>
          </a:prstGeom>
        </p:spPr>
      </p:pic>
      <p:sp>
        <p:nvSpPr>
          <p:cNvPr id="41" name="TextBox 40"/>
          <p:cNvSpPr txBox="1"/>
          <p:nvPr/>
        </p:nvSpPr>
        <p:spPr>
          <a:xfrm>
            <a:off x="8582539" y="5881110"/>
            <a:ext cx="3402727" cy="830997"/>
          </a:xfrm>
          <a:prstGeom prst="rect">
            <a:avLst/>
          </a:prstGeom>
          <a:noFill/>
        </p:spPr>
        <p:txBody>
          <a:bodyPr wrap="none" rtlCol="0">
            <a:spAutoFit/>
          </a:bodyPr>
          <a:lstStyle/>
          <a:p>
            <a:pPr algn="r"/>
            <a:r>
              <a:rPr lang="en-US" sz="2400" dirty="0">
                <a:latin typeface="Myriad Pro" panose="020B0503030403020204" pitchFamily="34" charset="0"/>
              </a:rPr>
              <a:t>Photo credit:</a:t>
            </a:r>
          </a:p>
          <a:p>
            <a:pPr algn="r"/>
            <a:r>
              <a:rPr lang="en-US" sz="2400" dirty="0">
                <a:latin typeface="Myriad Pro" panose="020B0503030403020204" pitchFamily="34" charset="0"/>
              </a:rPr>
              <a:t>Col Roberts Photography</a:t>
            </a:r>
          </a:p>
        </p:txBody>
      </p:sp>
      <p:cxnSp>
        <p:nvCxnSpPr>
          <p:cNvPr id="6" name="Straight Arrow Connector 5"/>
          <p:cNvCxnSpPr/>
          <p:nvPr/>
        </p:nvCxnSpPr>
        <p:spPr>
          <a:xfrm flipV="1">
            <a:off x="5128591" y="3721210"/>
            <a:ext cx="2830665" cy="1375576"/>
          </a:xfrm>
          <a:prstGeom prst="straightConnector1">
            <a:avLst/>
          </a:prstGeom>
          <a:ln w="76200">
            <a:solidFill>
              <a:srgbClr val="F4792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4412855" y="3612496"/>
            <a:ext cx="850908" cy="1508144"/>
          </a:xfrm>
          <a:prstGeom prst="straightConnector1">
            <a:avLst/>
          </a:prstGeom>
          <a:ln w="76200">
            <a:solidFill>
              <a:srgbClr val="80808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flipV="1">
            <a:off x="3323645" y="3625795"/>
            <a:ext cx="835105" cy="1272208"/>
          </a:xfrm>
          <a:prstGeom prst="straightConnector1">
            <a:avLst/>
          </a:prstGeom>
          <a:ln w="76200">
            <a:solidFill>
              <a:srgbClr val="CD2BC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6952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yriad Pro" panose="020B0503030403020204" pitchFamily="34" charset="0"/>
              </a:rPr>
              <a:t>Where are songs encoded for conspecific communication?</a:t>
            </a:r>
          </a:p>
        </p:txBody>
      </p:sp>
      <p:pic>
        <p:nvPicPr>
          <p:cNvPr id="7" name="Picture 6" descr="zf headshot.jp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40222" y="4750676"/>
            <a:ext cx="2539259" cy="1924246"/>
          </a:xfrm>
          <a:prstGeom prst="rect">
            <a:avLst/>
          </a:prstGeom>
        </p:spPr>
      </p:pic>
      <p:pic>
        <p:nvPicPr>
          <p:cNvPr id="3" name="Picture 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942572" y="1518490"/>
            <a:ext cx="6946145" cy="5263647"/>
          </a:xfrm>
          <a:prstGeom prst="rect">
            <a:avLst/>
          </a:prstGeom>
        </p:spPr>
      </p:pic>
    </p:spTree>
    <p:extLst>
      <p:ext uri="{BB962C8B-B14F-4D97-AF65-F5344CB8AC3E}">
        <p14:creationId xmlns:p14="http://schemas.microsoft.com/office/powerpoint/2010/main" val="3832387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00864" y="1587830"/>
            <a:ext cx="7990272" cy="4697741"/>
          </a:xfrm>
          <a:prstGeom prst="rect">
            <a:avLst/>
          </a:prstGeom>
        </p:spPr>
      </p:pic>
      <p:sp>
        <p:nvSpPr>
          <p:cNvPr id="2" name="Title 1"/>
          <p:cNvSpPr>
            <a:spLocks noGrp="1"/>
          </p:cNvSpPr>
          <p:nvPr>
            <p:ph type="title"/>
          </p:nvPr>
        </p:nvSpPr>
        <p:spPr/>
        <p:txBody>
          <a:bodyPr>
            <a:normAutofit/>
          </a:bodyPr>
          <a:lstStyle/>
          <a:p>
            <a:r>
              <a:rPr lang="en-US" sz="3200" dirty="0">
                <a:latin typeface="Myriad Pro" panose="020B0503030403020204" pitchFamily="34" charset="0"/>
              </a:rPr>
              <a:t>NCM is necessary for perception that supports song learning</a:t>
            </a:r>
            <a:endParaRPr lang="en-US" sz="3200" dirty="0"/>
          </a:p>
        </p:txBody>
      </p:sp>
      <p:sp>
        <p:nvSpPr>
          <p:cNvPr id="5" name="TextBox 4"/>
          <p:cNvSpPr txBox="1"/>
          <p:nvPr/>
        </p:nvSpPr>
        <p:spPr>
          <a:xfrm>
            <a:off x="7320684" y="6285571"/>
            <a:ext cx="4676473" cy="461665"/>
          </a:xfrm>
          <a:prstGeom prst="rect">
            <a:avLst/>
          </a:prstGeom>
          <a:noFill/>
        </p:spPr>
        <p:txBody>
          <a:bodyPr wrap="none" rtlCol="0">
            <a:spAutoFit/>
          </a:bodyPr>
          <a:lstStyle/>
          <a:p>
            <a:pPr algn="r"/>
            <a:r>
              <a:rPr lang="en-US" sz="2400" dirty="0">
                <a:latin typeface="Myriad Pro" panose="020B0503030403020204" pitchFamily="34" charset="0"/>
              </a:rPr>
              <a:t>London &amp; Clayton 2008 </a:t>
            </a:r>
            <a:r>
              <a:rPr lang="en-US" sz="2400" i="1" dirty="0">
                <a:latin typeface="Myriad Pro" panose="020B0503030403020204" pitchFamily="34" charset="0"/>
              </a:rPr>
              <a:t>Nat. Neuro.</a:t>
            </a:r>
          </a:p>
        </p:txBody>
      </p:sp>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27764" y="1815062"/>
            <a:ext cx="945492" cy="797358"/>
          </a:xfrm>
          <a:prstGeom prst="rect">
            <a:avLst/>
          </a:prstGeom>
        </p:spPr>
      </p:pic>
    </p:spTree>
    <p:extLst>
      <p:ext uri="{BB962C8B-B14F-4D97-AF65-F5344CB8AC3E}">
        <p14:creationId xmlns:p14="http://schemas.microsoft.com/office/powerpoint/2010/main" val="12726600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885830" y="1791834"/>
            <a:ext cx="4201269" cy="3836307"/>
          </a:xfrm>
          <a:prstGeom prst="rect">
            <a:avLst/>
          </a:prstGeom>
        </p:spPr>
      </p:pic>
      <p:pic>
        <p:nvPicPr>
          <p:cNvPr id="13" name="Picture 12"/>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97576" y="1792749"/>
            <a:ext cx="5640831" cy="3836307"/>
          </a:xfrm>
          <a:prstGeom prst="rect">
            <a:avLst/>
          </a:prstGeom>
        </p:spPr>
      </p:pic>
      <p:sp>
        <p:nvSpPr>
          <p:cNvPr id="2" name="Title 1"/>
          <p:cNvSpPr>
            <a:spLocks noGrp="1"/>
          </p:cNvSpPr>
          <p:nvPr>
            <p:ph type="title"/>
          </p:nvPr>
        </p:nvSpPr>
        <p:spPr/>
        <p:txBody>
          <a:bodyPr>
            <a:normAutofit/>
          </a:bodyPr>
          <a:lstStyle/>
          <a:p>
            <a:r>
              <a:rPr lang="en-US" sz="3200" dirty="0">
                <a:latin typeface="Myriad Pro" panose="020B0503030403020204" pitchFamily="34" charset="0"/>
              </a:rPr>
              <a:t>NCM neurons respond selectively to conspecific song</a:t>
            </a:r>
            <a:endParaRPr lang="en-US" sz="3200" dirty="0"/>
          </a:p>
        </p:txBody>
      </p:sp>
      <p:sp>
        <p:nvSpPr>
          <p:cNvPr id="4" name="TextBox 3"/>
          <p:cNvSpPr txBox="1"/>
          <p:nvPr/>
        </p:nvSpPr>
        <p:spPr>
          <a:xfrm>
            <a:off x="7398782" y="6285571"/>
            <a:ext cx="4598375" cy="461665"/>
          </a:xfrm>
          <a:prstGeom prst="rect">
            <a:avLst/>
          </a:prstGeom>
          <a:noFill/>
        </p:spPr>
        <p:txBody>
          <a:bodyPr wrap="none" rtlCol="0">
            <a:spAutoFit/>
          </a:bodyPr>
          <a:lstStyle/>
          <a:p>
            <a:pPr algn="r"/>
            <a:r>
              <a:rPr lang="en-US" sz="2400" dirty="0">
                <a:latin typeface="Myriad Pro" panose="020B0503030403020204" pitchFamily="34" charset="0"/>
              </a:rPr>
              <a:t>Moore &amp; Woolley 2019 </a:t>
            </a:r>
            <a:r>
              <a:rPr lang="en-US" sz="2400" i="1" dirty="0">
                <a:latin typeface="Myriad Pro" panose="020B0503030403020204" pitchFamily="34" charset="0"/>
              </a:rPr>
              <a:t>Nat. Neuro.</a:t>
            </a:r>
          </a:p>
        </p:txBody>
      </p:sp>
      <p:pic>
        <p:nvPicPr>
          <p:cNvPr id="7" name="Picture 6"/>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68118" y="5731118"/>
            <a:ext cx="1791037" cy="809626"/>
          </a:xfrm>
          <a:prstGeom prst="rect">
            <a:avLst/>
          </a:prstGeom>
        </p:spPr>
      </p:pic>
      <p:pic>
        <p:nvPicPr>
          <p:cNvPr id="8" name="Picture 7"/>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4989550" y="5692205"/>
            <a:ext cx="1791037" cy="822895"/>
          </a:xfrm>
          <a:prstGeom prst="rect">
            <a:avLst/>
          </a:prstGeom>
        </p:spPr>
      </p:pic>
      <p:pic>
        <p:nvPicPr>
          <p:cNvPr id="10" name="Picture 9"/>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516804" y="1991987"/>
            <a:ext cx="712421" cy="600803"/>
          </a:xfrm>
          <a:prstGeom prst="rect">
            <a:avLst/>
          </a:prstGeom>
        </p:spPr>
      </p:pic>
      <p:pic>
        <p:nvPicPr>
          <p:cNvPr id="11" name="Picture 10"/>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4516803" y="2691654"/>
            <a:ext cx="712421" cy="600803"/>
          </a:xfrm>
          <a:prstGeom prst="rect">
            <a:avLst/>
          </a:prstGeom>
        </p:spPr>
      </p:pic>
      <p:sp>
        <p:nvSpPr>
          <p:cNvPr id="12" name="Rectangle 11"/>
          <p:cNvSpPr/>
          <p:nvPr/>
        </p:nvSpPr>
        <p:spPr>
          <a:xfrm>
            <a:off x="1621365" y="2224929"/>
            <a:ext cx="645586" cy="213471"/>
          </a:xfrm>
          <a:prstGeom prst="rect">
            <a:avLst/>
          </a:prstGeom>
          <a:solidFill>
            <a:srgbClr val="2183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512576" y="2224929"/>
            <a:ext cx="645586" cy="213471"/>
          </a:xfrm>
          <a:prstGeom prst="rect">
            <a:avLst/>
          </a:prstGeom>
          <a:solidFill>
            <a:srgbClr val="75FF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1428633" y="1393932"/>
            <a:ext cx="1031052" cy="830997"/>
          </a:xfrm>
          <a:prstGeom prst="rect">
            <a:avLst/>
          </a:prstGeom>
          <a:noFill/>
        </p:spPr>
        <p:txBody>
          <a:bodyPr wrap="none" rtlCol="0">
            <a:spAutoFit/>
          </a:bodyPr>
          <a:lstStyle/>
          <a:p>
            <a:pPr algn="ctr"/>
            <a:r>
              <a:rPr lang="en-US" sz="2400" b="1" dirty="0">
                <a:latin typeface="Myriad Pro" panose="020B0503030403020204" pitchFamily="34" charset="0"/>
              </a:rPr>
              <a:t>Sec.</a:t>
            </a:r>
          </a:p>
          <a:p>
            <a:pPr algn="ctr"/>
            <a:r>
              <a:rPr lang="en-US" sz="2400" b="1" dirty="0">
                <a:latin typeface="Myriad Pro" panose="020B0503030403020204" pitchFamily="34" charset="0"/>
              </a:rPr>
              <a:t>(NCM)</a:t>
            </a:r>
          </a:p>
        </p:txBody>
      </p:sp>
      <p:sp>
        <p:nvSpPr>
          <p:cNvPr id="17" name="TextBox 16"/>
          <p:cNvSpPr txBox="1"/>
          <p:nvPr/>
        </p:nvSpPr>
        <p:spPr>
          <a:xfrm>
            <a:off x="7369889" y="1726812"/>
            <a:ext cx="930960" cy="461665"/>
          </a:xfrm>
          <a:prstGeom prst="rect">
            <a:avLst/>
          </a:prstGeom>
          <a:noFill/>
        </p:spPr>
        <p:txBody>
          <a:bodyPr wrap="none" rtlCol="0">
            <a:spAutoFit/>
          </a:bodyPr>
          <a:lstStyle/>
          <a:p>
            <a:pPr algn="ctr"/>
            <a:r>
              <a:rPr lang="en-US" sz="2400" b="1" dirty="0">
                <a:latin typeface="Myriad Pro" panose="020B0503030403020204" pitchFamily="34" charset="0"/>
              </a:rPr>
              <a:t>Input</a:t>
            </a:r>
          </a:p>
        </p:txBody>
      </p:sp>
      <p:cxnSp>
        <p:nvCxnSpPr>
          <p:cNvPr id="18" name="Straight Arrow Connector 17"/>
          <p:cNvCxnSpPr/>
          <p:nvPr/>
        </p:nvCxnSpPr>
        <p:spPr>
          <a:xfrm>
            <a:off x="4429125" y="4381500"/>
            <a:ext cx="800099" cy="1247556"/>
          </a:xfrm>
          <a:prstGeom prst="straightConnector1">
            <a:avLst/>
          </a:prstGeom>
          <a:ln w="57150">
            <a:solidFill>
              <a:srgbClr val="F47920"/>
            </a:solidFill>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flipH="1">
            <a:off x="1390652" y="4457700"/>
            <a:ext cx="691699" cy="1228472"/>
          </a:xfrm>
          <a:prstGeom prst="straightConnector1">
            <a:avLst/>
          </a:prstGeom>
          <a:ln w="57150">
            <a:solidFill>
              <a:srgbClr val="959595"/>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165928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yriad Pro" panose="020B0503030403020204" pitchFamily="34" charset="0"/>
              </a:rPr>
              <a:t>How does acoustic structure in song drive selective coding?</a:t>
            </a:r>
          </a:p>
        </p:txBody>
      </p:sp>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46974" y="1571452"/>
            <a:ext cx="10565180" cy="5203060"/>
          </a:xfrm>
          <a:prstGeom prst="rect">
            <a:avLst/>
          </a:prstGeom>
        </p:spPr>
      </p:pic>
      <p:pic>
        <p:nvPicPr>
          <p:cNvPr id="9" name="Picture 8"/>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3769" y="5630160"/>
            <a:ext cx="781721" cy="659246"/>
          </a:xfrm>
          <a:prstGeom prst="rect">
            <a:avLst/>
          </a:prstGeom>
        </p:spPr>
      </p:pic>
      <p:pic>
        <p:nvPicPr>
          <p:cNvPr id="10" name="Picture 9"/>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63770" y="3729480"/>
            <a:ext cx="781721" cy="659246"/>
          </a:xfrm>
          <a:prstGeom prst="rect">
            <a:avLst/>
          </a:prstGeom>
        </p:spPr>
      </p:pic>
      <p:pic>
        <p:nvPicPr>
          <p:cNvPr id="11" name="Picture 10"/>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63770" y="1828800"/>
            <a:ext cx="781721" cy="659246"/>
          </a:xfrm>
          <a:prstGeom prst="rect">
            <a:avLst/>
          </a:prstGeom>
        </p:spPr>
      </p:pic>
    </p:spTree>
    <p:extLst>
      <p:ext uri="{BB962C8B-B14F-4D97-AF65-F5344CB8AC3E}">
        <p14:creationId xmlns:p14="http://schemas.microsoft.com/office/powerpoint/2010/main" val="254321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yriad Pro" panose="020B0503030403020204" pitchFamily="34" charset="0"/>
              </a:rPr>
              <a:t>I record activity of single neurons in NCM</a:t>
            </a:r>
          </a:p>
        </p:txBody>
      </p:sp>
      <p:pic>
        <p:nvPicPr>
          <p:cNvPr id="8" name="Picture 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40869" y="1509451"/>
            <a:ext cx="4504842" cy="5169844"/>
          </a:xfrm>
          <a:prstGeom prst="rect">
            <a:avLst/>
          </a:prstGeom>
        </p:spPr>
      </p:pic>
      <p:pic>
        <p:nvPicPr>
          <p:cNvPr id="4" name="Picture 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5200153" y="1509451"/>
            <a:ext cx="2584174" cy="2609325"/>
          </a:xfrm>
          <a:prstGeom prst="rect">
            <a:avLst/>
          </a:prstGeom>
        </p:spPr>
      </p:pic>
      <p:pic>
        <p:nvPicPr>
          <p:cNvPr id="5" name="Picture 4"/>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5184249" y="4142629"/>
            <a:ext cx="2584175" cy="2536665"/>
          </a:xfrm>
          <a:prstGeom prst="rect">
            <a:avLst/>
          </a:prstGeom>
        </p:spPr>
      </p:pic>
      <p:pic>
        <p:nvPicPr>
          <p:cNvPr id="6" name="Picture 5"/>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7887693" y="1509450"/>
            <a:ext cx="3863437" cy="3666849"/>
          </a:xfrm>
          <a:prstGeom prst="rect">
            <a:avLst/>
          </a:prstGeom>
        </p:spPr>
      </p:pic>
      <p:pic>
        <p:nvPicPr>
          <p:cNvPr id="7" name="Picture 6"/>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7863840" y="5192202"/>
            <a:ext cx="3887291" cy="1487091"/>
          </a:xfrm>
          <a:prstGeom prst="rect">
            <a:avLst/>
          </a:prstGeom>
        </p:spPr>
      </p:pic>
    </p:spTree>
    <p:extLst>
      <p:ext uri="{BB962C8B-B14F-4D97-AF65-F5344CB8AC3E}">
        <p14:creationId xmlns:p14="http://schemas.microsoft.com/office/powerpoint/2010/main" val="1904968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33293" y="2570995"/>
            <a:ext cx="4157977" cy="2499316"/>
          </a:xfrm>
          <a:prstGeom prst="rect">
            <a:avLst/>
          </a:prstGeom>
        </p:spPr>
      </p:pic>
      <p:pic>
        <p:nvPicPr>
          <p:cNvPr id="11" name="Picture 10"/>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738978" y="2570995"/>
            <a:ext cx="2910178" cy="2499316"/>
          </a:xfrm>
          <a:prstGeom prst="rect">
            <a:avLst/>
          </a:prstGeom>
        </p:spPr>
      </p:pic>
      <p:pic>
        <p:nvPicPr>
          <p:cNvPr id="12" name="Picture 11"/>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7688911" y="2570995"/>
            <a:ext cx="2864789" cy="2499316"/>
          </a:xfrm>
          <a:prstGeom prst="rect">
            <a:avLst/>
          </a:prstGeom>
        </p:spPr>
      </p:pic>
      <p:sp>
        <p:nvSpPr>
          <p:cNvPr id="2" name="Title 1"/>
          <p:cNvSpPr>
            <a:spLocks noGrp="1"/>
          </p:cNvSpPr>
          <p:nvPr>
            <p:ph type="title"/>
          </p:nvPr>
        </p:nvSpPr>
        <p:spPr/>
        <p:txBody>
          <a:bodyPr>
            <a:normAutofit/>
          </a:bodyPr>
          <a:lstStyle/>
          <a:p>
            <a:r>
              <a:rPr lang="en-US" sz="3200" dirty="0">
                <a:latin typeface="Myriad Pro" panose="020B0503030403020204" pitchFamily="34" charset="0"/>
              </a:rPr>
              <a:t>NCM neurons respond best to conspecific song… but also to some different-species songs</a:t>
            </a:r>
          </a:p>
        </p:txBody>
      </p:sp>
      <p:cxnSp>
        <p:nvCxnSpPr>
          <p:cNvPr id="8" name="Straight Arrow Connector 7"/>
          <p:cNvCxnSpPr/>
          <p:nvPr/>
        </p:nvCxnSpPr>
        <p:spPr>
          <a:xfrm>
            <a:off x="2386236" y="2570995"/>
            <a:ext cx="0" cy="279557"/>
          </a:xfrm>
          <a:prstGeom prst="straightConnector1">
            <a:avLst/>
          </a:prstGeom>
          <a:ln w="101600">
            <a:solidFill>
              <a:srgbClr val="F4792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6597492" y="2316587"/>
            <a:ext cx="0" cy="279557"/>
          </a:xfrm>
          <a:prstGeom prst="straightConnector1">
            <a:avLst/>
          </a:prstGeom>
          <a:ln w="101600">
            <a:solidFill>
              <a:srgbClr val="CD2BC5"/>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9955172" y="2176809"/>
            <a:ext cx="0" cy="279557"/>
          </a:xfrm>
          <a:prstGeom prst="straightConnector1">
            <a:avLst/>
          </a:prstGeom>
          <a:ln w="101600">
            <a:solidFill>
              <a:srgbClr val="2BCD33"/>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557621" y="5070311"/>
            <a:ext cx="945492" cy="797358"/>
          </a:xfrm>
          <a:prstGeom prst="rect">
            <a:avLst/>
          </a:prstGeom>
        </p:spPr>
      </p:pic>
      <p:pic>
        <p:nvPicPr>
          <p:cNvPr id="4" name="Picture 3"/>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632950" y="5070311"/>
            <a:ext cx="945492" cy="797358"/>
          </a:xfrm>
          <a:prstGeom prst="rect">
            <a:avLst/>
          </a:prstGeom>
        </p:spPr>
      </p:pic>
      <p:pic>
        <p:nvPicPr>
          <p:cNvPr id="5" name="Picture 4"/>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2543777" y="5070311"/>
            <a:ext cx="945492" cy="797358"/>
          </a:xfrm>
          <a:prstGeom prst="rect">
            <a:avLst/>
          </a:prstGeom>
        </p:spPr>
      </p:pic>
    </p:spTree>
    <p:extLst>
      <p:ext uri="{BB962C8B-B14F-4D97-AF65-F5344CB8AC3E}">
        <p14:creationId xmlns:p14="http://schemas.microsoft.com/office/powerpoint/2010/main" val="41171155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33293" y="2570995"/>
            <a:ext cx="4157977" cy="2499316"/>
          </a:xfrm>
          <a:prstGeom prst="rect">
            <a:avLst/>
          </a:prstGeom>
        </p:spPr>
      </p:pic>
      <p:pic>
        <p:nvPicPr>
          <p:cNvPr id="11" name="Picture 10"/>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738978" y="2570995"/>
            <a:ext cx="2910178" cy="2499316"/>
          </a:xfrm>
          <a:prstGeom prst="rect">
            <a:avLst/>
          </a:prstGeom>
        </p:spPr>
      </p:pic>
      <p:pic>
        <p:nvPicPr>
          <p:cNvPr id="12" name="Picture 11"/>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7688911" y="2570995"/>
            <a:ext cx="2864789" cy="2499316"/>
          </a:xfrm>
          <a:prstGeom prst="rect">
            <a:avLst/>
          </a:prstGeom>
        </p:spPr>
      </p:pic>
      <p:sp>
        <p:nvSpPr>
          <p:cNvPr id="2" name="Title 1"/>
          <p:cNvSpPr>
            <a:spLocks noGrp="1"/>
          </p:cNvSpPr>
          <p:nvPr>
            <p:ph type="title"/>
          </p:nvPr>
        </p:nvSpPr>
        <p:spPr/>
        <p:txBody>
          <a:bodyPr>
            <a:normAutofit/>
          </a:bodyPr>
          <a:lstStyle/>
          <a:p>
            <a:r>
              <a:rPr lang="en-US" sz="3200" dirty="0">
                <a:latin typeface="Myriad Pro" panose="020B0503030403020204" pitchFamily="34" charset="0"/>
              </a:rPr>
              <a:t>NCM neurons respond best to conspecific song… but also to some different-species songs</a:t>
            </a:r>
          </a:p>
        </p:txBody>
      </p:sp>
      <p:cxnSp>
        <p:nvCxnSpPr>
          <p:cNvPr id="8" name="Straight Arrow Connector 7"/>
          <p:cNvCxnSpPr/>
          <p:nvPr/>
        </p:nvCxnSpPr>
        <p:spPr>
          <a:xfrm>
            <a:off x="2386236" y="2570995"/>
            <a:ext cx="0" cy="279557"/>
          </a:xfrm>
          <a:prstGeom prst="straightConnector1">
            <a:avLst/>
          </a:prstGeom>
          <a:ln w="101600">
            <a:solidFill>
              <a:srgbClr val="F4792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6597492" y="2316587"/>
            <a:ext cx="0" cy="279557"/>
          </a:xfrm>
          <a:prstGeom prst="straightConnector1">
            <a:avLst/>
          </a:prstGeom>
          <a:ln w="101600">
            <a:solidFill>
              <a:srgbClr val="CD2BC5"/>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9955172" y="2176809"/>
            <a:ext cx="0" cy="279557"/>
          </a:xfrm>
          <a:prstGeom prst="straightConnector1">
            <a:avLst/>
          </a:prstGeom>
          <a:ln w="101600">
            <a:solidFill>
              <a:srgbClr val="2BCD33"/>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557621" y="5070311"/>
            <a:ext cx="945492" cy="797358"/>
          </a:xfrm>
          <a:prstGeom prst="rect">
            <a:avLst/>
          </a:prstGeom>
        </p:spPr>
      </p:pic>
      <p:pic>
        <p:nvPicPr>
          <p:cNvPr id="4" name="Picture 3"/>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632950" y="5070311"/>
            <a:ext cx="945492" cy="797358"/>
          </a:xfrm>
          <a:prstGeom prst="rect">
            <a:avLst/>
          </a:prstGeom>
        </p:spPr>
      </p:pic>
      <p:pic>
        <p:nvPicPr>
          <p:cNvPr id="5" name="Picture 4"/>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2543777" y="5070311"/>
            <a:ext cx="945492" cy="797358"/>
          </a:xfrm>
          <a:prstGeom prst="rect">
            <a:avLst/>
          </a:prstGeom>
        </p:spPr>
      </p:pic>
      <p:pic>
        <p:nvPicPr>
          <p:cNvPr id="13" name="Picture 12"/>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4747988" y="1593650"/>
            <a:ext cx="1015344" cy="1376870"/>
          </a:xfrm>
          <a:prstGeom prst="rect">
            <a:avLst/>
          </a:prstGeom>
        </p:spPr>
      </p:pic>
      <p:pic>
        <p:nvPicPr>
          <p:cNvPr id="14" name="Picture 13"/>
          <p:cNvPicPr>
            <a:picLocks noChangeAspect="1"/>
          </p:cNvPicPr>
          <p:nvPr/>
        </p:nvPicPr>
        <p:blipFill rotWithShape="1">
          <a:blip r:embed="rId10" cstate="screen">
            <a:extLst>
              <a:ext uri="{28A0092B-C50C-407E-A947-70E740481C1C}">
                <a14:useLocalDpi xmlns:a14="http://schemas.microsoft.com/office/drawing/2010/main"/>
              </a:ext>
            </a:extLst>
          </a:blip>
          <a:srcRect/>
          <a:stretch/>
        </p:blipFill>
        <p:spPr>
          <a:xfrm>
            <a:off x="3733074" y="1599549"/>
            <a:ext cx="822165" cy="1361075"/>
          </a:xfrm>
          <a:prstGeom prst="rect">
            <a:avLst/>
          </a:prstGeom>
        </p:spPr>
      </p:pic>
      <p:pic>
        <p:nvPicPr>
          <p:cNvPr id="15" name="Picture 14"/>
          <p:cNvPicPr>
            <a:picLocks noChangeAspect="1"/>
          </p:cNvPicPr>
          <p:nvPr/>
        </p:nvPicPr>
        <p:blipFill rotWithShape="1">
          <a:blip r:embed="rId11" cstate="screen">
            <a:extLst>
              <a:ext uri="{28A0092B-C50C-407E-A947-70E740481C1C}">
                <a14:useLocalDpi xmlns:a14="http://schemas.microsoft.com/office/drawing/2010/main"/>
              </a:ext>
            </a:extLst>
          </a:blip>
          <a:srcRect/>
          <a:stretch/>
        </p:blipFill>
        <p:spPr>
          <a:xfrm>
            <a:off x="2941355" y="1586700"/>
            <a:ext cx="677731" cy="1361075"/>
          </a:xfrm>
          <a:prstGeom prst="rect">
            <a:avLst/>
          </a:prstGeom>
        </p:spPr>
      </p:pic>
      <p:pic>
        <p:nvPicPr>
          <p:cNvPr id="16" name="Picture 15"/>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1638192" y="1586701"/>
            <a:ext cx="1170317" cy="1352266"/>
          </a:xfrm>
          <a:prstGeom prst="rect">
            <a:avLst/>
          </a:prstGeom>
        </p:spPr>
      </p:pic>
      <p:cxnSp>
        <p:nvCxnSpPr>
          <p:cNvPr id="18" name="Straight Arrow Connector 17"/>
          <p:cNvCxnSpPr/>
          <p:nvPr/>
        </p:nvCxnSpPr>
        <p:spPr>
          <a:xfrm flipV="1">
            <a:off x="2472065" y="2965180"/>
            <a:ext cx="71712" cy="663934"/>
          </a:xfrm>
          <a:prstGeom prst="straightConnector1">
            <a:avLst/>
          </a:prstGeom>
          <a:ln w="76200">
            <a:solidFill>
              <a:srgbClr val="F4792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3317138" y="2973988"/>
            <a:ext cx="37807" cy="633797"/>
          </a:xfrm>
          <a:prstGeom prst="straightConnector1">
            <a:avLst/>
          </a:prstGeom>
          <a:ln w="76200">
            <a:solidFill>
              <a:srgbClr val="80808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3791033" y="2986837"/>
            <a:ext cx="337273" cy="576124"/>
          </a:xfrm>
          <a:prstGeom prst="straightConnector1">
            <a:avLst/>
          </a:prstGeom>
          <a:ln w="76200">
            <a:solidFill>
              <a:srgbClr val="CD2BC5"/>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4226322" y="2986837"/>
            <a:ext cx="888603" cy="1033582"/>
          </a:xfrm>
          <a:prstGeom prst="straightConnector1">
            <a:avLst/>
          </a:prstGeom>
          <a:ln w="76200">
            <a:solidFill>
              <a:srgbClr val="2BCD3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8165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yriad Pro" panose="020B0503030403020204" pitchFamily="34" charset="0"/>
              </a:rPr>
              <a:t>Ripple matrix links song acoustics to neural tuning</a:t>
            </a:r>
          </a:p>
        </p:txBody>
      </p:sp>
      <p:pic>
        <p:nvPicPr>
          <p:cNvPr id="13" name="Picture 1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19957" y="2486025"/>
            <a:ext cx="4179649" cy="3228975"/>
          </a:xfrm>
          <a:prstGeom prst="rect">
            <a:avLst/>
          </a:prstGeom>
        </p:spPr>
      </p:pic>
      <p:pic>
        <p:nvPicPr>
          <p:cNvPr id="3" name="Picture 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534121" y="1391511"/>
            <a:ext cx="2486873" cy="2605628"/>
          </a:xfrm>
          <a:prstGeom prst="rect">
            <a:avLst/>
          </a:prstGeom>
        </p:spPr>
      </p:pic>
      <p:pic>
        <p:nvPicPr>
          <p:cNvPr id="8" name="Picture 7"/>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7534121" y="4186237"/>
            <a:ext cx="2587889" cy="2589863"/>
          </a:xfrm>
          <a:prstGeom prst="rect">
            <a:avLst/>
          </a:prstGeom>
        </p:spPr>
      </p:pic>
      <p:cxnSp>
        <p:nvCxnSpPr>
          <p:cNvPr id="15" name="Straight Connector 14"/>
          <p:cNvCxnSpPr/>
          <p:nvPr/>
        </p:nvCxnSpPr>
        <p:spPr>
          <a:xfrm>
            <a:off x="4838700" y="4100512"/>
            <a:ext cx="6858000" cy="0"/>
          </a:xfrm>
          <a:prstGeom prst="line">
            <a:avLst/>
          </a:prstGeom>
          <a:ln w="38100">
            <a:prstDash val="dash"/>
          </a:ln>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4748213" y="3394411"/>
            <a:ext cx="2248629" cy="461665"/>
          </a:xfrm>
          <a:prstGeom prst="rect">
            <a:avLst/>
          </a:prstGeom>
          <a:noFill/>
        </p:spPr>
        <p:txBody>
          <a:bodyPr wrap="none" rtlCol="0">
            <a:spAutoFit/>
          </a:bodyPr>
          <a:lstStyle/>
          <a:p>
            <a:r>
              <a:rPr lang="en-US" sz="2400" b="1" dirty="0">
                <a:latin typeface="Myriad Pro" panose="020B0503030403020204" pitchFamily="34" charset="0"/>
              </a:rPr>
              <a:t>Song Acoustics</a:t>
            </a:r>
          </a:p>
        </p:txBody>
      </p:sp>
      <p:sp>
        <p:nvSpPr>
          <p:cNvPr id="20" name="TextBox 19"/>
          <p:cNvSpPr txBox="1"/>
          <p:nvPr/>
        </p:nvSpPr>
        <p:spPr>
          <a:xfrm>
            <a:off x="4748213" y="4288482"/>
            <a:ext cx="2105833" cy="461665"/>
          </a:xfrm>
          <a:prstGeom prst="rect">
            <a:avLst/>
          </a:prstGeom>
          <a:noFill/>
        </p:spPr>
        <p:txBody>
          <a:bodyPr wrap="none" rtlCol="0">
            <a:spAutoFit/>
          </a:bodyPr>
          <a:lstStyle/>
          <a:p>
            <a:r>
              <a:rPr lang="en-US" sz="2400" b="1" dirty="0">
                <a:latin typeface="Myriad Pro" panose="020B0503030403020204" pitchFamily="34" charset="0"/>
              </a:rPr>
              <a:t>Neural Tuning</a:t>
            </a:r>
          </a:p>
        </p:txBody>
      </p:sp>
      <p:pic>
        <p:nvPicPr>
          <p:cNvPr id="21" name="Picture 20"/>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5114376" y="1878657"/>
            <a:ext cx="1704975" cy="827779"/>
          </a:xfrm>
          <a:prstGeom prst="rect">
            <a:avLst/>
          </a:prstGeom>
        </p:spPr>
      </p:pic>
      <p:pic>
        <p:nvPicPr>
          <p:cNvPr id="23" name="Picture 22"/>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206051" y="4892564"/>
            <a:ext cx="1332951" cy="1644872"/>
          </a:xfrm>
          <a:prstGeom prst="rect">
            <a:avLst/>
          </a:prstGeom>
        </p:spPr>
      </p:pic>
      <p:cxnSp>
        <p:nvCxnSpPr>
          <p:cNvPr id="24" name="Straight Arrow Connector 23"/>
          <p:cNvCxnSpPr/>
          <p:nvPr/>
        </p:nvCxnSpPr>
        <p:spPr>
          <a:xfrm flipV="1">
            <a:off x="4399606" y="2343608"/>
            <a:ext cx="652478" cy="914539"/>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p:cNvCxnSpPr/>
          <p:nvPr/>
        </p:nvCxnSpPr>
        <p:spPr>
          <a:xfrm>
            <a:off x="6881643" y="2412794"/>
            <a:ext cx="557382" cy="22336"/>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p:cNvCxnSpPr/>
          <p:nvPr/>
        </p:nvCxnSpPr>
        <p:spPr>
          <a:xfrm>
            <a:off x="4399606" y="4865390"/>
            <a:ext cx="652478" cy="992027"/>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p:cNvCxnSpPr/>
          <p:nvPr/>
        </p:nvCxnSpPr>
        <p:spPr>
          <a:xfrm flipV="1">
            <a:off x="6757870" y="5613558"/>
            <a:ext cx="681155" cy="10144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pic>
        <p:nvPicPr>
          <p:cNvPr id="34" name="Picture 33"/>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10532994" y="2838738"/>
            <a:ext cx="820806" cy="858166"/>
          </a:xfrm>
          <a:prstGeom prst="rect">
            <a:avLst/>
          </a:prstGeom>
        </p:spPr>
      </p:pic>
      <p:pic>
        <p:nvPicPr>
          <p:cNvPr id="35" name="Picture 34"/>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444773" y="1729301"/>
            <a:ext cx="1032851" cy="858166"/>
          </a:xfrm>
          <a:prstGeom prst="rect">
            <a:avLst/>
          </a:prstGeom>
        </p:spPr>
      </p:pic>
      <p:sp>
        <p:nvSpPr>
          <p:cNvPr id="36" name="Freeform 35"/>
          <p:cNvSpPr/>
          <p:nvPr/>
        </p:nvSpPr>
        <p:spPr>
          <a:xfrm>
            <a:off x="9412773" y="2122760"/>
            <a:ext cx="1045677" cy="331311"/>
          </a:xfrm>
          <a:custGeom>
            <a:avLst/>
            <a:gdLst>
              <a:gd name="connsiteX0" fmla="*/ 1045677 w 1045677"/>
              <a:gd name="connsiteY0" fmla="*/ 20365 h 331311"/>
              <a:gd name="connsiteX1" fmla="*/ 188427 w 1045677"/>
              <a:gd name="connsiteY1" fmla="*/ 29890 h 331311"/>
              <a:gd name="connsiteX2" fmla="*/ 36027 w 1045677"/>
              <a:gd name="connsiteY2" fmla="*/ 306115 h 331311"/>
            </a:gdLst>
            <a:ahLst/>
            <a:cxnLst>
              <a:cxn ang="0">
                <a:pos x="connsiteX0" y="connsiteY0"/>
              </a:cxn>
              <a:cxn ang="0">
                <a:pos x="connsiteX1" y="connsiteY1"/>
              </a:cxn>
              <a:cxn ang="0">
                <a:pos x="connsiteX2" y="connsiteY2"/>
              </a:cxn>
            </a:cxnLst>
            <a:rect l="l" t="t" r="r" b="b"/>
            <a:pathLst>
              <a:path w="1045677" h="331311">
                <a:moveTo>
                  <a:pt x="1045677" y="20365"/>
                </a:moveTo>
                <a:cubicBezTo>
                  <a:pt x="701189" y="1315"/>
                  <a:pt x="356702" y="-17735"/>
                  <a:pt x="188427" y="29890"/>
                </a:cubicBezTo>
                <a:cubicBezTo>
                  <a:pt x="20152" y="77515"/>
                  <a:pt x="-48111" y="426765"/>
                  <a:pt x="36027" y="306115"/>
                </a:cubicBezTo>
              </a:path>
            </a:pathLst>
          </a:custGeom>
          <a:noFill/>
          <a:ln w="571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p:nvSpPr>
        <p:spPr>
          <a:xfrm>
            <a:off x="8872255" y="1962150"/>
            <a:ext cx="1538570" cy="1295400"/>
          </a:xfrm>
          <a:custGeom>
            <a:avLst/>
            <a:gdLst>
              <a:gd name="connsiteX0" fmla="*/ 1538570 w 1538570"/>
              <a:gd name="connsiteY0" fmla="*/ 1295400 h 1295400"/>
              <a:gd name="connsiteX1" fmla="*/ 128870 w 1538570"/>
              <a:gd name="connsiteY1" fmla="*/ 733425 h 1295400"/>
              <a:gd name="connsiteX2" fmla="*/ 119345 w 1538570"/>
              <a:gd name="connsiteY2" fmla="*/ 0 h 1295400"/>
            </a:gdLst>
            <a:ahLst/>
            <a:cxnLst>
              <a:cxn ang="0">
                <a:pos x="connsiteX0" y="connsiteY0"/>
              </a:cxn>
              <a:cxn ang="0">
                <a:pos x="connsiteX1" y="connsiteY1"/>
              </a:cxn>
              <a:cxn ang="0">
                <a:pos x="connsiteX2" y="connsiteY2"/>
              </a:cxn>
            </a:cxnLst>
            <a:rect l="l" t="t" r="r" b="b"/>
            <a:pathLst>
              <a:path w="1538570" h="1295400">
                <a:moveTo>
                  <a:pt x="1538570" y="1295400"/>
                </a:moveTo>
                <a:cubicBezTo>
                  <a:pt x="951988" y="1122362"/>
                  <a:pt x="365407" y="949325"/>
                  <a:pt x="128870" y="733425"/>
                </a:cubicBezTo>
                <a:cubicBezTo>
                  <a:pt x="-107667" y="517525"/>
                  <a:pt x="38382" y="173037"/>
                  <a:pt x="119345" y="0"/>
                </a:cubicBezTo>
              </a:path>
            </a:pathLst>
          </a:custGeom>
          <a:noFill/>
          <a:ln w="571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p:cNvPicPr>
            <a:picLocks noChangeAspect="1"/>
          </p:cNvPicPr>
          <p:nvPr/>
        </p:nvPicPr>
        <p:blipFill rotWithShape="1">
          <a:blip r:embed="rId10" cstate="screen">
            <a:extLst>
              <a:ext uri="{28A0092B-C50C-407E-A947-70E740481C1C}">
                <a14:useLocalDpi xmlns:a14="http://schemas.microsoft.com/office/drawing/2010/main"/>
              </a:ext>
            </a:extLst>
          </a:blip>
          <a:srcRect/>
          <a:stretch/>
        </p:blipFill>
        <p:spPr>
          <a:xfrm>
            <a:off x="10449824" y="4925632"/>
            <a:ext cx="1143645" cy="1240514"/>
          </a:xfrm>
          <a:prstGeom prst="rect">
            <a:avLst/>
          </a:prstGeom>
        </p:spPr>
      </p:pic>
      <p:sp>
        <p:nvSpPr>
          <p:cNvPr id="5" name="Freeform 4"/>
          <p:cNvSpPr/>
          <p:nvPr/>
        </p:nvSpPr>
        <p:spPr>
          <a:xfrm>
            <a:off x="8777557" y="4670722"/>
            <a:ext cx="1607127" cy="1044278"/>
          </a:xfrm>
          <a:custGeom>
            <a:avLst/>
            <a:gdLst>
              <a:gd name="connsiteX0" fmla="*/ 1607127 w 1607127"/>
              <a:gd name="connsiteY0" fmla="*/ 905164 h 1044278"/>
              <a:gd name="connsiteX1" fmla="*/ 489527 w 1607127"/>
              <a:gd name="connsiteY1" fmla="*/ 969818 h 1044278"/>
              <a:gd name="connsiteX2" fmla="*/ 0 w 1607127"/>
              <a:gd name="connsiteY2" fmla="*/ 0 h 1044278"/>
            </a:gdLst>
            <a:ahLst/>
            <a:cxnLst>
              <a:cxn ang="0">
                <a:pos x="connsiteX0" y="connsiteY0"/>
              </a:cxn>
              <a:cxn ang="0">
                <a:pos x="connsiteX1" y="connsiteY1"/>
              </a:cxn>
              <a:cxn ang="0">
                <a:pos x="connsiteX2" y="connsiteY2"/>
              </a:cxn>
            </a:cxnLst>
            <a:rect l="l" t="t" r="r" b="b"/>
            <a:pathLst>
              <a:path w="1607127" h="1044278">
                <a:moveTo>
                  <a:pt x="1607127" y="905164"/>
                </a:moveTo>
                <a:cubicBezTo>
                  <a:pt x="1182254" y="1012921"/>
                  <a:pt x="757382" y="1120679"/>
                  <a:pt x="489527" y="969818"/>
                </a:cubicBezTo>
                <a:cubicBezTo>
                  <a:pt x="221672" y="818957"/>
                  <a:pt x="92363" y="86206"/>
                  <a:pt x="0" y="0"/>
                </a:cubicBezTo>
              </a:path>
            </a:pathLst>
          </a:custGeom>
          <a:noFill/>
          <a:ln w="571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18198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6538663" y="2897186"/>
            <a:ext cx="2717091" cy="1973306"/>
          </a:xfrm>
          <a:prstGeom prst="rect">
            <a:avLst/>
          </a:prstGeom>
        </p:spPr>
      </p:pic>
      <p:sp>
        <p:nvSpPr>
          <p:cNvPr id="2" name="Title 1"/>
          <p:cNvSpPr>
            <a:spLocks noGrp="1"/>
          </p:cNvSpPr>
          <p:nvPr>
            <p:ph type="title"/>
          </p:nvPr>
        </p:nvSpPr>
        <p:spPr/>
        <p:txBody>
          <a:bodyPr>
            <a:normAutofit/>
          </a:bodyPr>
          <a:lstStyle/>
          <a:p>
            <a:r>
              <a:rPr lang="en-US" sz="3200" dirty="0">
                <a:latin typeface="Myriad Pro" panose="020B0503030403020204" pitchFamily="34" charset="0"/>
              </a:rPr>
              <a:t>Ripple responses reveal tuning to acoustic structure</a:t>
            </a:r>
          </a:p>
        </p:txBody>
      </p:sp>
      <p:sp>
        <p:nvSpPr>
          <p:cNvPr id="6" name="TextBox 5"/>
          <p:cNvSpPr txBox="1"/>
          <p:nvPr/>
        </p:nvSpPr>
        <p:spPr>
          <a:xfrm>
            <a:off x="2165585" y="2467865"/>
            <a:ext cx="1940018" cy="461665"/>
          </a:xfrm>
          <a:prstGeom prst="rect">
            <a:avLst/>
          </a:prstGeom>
          <a:noFill/>
        </p:spPr>
        <p:txBody>
          <a:bodyPr wrap="none" rtlCol="0">
            <a:spAutoFit/>
          </a:bodyPr>
          <a:lstStyle/>
          <a:p>
            <a:r>
              <a:rPr lang="en-US" sz="2400" dirty="0">
                <a:latin typeface="Myriad Pro" panose="020B0503030403020204" pitchFamily="34" charset="0"/>
              </a:rPr>
              <a:t>Neural Tuning</a:t>
            </a:r>
          </a:p>
        </p:txBody>
      </p:sp>
      <p:sp>
        <p:nvSpPr>
          <p:cNvPr id="7" name="TextBox 6"/>
          <p:cNvSpPr txBox="1"/>
          <p:nvPr/>
        </p:nvSpPr>
        <p:spPr>
          <a:xfrm>
            <a:off x="6893893" y="2476299"/>
            <a:ext cx="2094099" cy="461665"/>
          </a:xfrm>
          <a:prstGeom prst="rect">
            <a:avLst/>
          </a:prstGeom>
          <a:noFill/>
        </p:spPr>
        <p:txBody>
          <a:bodyPr wrap="none" rtlCol="0">
            <a:spAutoFit/>
          </a:bodyPr>
          <a:lstStyle/>
          <a:p>
            <a:r>
              <a:rPr lang="en-US" sz="2400" dirty="0">
                <a:latin typeface="Myriad Pro" panose="020B0503030403020204" pitchFamily="34" charset="0"/>
              </a:rPr>
              <a:t>Song Acoustics</a:t>
            </a:r>
          </a:p>
        </p:txBody>
      </p:sp>
      <p:pic>
        <p:nvPicPr>
          <p:cNvPr id="8" name="Picture 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952576" y="2888738"/>
            <a:ext cx="2366037" cy="2047875"/>
          </a:xfrm>
          <a:prstGeom prst="rect">
            <a:avLst/>
          </a:prstGeom>
        </p:spPr>
      </p:pic>
      <p:cxnSp>
        <p:nvCxnSpPr>
          <p:cNvPr id="13" name="Straight Arrow Connector 12"/>
          <p:cNvCxnSpPr/>
          <p:nvPr/>
        </p:nvCxnSpPr>
        <p:spPr>
          <a:xfrm flipV="1">
            <a:off x="4476750" y="3686175"/>
            <a:ext cx="1829558" cy="9526"/>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4646774" y="5478606"/>
            <a:ext cx="1447832" cy="584775"/>
          </a:xfrm>
          <a:prstGeom prst="rect">
            <a:avLst/>
          </a:prstGeom>
          <a:noFill/>
        </p:spPr>
        <p:txBody>
          <a:bodyPr wrap="none" rtlCol="0">
            <a:spAutoFit/>
          </a:bodyPr>
          <a:lstStyle/>
          <a:p>
            <a:r>
              <a:rPr lang="en-US" sz="3200" i="1" dirty="0">
                <a:latin typeface="Myriad Pro" panose="020B0503030403020204"/>
              </a:rPr>
              <a:t>r</a:t>
            </a:r>
            <a:r>
              <a:rPr lang="en-US" sz="3200" dirty="0">
                <a:latin typeface="Myriad Pro" panose="020B0503030403020204"/>
              </a:rPr>
              <a:t> = 0.18</a:t>
            </a:r>
          </a:p>
        </p:txBody>
      </p:sp>
      <p:cxnSp>
        <p:nvCxnSpPr>
          <p:cNvPr id="14" name="Straight Arrow Connector 13"/>
          <p:cNvCxnSpPr/>
          <p:nvPr/>
        </p:nvCxnSpPr>
        <p:spPr>
          <a:xfrm>
            <a:off x="4476750" y="3695700"/>
            <a:ext cx="1829558" cy="171450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pic>
        <p:nvPicPr>
          <p:cNvPr id="17" name="Picture 1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7164656" y="1571623"/>
            <a:ext cx="1704975" cy="827779"/>
          </a:xfrm>
          <a:prstGeom prst="rect">
            <a:avLst/>
          </a:prstGeom>
        </p:spPr>
      </p:pic>
      <p:pic>
        <p:nvPicPr>
          <p:cNvPr id="18" name="Picture 17"/>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752915" y="1297913"/>
            <a:ext cx="902467" cy="1113651"/>
          </a:xfrm>
          <a:prstGeom prst="rect">
            <a:avLst/>
          </a:prstGeom>
        </p:spPr>
      </p:pic>
      <p:sp>
        <p:nvSpPr>
          <p:cNvPr id="19" name="TextBox 18"/>
          <p:cNvSpPr txBox="1"/>
          <p:nvPr/>
        </p:nvSpPr>
        <p:spPr>
          <a:xfrm>
            <a:off x="4646774" y="2937964"/>
            <a:ext cx="1447832" cy="584775"/>
          </a:xfrm>
          <a:prstGeom prst="rect">
            <a:avLst/>
          </a:prstGeom>
          <a:noFill/>
        </p:spPr>
        <p:txBody>
          <a:bodyPr wrap="none" rtlCol="0">
            <a:spAutoFit/>
          </a:bodyPr>
          <a:lstStyle/>
          <a:p>
            <a:r>
              <a:rPr lang="en-US" sz="3200" i="1" dirty="0">
                <a:latin typeface="Myriad Pro" panose="020B0503030403020204"/>
              </a:rPr>
              <a:t>r</a:t>
            </a:r>
            <a:r>
              <a:rPr lang="en-US" sz="3200" dirty="0">
                <a:latin typeface="Myriad Pro" panose="020B0503030403020204"/>
              </a:rPr>
              <a:t> = 0.79</a:t>
            </a:r>
          </a:p>
        </p:txBody>
      </p:sp>
      <p:pic>
        <p:nvPicPr>
          <p:cNvPr id="20" name="Picture 19"/>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20739" y="3297021"/>
            <a:ext cx="945492" cy="797358"/>
          </a:xfrm>
          <a:prstGeom prst="rect">
            <a:avLst/>
          </a:prstGeom>
        </p:spPr>
      </p:pic>
      <p:pic>
        <p:nvPicPr>
          <p:cNvPr id="21" name="Picture 20"/>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445639" y="3287496"/>
            <a:ext cx="945492" cy="797358"/>
          </a:xfrm>
          <a:prstGeom prst="rect">
            <a:avLst/>
          </a:prstGeom>
        </p:spPr>
      </p:pic>
      <p:sp>
        <p:nvSpPr>
          <p:cNvPr id="24" name="TextBox 23"/>
          <p:cNvSpPr txBox="1"/>
          <p:nvPr/>
        </p:nvSpPr>
        <p:spPr>
          <a:xfrm>
            <a:off x="4646774" y="1586291"/>
            <a:ext cx="1640129" cy="1077218"/>
          </a:xfrm>
          <a:prstGeom prst="rect">
            <a:avLst/>
          </a:prstGeom>
          <a:noFill/>
        </p:spPr>
        <p:txBody>
          <a:bodyPr wrap="none" rtlCol="0">
            <a:spAutoFit/>
          </a:bodyPr>
          <a:lstStyle/>
          <a:p>
            <a:pPr algn="ctr"/>
            <a:r>
              <a:rPr lang="en-US" sz="3200" b="1" dirty="0">
                <a:latin typeface="Myriad Pro" panose="020B0503030403020204" pitchFamily="34" charset="0"/>
              </a:rPr>
              <a:t>Ripple</a:t>
            </a:r>
          </a:p>
          <a:p>
            <a:pPr algn="ctr"/>
            <a:r>
              <a:rPr lang="en-US" sz="3200" b="1" dirty="0">
                <a:latin typeface="Myriad Pro" panose="020B0503030403020204" pitchFamily="34" charset="0"/>
              </a:rPr>
              <a:t>Overlap</a:t>
            </a:r>
          </a:p>
        </p:txBody>
      </p:sp>
      <p:pic>
        <p:nvPicPr>
          <p:cNvPr id="10" name="Picture 9"/>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6710816" y="4847480"/>
            <a:ext cx="2206191" cy="1940962"/>
          </a:xfrm>
          <a:prstGeom prst="rect">
            <a:avLst/>
          </a:prstGeom>
        </p:spPr>
      </p:pic>
      <p:pic>
        <p:nvPicPr>
          <p:cNvPr id="25" name="Picture 24"/>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9445639" y="5153438"/>
            <a:ext cx="945492" cy="797358"/>
          </a:xfrm>
          <a:prstGeom prst="rect">
            <a:avLst/>
          </a:prstGeom>
        </p:spPr>
      </p:pic>
    </p:spTree>
    <p:extLst>
      <p:ext uri="{BB962C8B-B14F-4D97-AF65-F5344CB8AC3E}">
        <p14:creationId xmlns:p14="http://schemas.microsoft.com/office/powerpoint/2010/main" val="7062247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64011" y="2612899"/>
            <a:ext cx="3844012" cy="3609939"/>
          </a:xfrm>
          <a:prstGeom prst="rect">
            <a:avLst/>
          </a:prstGeom>
        </p:spPr>
      </p:pic>
      <p:pic>
        <p:nvPicPr>
          <p:cNvPr id="17" name="Picture 16"/>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5615319" y="2598190"/>
            <a:ext cx="5241270" cy="3609939"/>
          </a:xfrm>
          <a:prstGeom prst="rect">
            <a:avLst/>
          </a:prstGeom>
        </p:spPr>
      </p:pic>
      <p:sp>
        <p:nvSpPr>
          <p:cNvPr id="2" name="Title 1"/>
          <p:cNvSpPr>
            <a:spLocks noGrp="1"/>
          </p:cNvSpPr>
          <p:nvPr>
            <p:ph type="title"/>
          </p:nvPr>
        </p:nvSpPr>
        <p:spPr/>
        <p:txBody>
          <a:bodyPr>
            <a:normAutofit/>
          </a:bodyPr>
          <a:lstStyle/>
          <a:p>
            <a:r>
              <a:rPr lang="en-US" sz="3200" dirty="0">
                <a:latin typeface="Myriad Pro" panose="020B0503030403020204" pitchFamily="34" charset="0"/>
              </a:rPr>
              <a:t>Tuning to acoustic structure explains song responses… sometimes</a:t>
            </a:r>
          </a:p>
        </p:txBody>
      </p:sp>
      <p:pic>
        <p:nvPicPr>
          <p:cNvPr id="5" name="Picture 4"/>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4324250" y="4938466"/>
            <a:ext cx="832929" cy="778843"/>
          </a:xfrm>
          <a:prstGeom prst="rect">
            <a:avLst/>
          </a:prstGeom>
        </p:spPr>
      </p:pic>
      <p:pic>
        <p:nvPicPr>
          <p:cNvPr id="6" name="Picture 5"/>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4308023" y="5796863"/>
            <a:ext cx="865382" cy="805887"/>
          </a:xfrm>
          <a:prstGeom prst="rect">
            <a:avLst/>
          </a:prstGeom>
        </p:spPr>
      </p:pic>
      <p:pic>
        <p:nvPicPr>
          <p:cNvPr id="7" name="Picture 6"/>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349133" y="1601233"/>
            <a:ext cx="1704975" cy="827779"/>
          </a:xfrm>
          <a:prstGeom prst="rect">
            <a:avLst/>
          </a:prstGeom>
        </p:spPr>
      </p:pic>
      <p:sp>
        <p:nvSpPr>
          <p:cNvPr id="3" name="TextBox 2"/>
          <p:cNvSpPr txBox="1"/>
          <p:nvPr/>
        </p:nvSpPr>
        <p:spPr>
          <a:xfrm>
            <a:off x="3256603" y="4419011"/>
            <a:ext cx="989373" cy="369332"/>
          </a:xfrm>
          <a:prstGeom prst="rect">
            <a:avLst/>
          </a:prstGeom>
          <a:noFill/>
        </p:spPr>
        <p:txBody>
          <a:bodyPr wrap="none" rtlCol="0">
            <a:spAutoFit/>
          </a:bodyPr>
          <a:lstStyle/>
          <a:p>
            <a:r>
              <a:rPr lang="en-US" b="1" i="1" dirty="0">
                <a:latin typeface="Myriad Pro" panose="020B0503030403020204" pitchFamily="34" charset="0"/>
              </a:rPr>
              <a:t>p</a:t>
            </a:r>
            <a:r>
              <a:rPr lang="en-US" b="1" dirty="0">
                <a:latin typeface="Myriad Pro" panose="020B0503030403020204" pitchFamily="34" charset="0"/>
              </a:rPr>
              <a:t> &lt; 0.05</a:t>
            </a:r>
          </a:p>
        </p:txBody>
      </p:sp>
      <p:sp>
        <p:nvSpPr>
          <p:cNvPr id="11" name="TextBox 10"/>
          <p:cNvSpPr txBox="1"/>
          <p:nvPr/>
        </p:nvSpPr>
        <p:spPr>
          <a:xfrm>
            <a:off x="10321571" y="4419011"/>
            <a:ext cx="497893" cy="369332"/>
          </a:xfrm>
          <a:prstGeom prst="rect">
            <a:avLst/>
          </a:prstGeom>
          <a:noFill/>
        </p:spPr>
        <p:txBody>
          <a:bodyPr wrap="none" rtlCol="0">
            <a:spAutoFit/>
          </a:bodyPr>
          <a:lstStyle/>
          <a:p>
            <a:r>
              <a:rPr lang="en-US" dirty="0" err="1">
                <a:latin typeface="Myriad Pro" panose="020B0503030403020204" pitchFamily="34" charset="0"/>
              </a:rPr>
              <a:t>n.s</a:t>
            </a:r>
            <a:r>
              <a:rPr lang="en-US" dirty="0">
                <a:latin typeface="Myriad Pro" panose="020B0503030403020204" pitchFamily="34" charset="0"/>
              </a:rPr>
              <a:t>.</a:t>
            </a:r>
          </a:p>
        </p:txBody>
      </p:sp>
      <p:pic>
        <p:nvPicPr>
          <p:cNvPr id="13" name="Picture 12"/>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9015058" y="1735987"/>
            <a:ext cx="945492" cy="797358"/>
          </a:xfrm>
          <a:prstGeom prst="rect">
            <a:avLst/>
          </a:prstGeom>
        </p:spPr>
      </p:pic>
      <p:pic>
        <p:nvPicPr>
          <p:cNvPr id="15" name="Picture 14"/>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287468" y="1755533"/>
            <a:ext cx="945492" cy="797358"/>
          </a:xfrm>
          <a:prstGeom prst="rect">
            <a:avLst/>
          </a:prstGeom>
        </p:spPr>
      </p:pic>
      <p:pic>
        <p:nvPicPr>
          <p:cNvPr id="16" name="Picture 15"/>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2421379" y="1735987"/>
            <a:ext cx="945492" cy="797358"/>
          </a:xfrm>
          <a:prstGeom prst="rect">
            <a:avLst/>
          </a:prstGeom>
        </p:spPr>
      </p:pic>
      <p:sp>
        <p:nvSpPr>
          <p:cNvPr id="18" name="TextBox 17"/>
          <p:cNvSpPr txBox="1"/>
          <p:nvPr/>
        </p:nvSpPr>
        <p:spPr>
          <a:xfrm>
            <a:off x="7246581" y="4422818"/>
            <a:ext cx="989373" cy="369332"/>
          </a:xfrm>
          <a:prstGeom prst="rect">
            <a:avLst/>
          </a:prstGeom>
          <a:noFill/>
        </p:spPr>
        <p:txBody>
          <a:bodyPr wrap="none" rtlCol="0">
            <a:spAutoFit/>
          </a:bodyPr>
          <a:lstStyle/>
          <a:p>
            <a:r>
              <a:rPr lang="en-US" b="1" i="1" dirty="0">
                <a:latin typeface="Myriad Pro" panose="020B0503030403020204" pitchFamily="34" charset="0"/>
              </a:rPr>
              <a:t>p</a:t>
            </a:r>
            <a:r>
              <a:rPr lang="en-US" b="1" dirty="0">
                <a:latin typeface="Myriad Pro" panose="020B0503030403020204" pitchFamily="34" charset="0"/>
              </a:rPr>
              <a:t> &lt; 0.05</a:t>
            </a:r>
          </a:p>
        </p:txBody>
      </p:sp>
      <p:pic>
        <p:nvPicPr>
          <p:cNvPr id="19" name="Picture 18"/>
          <p:cNvPicPr>
            <a:picLocks noChangeAspect="1"/>
          </p:cNvPicPr>
          <p:nvPr/>
        </p:nvPicPr>
        <p:blipFill rotWithShape="1">
          <a:blip r:embed="rId11" cstate="email">
            <a:extLst>
              <a:ext uri="{28A0092B-C50C-407E-A947-70E740481C1C}">
                <a14:useLocalDpi xmlns:a14="http://schemas.microsoft.com/office/drawing/2010/main"/>
              </a:ext>
            </a:extLst>
          </a:blip>
          <a:srcRect/>
          <a:stretch/>
        </p:blipFill>
        <p:spPr>
          <a:xfrm>
            <a:off x="9411419" y="2486439"/>
            <a:ext cx="2544793" cy="828137"/>
          </a:xfrm>
          <a:prstGeom prst="rect">
            <a:avLst/>
          </a:prstGeom>
        </p:spPr>
      </p:pic>
    </p:spTree>
    <p:extLst>
      <p:ext uri="{BB962C8B-B14F-4D97-AF65-F5344CB8AC3E}">
        <p14:creationId xmlns:p14="http://schemas.microsoft.com/office/powerpoint/2010/main" val="2498638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rotWithShape="1">
          <a:blip r:embed="rId3" cstate="email">
            <a:extLst>
              <a:ext uri="{28A0092B-C50C-407E-A947-70E740481C1C}">
                <a14:useLocalDpi xmlns:a14="http://schemas.microsoft.com/office/drawing/2010/main"/>
              </a:ext>
            </a:extLst>
          </a:blip>
          <a:srcRect r="-1040"/>
          <a:stretch/>
        </p:blipFill>
        <p:spPr>
          <a:xfrm>
            <a:off x="4707288" y="2552891"/>
            <a:ext cx="6967239" cy="3334049"/>
          </a:xfrm>
          <a:prstGeom prst="rect">
            <a:avLst/>
          </a:prstGeom>
        </p:spPr>
      </p:pic>
      <p:pic>
        <p:nvPicPr>
          <p:cNvPr id="4" name="Picture 3"/>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49133" y="2552891"/>
            <a:ext cx="4358155" cy="4213150"/>
          </a:xfrm>
          <a:prstGeom prst="rect">
            <a:avLst/>
          </a:prstGeom>
        </p:spPr>
      </p:pic>
      <p:sp>
        <p:nvSpPr>
          <p:cNvPr id="2" name="Title 1"/>
          <p:cNvSpPr>
            <a:spLocks noGrp="1"/>
          </p:cNvSpPr>
          <p:nvPr>
            <p:ph type="title"/>
          </p:nvPr>
        </p:nvSpPr>
        <p:spPr/>
        <p:txBody>
          <a:bodyPr>
            <a:normAutofit/>
          </a:bodyPr>
          <a:lstStyle/>
          <a:p>
            <a:r>
              <a:rPr lang="en-US" sz="3200" dirty="0">
                <a:latin typeface="Myriad Pro" panose="020B0503030403020204" pitchFamily="34" charset="0"/>
              </a:rPr>
              <a:t>Tuning to pitch alone explains song responses in the green species</a:t>
            </a:r>
          </a:p>
        </p:txBody>
      </p:sp>
      <p:pic>
        <p:nvPicPr>
          <p:cNvPr id="7" name="Picture 6"/>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370231" y="1998048"/>
            <a:ext cx="320199" cy="827779"/>
          </a:xfrm>
          <a:prstGeom prst="rect">
            <a:avLst/>
          </a:prstGeom>
        </p:spPr>
      </p:pic>
      <p:sp>
        <p:nvSpPr>
          <p:cNvPr id="3" name="TextBox 2"/>
          <p:cNvSpPr txBox="1"/>
          <p:nvPr/>
        </p:nvSpPr>
        <p:spPr>
          <a:xfrm>
            <a:off x="3366871" y="3011250"/>
            <a:ext cx="989373" cy="369332"/>
          </a:xfrm>
          <a:prstGeom prst="rect">
            <a:avLst/>
          </a:prstGeom>
          <a:noFill/>
        </p:spPr>
        <p:txBody>
          <a:bodyPr wrap="none" rtlCol="0">
            <a:spAutoFit/>
          </a:bodyPr>
          <a:lstStyle/>
          <a:p>
            <a:r>
              <a:rPr lang="en-US" b="1" i="1" dirty="0">
                <a:latin typeface="Myriad Pro" panose="020B0503030403020204" pitchFamily="34" charset="0"/>
              </a:rPr>
              <a:t>p</a:t>
            </a:r>
            <a:r>
              <a:rPr lang="en-US" b="1" dirty="0">
                <a:latin typeface="Myriad Pro" panose="020B0503030403020204" pitchFamily="34" charset="0"/>
              </a:rPr>
              <a:t> &lt; 0.05</a:t>
            </a:r>
          </a:p>
        </p:txBody>
      </p:sp>
      <p:pic>
        <p:nvPicPr>
          <p:cNvPr id="13" name="Picture 12"/>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015058" y="1735987"/>
            <a:ext cx="945492" cy="797358"/>
          </a:xfrm>
          <a:prstGeom prst="rect">
            <a:avLst/>
          </a:prstGeom>
        </p:spPr>
      </p:pic>
      <p:pic>
        <p:nvPicPr>
          <p:cNvPr id="15" name="Picture 14"/>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287468" y="1755533"/>
            <a:ext cx="945492" cy="797358"/>
          </a:xfrm>
          <a:prstGeom prst="rect">
            <a:avLst/>
          </a:prstGeom>
        </p:spPr>
      </p:pic>
      <p:pic>
        <p:nvPicPr>
          <p:cNvPr id="16" name="Picture 15"/>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2421379" y="1735987"/>
            <a:ext cx="945492" cy="797358"/>
          </a:xfrm>
          <a:prstGeom prst="rect">
            <a:avLst/>
          </a:prstGeom>
        </p:spPr>
      </p:pic>
      <p:sp>
        <p:nvSpPr>
          <p:cNvPr id="18" name="TextBox 17"/>
          <p:cNvSpPr txBox="1"/>
          <p:nvPr/>
        </p:nvSpPr>
        <p:spPr>
          <a:xfrm>
            <a:off x="7019743" y="2980917"/>
            <a:ext cx="989373" cy="369332"/>
          </a:xfrm>
          <a:prstGeom prst="rect">
            <a:avLst/>
          </a:prstGeom>
          <a:noFill/>
        </p:spPr>
        <p:txBody>
          <a:bodyPr wrap="none" rtlCol="0">
            <a:spAutoFit/>
          </a:bodyPr>
          <a:lstStyle/>
          <a:p>
            <a:r>
              <a:rPr lang="en-US" b="1" i="1" dirty="0">
                <a:latin typeface="Myriad Pro" panose="020B0503030403020204" pitchFamily="34" charset="0"/>
              </a:rPr>
              <a:t>p</a:t>
            </a:r>
            <a:r>
              <a:rPr lang="en-US" b="1" dirty="0">
                <a:latin typeface="Myriad Pro" panose="020B0503030403020204" pitchFamily="34" charset="0"/>
              </a:rPr>
              <a:t> &lt; 0.05</a:t>
            </a:r>
          </a:p>
        </p:txBody>
      </p:sp>
      <p:sp>
        <p:nvSpPr>
          <p:cNvPr id="20" name="TextBox 19"/>
          <p:cNvSpPr txBox="1"/>
          <p:nvPr/>
        </p:nvSpPr>
        <p:spPr>
          <a:xfrm>
            <a:off x="10685154" y="2980917"/>
            <a:ext cx="989373" cy="369332"/>
          </a:xfrm>
          <a:prstGeom prst="rect">
            <a:avLst/>
          </a:prstGeom>
          <a:noFill/>
        </p:spPr>
        <p:txBody>
          <a:bodyPr wrap="none" rtlCol="0">
            <a:spAutoFit/>
          </a:bodyPr>
          <a:lstStyle/>
          <a:p>
            <a:r>
              <a:rPr lang="en-US" b="1" i="1" dirty="0">
                <a:latin typeface="Myriad Pro" panose="020B0503030403020204" pitchFamily="34" charset="0"/>
              </a:rPr>
              <a:t>p</a:t>
            </a:r>
            <a:r>
              <a:rPr lang="en-US" b="1" dirty="0">
                <a:latin typeface="Myriad Pro" panose="020B0503030403020204" pitchFamily="34" charset="0"/>
              </a:rPr>
              <a:t> &lt; 0.05</a:t>
            </a:r>
          </a:p>
        </p:txBody>
      </p:sp>
    </p:spTree>
    <p:extLst>
      <p:ext uri="{BB962C8B-B14F-4D97-AF65-F5344CB8AC3E}">
        <p14:creationId xmlns:p14="http://schemas.microsoft.com/office/powerpoint/2010/main" val="36132817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198864" y="2827636"/>
            <a:ext cx="3144841" cy="3040259"/>
          </a:xfrm>
          <a:prstGeom prst="rect">
            <a:avLst/>
          </a:prstGeom>
        </p:spPr>
      </p:pic>
      <p:pic>
        <p:nvPicPr>
          <p:cNvPr id="14" name="Picture 13"/>
          <p:cNvPicPr>
            <a:picLocks noChangeAspect="1"/>
          </p:cNvPicPr>
          <p:nvPr/>
        </p:nvPicPr>
        <p:blipFill rotWithShape="1">
          <a:blip r:embed="rId4" cstate="email">
            <a:extLst>
              <a:ext uri="{28A0092B-C50C-407E-A947-70E740481C1C}">
                <a14:useLocalDpi xmlns:a14="http://schemas.microsoft.com/office/drawing/2010/main"/>
              </a:ext>
            </a:extLst>
          </a:blip>
          <a:srcRect r="-1050"/>
          <a:stretch/>
        </p:blipFill>
        <p:spPr>
          <a:xfrm>
            <a:off x="5210403" y="3165583"/>
            <a:ext cx="6464124" cy="2654389"/>
          </a:xfrm>
          <a:prstGeom prst="rect">
            <a:avLst/>
          </a:prstGeom>
        </p:spPr>
      </p:pic>
      <p:sp>
        <p:nvSpPr>
          <p:cNvPr id="2" name="Title 1"/>
          <p:cNvSpPr>
            <a:spLocks noGrp="1"/>
          </p:cNvSpPr>
          <p:nvPr>
            <p:ph type="title"/>
          </p:nvPr>
        </p:nvSpPr>
        <p:spPr/>
        <p:txBody>
          <a:bodyPr>
            <a:normAutofit/>
          </a:bodyPr>
          <a:lstStyle/>
          <a:p>
            <a:r>
              <a:rPr lang="en-US" sz="3200" dirty="0">
                <a:latin typeface="Myriad Pro" panose="020B0503030403020204" pitchFamily="34" charset="0"/>
              </a:rPr>
              <a:t>Pitch tuning in the green species is unique to </a:t>
            </a:r>
            <a:r>
              <a:rPr lang="en-US" sz="3200" b="1" dirty="0">
                <a:latin typeface="Myriad Pro" panose="020B0503030403020204" pitchFamily="34" charset="0"/>
              </a:rPr>
              <a:t>NCM</a:t>
            </a:r>
          </a:p>
        </p:txBody>
      </p:sp>
      <p:sp>
        <p:nvSpPr>
          <p:cNvPr id="3" name="TextBox 2"/>
          <p:cNvSpPr txBox="1"/>
          <p:nvPr/>
        </p:nvSpPr>
        <p:spPr>
          <a:xfrm>
            <a:off x="3366871" y="3011250"/>
            <a:ext cx="989373" cy="369332"/>
          </a:xfrm>
          <a:prstGeom prst="rect">
            <a:avLst/>
          </a:prstGeom>
          <a:noFill/>
        </p:spPr>
        <p:txBody>
          <a:bodyPr wrap="none" rtlCol="0">
            <a:spAutoFit/>
          </a:bodyPr>
          <a:lstStyle/>
          <a:p>
            <a:r>
              <a:rPr lang="en-US" b="1" i="1" dirty="0">
                <a:latin typeface="Myriad Pro" panose="020B0503030403020204" pitchFamily="34" charset="0"/>
              </a:rPr>
              <a:t>p</a:t>
            </a:r>
            <a:r>
              <a:rPr lang="en-US" b="1" dirty="0">
                <a:latin typeface="Myriad Pro" panose="020B0503030403020204" pitchFamily="34" charset="0"/>
              </a:rPr>
              <a:t> &lt; 0.05</a:t>
            </a:r>
          </a:p>
        </p:txBody>
      </p:sp>
      <p:pic>
        <p:nvPicPr>
          <p:cNvPr id="13" name="Picture 12"/>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98864" y="1992572"/>
            <a:ext cx="945492" cy="797358"/>
          </a:xfrm>
          <a:prstGeom prst="rect">
            <a:avLst/>
          </a:prstGeom>
        </p:spPr>
      </p:pic>
      <p:pic>
        <p:nvPicPr>
          <p:cNvPr id="17" name="Picture 16"/>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368617" y="3011250"/>
            <a:ext cx="817708" cy="3040259"/>
          </a:xfrm>
          <a:prstGeom prst="rect">
            <a:avLst/>
          </a:prstGeom>
        </p:spPr>
      </p:pic>
      <p:pic>
        <p:nvPicPr>
          <p:cNvPr id="21" name="Picture 20"/>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2541917" y="5905601"/>
            <a:ext cx="905774" cy="879894"/>
          </a:xfrm>
          <a:prstGeom prst="rect">
            <a:avLst/>
          </a:prstGeom>
        </p:spPr>
      </p:pic>
      <p:sp>
        <p:nvSpPr>
          <p:cNvPr id="6" name="TextBox 5"/>
          <p:cNvSpPr txBox="1"/>
          <p:nvPr/>
        </p:nvSpPr>
        <p:spPr>
          <a:xfrm>
            <a:off x="2470298" y="2089359"/>
            <a:ext cx="950901" cy="523220"/>
          </a:xfrm>
          <a:prstGeom prst="rect">
            <a:avLst/>
          </a:prstGeom>
          <a:noFill/>
        </p:spPr>
        <p:txBody>
          <a:bodyPr wrap="none" rtlCol="0">
            <a:spAutoFit/>
          </a:bodyPr>
          <a:lstStyle/>
          <a:p>
            <a:r>
              <a:rPr lang="en-US" sz="2800" b="1" dirty="0">
                <a:latin typeface="Myriad Pro" panose="020B0503030403020204" pitchFamily="34" charset="0"/>
              </a:rPr>
              <a:t>NCM</a:t>
            </a:r>
          </a:p>
        </p:txBody>
      </p:sp>
      <p:sp>
        <p:nvSpPr>
          <p:cNvPr id="22" name="TextBox 21"/>
          <p:cNvSpPr txBox="1"/>
          <p:nvPr/>
        </p:nvSpPr>
        <p:spPr>
          <a:xfrm>
            <a:off x="6309186" y="2089359"/>
            <a:ext cx="1054584" cy="523220"/>
          </a:xfrm>
          <a:prstGeom prst="rect">
            <a:avLst/>
          </a:prstGeom>
          <a:noFill/>
        </p:spPr>
        <p:txBody>
          <a:bodyPr wrap="none" rtlCol="0">
            <a:spAutoFit/>
          </a:bodyPr>
          <a:lstStyle/>
          <a:p>
            <a:r>
              <a:rPr lang="en-US" sz="2800" b="1" dirty="0">
                <a:latin typeface="Myriad Pro" panose="020B0503030403020204" pitchFamily="34" charset="0"/>
              </a:rPr>
              <a:t>Input</a:t>
            </a:r>
          </a:p>
        </p:txBody>
      </p:sp>
      <p:sp>
        <p:nvSpPr>
          <p:cNvPr id="23" name="TextBox 22"/>
          <p:cNvSpPr txBox="1"/>
          <p:nvPr/>
        </p:nvSpPr>
        <p:spPr>
          <a:xfrm>
            <a:off x="9734253" y="2103754"/>
            <a:ext cx="829073" cy="523220"/>
          </a:xfrm>
          <a:prstGeom prst="rect">
            <a:avLst/>
          </a:prstGeom>
          <a:noFill/>
        </p:spPr>
        <p:txBody>
          <a:bodyPr wrap="none" rtlCol="0">
            <a:spAutoFit/>
          </a:bodyPr>
          <a:lstStyle/>
          <a:p>
            <a:r>
              <a:rPr lang="en-US" sz="2800" b="1" dirty="0">
                <a:latin typeface="Myriad Pro" panose="020B0503030403020204" pitchFamily="34" charset="0"/>
              </a:rPr>
              <a:t>NCL</a:t>
            </a:r>
          </a:p>
        </p:txBody>
      </p:sp>
    </p:spTree>
    <p:extLst>
      <p:ext uri="{BB962C8B-B14F-4D97-AF65-F5344CB8AC3E}">
        <p14:creationId xmlns:p14="http://schemas.microsoft.com/office/powerpoint/2010/main" val="18552647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Myriad Pro" panose="020B0503030403020204" pitchFamily="34" charset="0"/>
              </a:rPr>
              <a:t>Conclusions</a:t>
            </a:r>
            <a:endParaRPr lang="en-US" sz="3200" dirty="0">
              <a:latin typeface="Myriad Pro" panose="020B0503030403020204" pitchFamily="34" charset="0"/>
            </a:endParaRPr>
          </a:p>
        </p:txBody>
      </p:sp>
      <p:sp>
        <p:nvSpPr>
          <p:cNvPr id="3" name="TextBox 2"/>
          <p:cNvSpPr txBox="1"/>
          <p:nvPr/>
        </p:nvSpPr>
        <p:spPr>
          <a:xfrm>
            <a:off x="1231037" y="1690688"/>
            <a:ext cx="9861836" cy="2677656"/>
          </a:xfrm>
          <a:prstGeom prst="rect">
            <a:avLst/>
          </a:prstGeom>
          <a:noFill/>
        </p:spPr>
        <p:txBody>
          <a:bodyPr wrap="square" rtlCol="0">
            <a:spAutoFit/>
          </a:bodyPr>
          <a:lstStyle/>
          <a:p>
            <a:r>
              <a:rPr lang="en-US" sz="2800" dirty="0">
                <a:latin typeface="Myriad Pro" panose="020B0503030403020204" pitchFamily="34" charset="0"/>
              </a:rPr>
              <a:t>Secondary auditory cortex neurons are tuned to the </a:t>
            </a:r>
            <a:r>
              <a:rPr lang="en-US" sz="2800" b="1" dirty="0">
                <a:latin typeface="Myriad Pro" panose="020B0503030403020204" pitchFamily="34" charset="0"/>
              </a:rPr>
              <a:t>hallmark</a:t>
            </a:r>
            <a:r>
              <a:rPr lang="en-US" sz="2800" dirty="0">
                <a:latin typeface="Myriad Pro" panose="020B0503030403020204" pitchFamily="34" charset="0"/>
              </a:rPr>
              <a:t> </a:t>
            </a:r>
            <a:r>
              <a:rPr lang="en-US" sz="2800" b="1" dirty="0">
                <a:latin typeface="Myriad Pro" panose="020B0503030403020204" pitchFamily="34" charset="0"/>
              </a:rPr>
              <a:t>acoustic structure</a:t>
            </a:r>
            <a:r>
              <a:rPr lang="en-US" sz="2800" dirty="0">
                <a:latin typeface="Myriad Pro" panose="020B0503030403020204" pitchFamily="34" charset="0"/>
              </a:rPr>
              <a:t> of your own species’ </a:t>
            </a:r>
            <a:r>
              <a:rPr lang="en-US" sz="2800" b="1" dirty="0">
                <a:latin typeface="Myriad Pro" panose="020B0503030403020204" pitchFamily="34" charset="0"/>
              </a:rPr>
              <a:t>songs, </a:t>
            </a:r>
            <a:r>
              <a:rPr lang="en-US" sz="2800" dirty="0">
                <a:latin typeface="Myriad Pro" panose="020B0503030403020204" pitchFamily="34" charset="0"/>
              </a:rPr>
              <a:t>but they are agnostic to </a:t>
            </a:r>
            <a:r>
              <a:rPr lang="en-US" sz="2800" b="1" dirty="0">
                <a:latin typeface="Myriad Pro" panose="020B0503030403020204" pitchFamily="34" charset="0"/>
              </a:rPr>
              <a:t>species/singer identity</a:t>
            </a:r>
          </a:p>
          <a:p>
            <a:endParaRPr lang="en-US" sz="2800" b="1" dirty="0">
              <a:latin typeface="Myriad Pro" panose="020B0503030403020204" pitchFamily="34" charset="0"/>
            </a:endParaRPr>
          </a:p>
          <a:p>
            <a:r>
              <a:rPr lang="en-US" sz="2800" dirty="0">
                <a:latin typeface="Myriad Pro" panose="020B0503030403020204" pitchFamily="34" charset="0"/>
              </a:rPr>
              <a:t>Sensory tuning could align </a:t>
            </a:r>
            <a:r>
              <a:rPr lang="en-US" sz="2800" b="1" dirty="0">
                <a:latin typeface="Myriad Pro" panose="020B0503030403020204" pitchFamily="34" charset="0"/>
              </a:rPr>
              <a:t>perception</a:t>
            </a:r>
            <a:r>
              <a:rPr lang="en-US" sz="2800" dirty="0">
                <a:latin typeface="Myriad Pro" panose="020B0503030403020204" pitchFamily="34" charset="0"/>
              </a:rPr>
              <a:t> and </a:t>
            </a:r>
            <a:r>
              <a:rPr lang="en-US" sz="2800" b="1" dirty="0">
                <a:latin typeface="Myriad Pro" panose="020B0503030403020204" pitchFamily="34" charset="0"/>
              </a:rPr>
              <a:t>mating decisions</a:t>
            </a:r>
            <a:r>
              <a:rPr lang="en-US" sz="2800" dirty="0">
                <a:latin typeface="Myriad Pro" panose="020B0503030403020204" pitchFamily="34" charset="0"/>
              </a:rPr>
              <a:t> to sounds that feature </a:t>
            </a:r>
            <a:r>
              <a:rPr lang="en-US" sz="2800" b="1" dirty="0">
                <a:latin typeface="Myriad Pro" panose="020B0503030403020204" pitchFamily="34" charset="0"/>
              </a:rPr>
              <a:t>conspecific acoustic structure</a:t>
            </a:r>
          </a:p>
        </p:txBody>
      </p:sp>
      <p:pic>
        <p:nvPicPr>
          <p:cNvPr id="4" name="Picture 3"/>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699402" y="4784974"/>
            <a:ext cx="1800048" cy="1817866"/>
          </a:xfrm>
          <a:prstGeom prst="rect">
            <a:avLst/>
          </a:prstGeom>
        </p:spPr>
      </p:pic>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086707" y="4784974"/>
            <a:ext cx="1800048" cy="1817866"/>
          </a:xfrm>
          <a:prstGeom prst="rect">
            <a:avLst/>
          </a:prstGeom>
        </p:spPr>
      </p:pic>
      <p:pic>
        <p:nvPicPr>
          <p:cNvPr id="6" name="Picture 5"/>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8474012" y="4784974"/>
            <a:ext cx="1800048" cy="1817866"/>
          </a:xfrm>
          <a:prstGeom prst="rect">
            <a:avLst/>
          </a:prstGeom>
        </p:spPr>
      </p:pic>
      <p:pic>
        <p:nvPicPr>
          <p:cNvPr id="7" name="Picture 6"/>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913421" y="4971915"/>
            <a:ext cx="560591" cy="472761"/>
          </a:xfrm>
          <a:prstGeom prst="rect">
            <a:avLst/>
          </a:prstGeom>
        </p:spPr>
      </p:pic>
      <p:pic>
        <p:nvPicPr>
          <p:cNvPr id="8" name="Picture 7"/>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547496" y="4971915"/>
            <a:ext cx="560591" cy="472761"/>
          </a:xfrm>
          <a:prstGeom prst="rect">
            <a:avLst/>
          </a:prstGeom>
        </p:spPr>
      </p:pic>
      <p:pic>
        <p:nvPicPr>
          <p:cNvPr id="9" name="Picture 8"/>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138811" y="4971916"/>
            <a:ext cx="560591" cy="472761"/>
          </a:xfrm>
          <a:prstGeom prst="rect">
            <a:avLst/>
          </a:prstGeom>
        </p:spPr>
      </p:pic>
      <p:sp>
        <p:nvSpPr>
          <p:cNvPr id="10" name="TextBox 9"/>
          <p:cNvSpPr txBox="1"/>
          <p:nvPr/>
        </p:nvSpPr>
        <p:spPr>
          <a:xfrm>
            <a:off x="1048171" y="5871065"/>
            <a:ext cx="741870" cy="646331"/>
          </a:xfrm>
          <a:prstGeom prst="rect">
            <a:avLst/>
          </a:prstGeom>
          <a:noFill/>
        </p:spPr>
        <p:txBody>
          <a:bodyPr wrap="none" rtlCol="0">
            <a:spAutoFit/>
          </a:bodyPr>
          <a:lstStyle/>
          <a:p>
            <a:pPr algn="r"/>
            <a:r>
              <a:rPr lang="en-US" dirty="0">
                <a:latin typeface="Myriad Pro" panose="020B0503030403020204" pitchFamily="34" charset="0"/>
              </a:rPr>
              <a:t>Zebra</a:t>
            </a:r>
          </a:p>
          <a:p>
            <a:pPr algn="r"/>
            <a:r>
              <a:rPr lang="en-US" dirty="0">
                <a:latin typeface="Myriad Pro" panose="020B0503030403020204" pitchFamily="34" charset="0"/>
              </a:rPr>
              <a:t>finch</a:t>
            </a:r>
          </a:p>
        </p:txBody>
      </p:sp>
      <p:sp>
        <p:nvSpPr>
          <p:cNvPr id="11" name="TextBox 10"/>
          <p:cNvSpPr txBox="1"/>
          <p:nvPr/>
        </p:nvSpPr>
        <p:spPr>
          <a:xfrm>
            <a:off x="3610605" y="5871064"/>
            <a:ext cx="1607684" cy="646331"/>
          </a:xfrm>
          <a:prstGeom prst="rect">
            <a:avLst/>
          </a:prstGeom>
          <a:noFill/>
        </p:spPr>
        <p:txBody>
          <a:bodyPr wrap="none" rtlCol="0">
            <a:spAutoFit/>
          </a:bodyPr>
          <a:lstStyle/>
          <a:p>
            <a:pPr algn="r"/>
            <a:r>
              <a:rPr lang="en-US" dirty="0">
                <a:latin typeface="Myriad Pro" panose="020B0503030403020204" pitchFamily="34" charset="0"/>
              </a:rPr>
              <a:t>Double-barred</a:t>
            </a:r>
          </a:p>
          <a:p>
            <a:pPr algn="r"/>
            <a:r>
              <a:rPr lang="en-US" dirty="0">
                <a:latin typeface="Myriad Pro" panose="020B0503030403020204" pitchFamily="34" charset="0"/>
              </a:rPr>
              <a:t>finch</a:t>
            </a:r>
          </a:p>
        </p:txBody>
      </p:sp>
      <p:sp>
        <p:nvSpPr>
          <p:cNvPr id="12" name="TextBox 11"/>
          <p:cNvSpPr txBox="1"/>
          <p:nvPr/>
        </p:nvSpPr>
        <p:spPr>
          <a:xfrm>
            <a:off x="6925081" y="5871062"/>
            <a:ext cx="1559145" cy="646331"/>
          </a:xfrm>
          <a:prstGeom prst="rect">
            <a:avLst/>
          </a:prstGeom>
          <a:noFill/>
        </p:spPr>
        <p:txBody>
          <a:bodyPr wrap="none" rtlCol="0">
            <a:spAutoFit/>
          </a:bodyPr>
          <a:lstStyle/>
          <a:p>
            <a:pPr algn="r"/>
            <a:r>
              <a:rPr lang="en-US" dirty="0">
                <a:latin typeface="Myriad Pro" panose="020B0503030403020204" pitchFamily="34" charset="0"/>
              </a:rPr>
              <a:t>Gold-breasted</a:t>
            </a:r>
          </a:p>
          <a:p>
            <a:pPr algn="r"/>
            <a:r>
              <a:rPr lang="en-US" dirty="0">
                <a:latin typeface="Myriad Pro" panose="020B0503030403020204" pitchFamily="34" charset="0"/>
              </a:rPr>
              <a:t>waxbill</a:t>
            </a:r>
          </a:p>
        </p:txBody>
      </p:sp>
    </p:spTree>
    <p:extLst>
      <p:ext uri="{BB962C8B-B14F-4D97-AF65-F5344CB8AC3E}">
        <p14:creationId xmlns:p14="http://schemas.microsoft.com/office/powerpoint/2010/main" val="42149329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Myriad Pro" panose="020B0503030403020204" pitchFamily="34" charset="0"/>
              </a:rPr>
              <a:t>Future directions: </a:t>
            </a:r>
            <a:r>
              <a:rPr lang="en-US" sz="3200" dirty="0">
                <a:latin typeface="Myriad Pro" panose="020B0503030403020204" pitchFamily="34" charset="0"/>
              </a:rPr>
              <a:t>Where does information from NCM go?</a:t>
            </a:r>
          </a:p>
        </p:txBody>
      </p:sp>
      <p:pic>
        <p:nvPicPr>
          <p:cNvPr id="10" name="Picture 9"/>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80380" y="1541694"/>
            <a:ext cx="4113814" cy="2455631"/>
          </a:xfrm>
          <a:prstGeom prst="rect">
            <a:avLst/>
          </a:prstGeom>
        </p:spPr>
      </p:pic>
      <p:pic>
        <p:nvPicPr>
          <p:cNvPr id="14" name="Picture 13">
            <a:extLst>
              <a:ext uri="{FF2B5EF4-FFF2-40B4-BE49-F238E27FC236}">
                <a16:creationId xmlns:a16="http://schemas.microsoft.com/office/drawing/2014/main" id="{6077609A-DDF6-504F-B1B2-5B0C315CB8A4}"/>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7834351" y="1690688"/>
            <a:ext cx="3742299" cy="4941920"/>
          </a:xfrm>
          <a:prstGeom prst="rect">
            <a:avLst/>
          </a:prstGeom>
        </p:spPr>
      </p:pic>
      <p:pic>
        <p:nvPicPr>
          <p:cNvPr id="15" name="Picture 14"/>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470854" y="4820666"/>
            <a:ext cx="2216688" cy="1679761"/>
          </a:xfrm>
          <a:prstGeom prst="rect">
            <a:avLst/>
          </a:prstGeom>
        </p:spPr>
      </p:pic>
      <p:pic>
        <p:nvPicPr>
          <p:cNvPr id="16" name="Picture 15" descr="zf headshot.jp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76854" y="4030301"/>
            <a:ext cx="1168952" cy="885830"/>
          </a:xfrm>
          <a:prstGeom prst="rect">
            <a:avLst/>
          </a:prstGeom>
        </p:spPr>
      </p:pic>
      <p:sp>
        <p:nvSpPr>
          <p:cNvPr id="18" name="Rectangle 17"/>
          <p:cNvSpPr/>
          <p:nvPr/>
        </p:nvSpPr>
        <p:spPr>
          <a:xfrm>
            <a:off x="3879050" y="1422052"/>
            <a:ext cx="915144" cy="14724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614468" y="1541694"/>
            <a:ext cx="1337546" cy="1489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01083" y="1467196"/>
            <a:ext cx="1169771" cy="3431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311076" y="3243532"/>
            <a:ext cx="694079" cy="7066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2502948" y="3717841"/>
            <a:ext cx="915144" cy="3539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EA35CB4A-142C-2746-B74B-6FC40BE08CC2}"/>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024009" y="3600726"/>
            <a:ext cx="1124633" cy="1589565"/>
          </a:xfrm>
          <a:prstGeom prst="rect">
            <a:avLst/>
          </a:prstGeom>
        </p:spPr>
      </p:pic>
      <p:sp>
        <p:nvSpPr>
          <p:cNvPr id="23" name="Rectangle 22"/>
          <p:cNvSpPr/>
          <p:nvPr/>
        </p:nvSpPr>
        <p:spPr>
          <a:xfrm>
            <a:off x="3825668" y="3464811"/>
            <a:ext cx="1031003" cy="39119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3252239" y="1632626"/>
            <a:ext cx="626812" cy="39119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C7FD4F92-A75E-CB43-B78E-8E7AA9E874A2}"/>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bright="40000"/>
                    </a14:imgEffect>
                  </a14:imgLayer>
                </a14:imgProps>
              </a:ext>
              <a:ext uri="{28A0092B-C50C-407E-A947-70E740481C1C}">
                <a14:useLocalDpi xmlns:a14="http://schemas.microsoft.com/office/drawing/2010/main"/>
              </a:ext>
            </a:extLst>
          </a:blip>
          <a:srcRect/>
          <a:stretch/>
        </p:blipFill>
        <p:spPr>
          <a:xfrm>
            <a:off x="4003686" y="3284709"/>
            <a:ext cx="3693375" cy="2843717"/>
          </a:xfrm>
          <a:prstGeom prst="rect">
            <a:avLst/>
          </a:prstGeom>
        </p:spPr>
      </p:pic>
      <p:sp>
        <p:nvSpPr>
          <p:cNvPr id="25" name="TextBox 24"/>
          <p:cNvSpPr txBox="1"/>
          <p:nvPr/>
        </p:nvSpPr>
        <p:spPr>
          <a:xfrm>
            <a:off x="2738679" y="4187080"/>
            <a:ext cx="619913" cy="369332"/>
          </a:xfrm>
          <a:prstGeom prst="rect">
            <a:avLst/>
          </a:prstGeom>
          <a:noFill/>
        </p:spPr>
        <p:txBody>
          <a:bodyPr wrap="none" rtlCol="0">
            <a:spAutoFit/>
          </a:bodyPr>
          <a:lstStyle/>
          <a:p>
            <a:r>
              <a:rPr lang="en-US" b="1" dirty="0">
                <a:latin typeface="Myriad Pro" panose="020B0503030403020204" pitchFamily="34" charset="0"/>
              </a:rPr>
              <a:t>AAV</a:t>
            </a:r>
          </a:p>
        </p:txBody>
      </p:sp>
      <p:sp>
        <p:nvSpPr>
          <p:cNvPr id="26" name="TextBox 25"/>
          <p:cNvSpPr txBox="1"/>
          <p:nvPr/>
        </p:nvSpPr>
        <p:spPr>
          <a:xfrm>
            <a:off x="7026726" y="3345499"/>
            <a:ext cx="481222" cy="369332"/>
          </a:xfrm>
          <a:prstGeom prst="rect">
            <a:avLst/>
          </a:prstGeom>
          <a:noFill/>
        </p:spPr>
        <p:txBody>
          <a:bodyPr wrap="none" rtlCol="0">
            <a:spAutoFit/>
          </a:bodyPr>
          <a:lstStyle/>
          <a:p>
            <a:r>
              <a:rPr lang="en-US" b="1" dirty="0">
                <a:solidFill>
                  <a:schemeClr val="bg1"/>
                </a:solidFill>
                <a:latin typeface="Myriad Pro" panose="020B0503030403020204" pitchFamily="34" charset="0"/>
              </a:rPr>
              <a:t>NC</a:t>
            </a:r>
          </a:p>
        </p:txBody>
      </p:sp>
      <p:sp>
        <p:nvSpPr>
          <p:cNvPr id="27" name="TextBox 26"/>
          <p:cNvSpPr txBox="1"/>
          <p:nvPr/>
        </p:nvSpPr>
        <p:spPr>
          <a:xfrm>
            <a:off x="8869904" y="3792316"/>
            <a:ext cx="473656" cy="369332"/>
          </a:xfrm>
          <a:prstGeom prst="rect">
            <a:avLst/>
          </a:prstGeom>
          <a:noFill/>
        </p:spPr>
        <p:txBody>
          <a:bodyPr wrap="none" rtlCol="0">
            <a:spAutoFit/>
          </a:bodyPr>
          <a:lstStyle/>
          <a:p>
            <a:r>
              <a:rPr lang="en-US" b="1" dirty="0">
                <a:solidFill>
                  <a:schemeClr val="bg1"/>
                </a:solidFill>
                <a:latin typeface="Myriad Pro" panose="020B0503030403020204" pitchFamily="34" charset="0"/>
              </a:rPr>
              <a:t>RA</a:t>
            </a:r>
          </a:p>
        </p:txBody>
      </p:sp>
      <p:sp>
        <p:nvSpPr>
          <p:cNvPr id="28" name="TextBox 27"/>
          <p:cNvSpPr txBox="1"/>
          <p:nvPr/>
        </p:nvSpPr>
        <p:spPr>
          <a:xfrm>
            <a:off x="9680773" y="5475880"/>
            <a:ext cx="548548" cy="369332"/>
          </a:xfrm>
          <a:prstGeom prst="rect">
            <a:avLst/>
          </a:prstGeom>
          <a:noFill/>
        </p:spPr>
        <p:txBody>
          <a:bodyPr wrap="none" rtlCol="0">
            <a:spAutoFit/>
          </a:bodyPr>
          <a:lstStyle/>
          <a:p>
            <a:r>
              <a:rPr lang="en-US" b="1" dirty="0">
                <a:latin typeface="Myriad Pro" panose="020B0503030403020204" pitchFamily="34" charset="0"/>
              </a:rPr>
              <a:t>AIV</a:t>
            </a:r>
          </a:p>
        </p:txBody>
      </p:sp>
    </p:spTree>
    <p:extLst>
      <p:ext uri="{BB962C8B-B14F-4D97-AF65-F5344CB8AC3E}">
        <p14:creationId xmlns:p14="http://schemas.microsoft.com/office/powerpoint/2010/main" val="38837396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Myriad Pro" panose="020B0503030403020204" pitchFamily="34" charset="0"/>
              </a:rPr>
              <a:t>Future directions: </a:t>
            </a:r>
            <a:r>
              <a:rPr lang="en-US" sz="3200" dirty="0">
                <a:latin typeface="Myriad Pro" panose="020B0503030403020204" pitchFamily="34" charset="0"/>
              </a:rPr>
              <a:t>Constraints on song learning</a:t>
            </a:r>
          </a:p>
        </p:txBody>
      </p:sp>
      <p:pic>
        <p:nvPicPr>
          <p:cNvPr id="4" name="Picture 3"/>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94872" y="1845970"/>
            <a:ext cx="1249307" cy="1445801"/>
          </a:xfrm>
          <a:prstGeom prst="rect">
            <a:avLst/>
          </a:prstGeom>
        </p:spPr>
      </p:pic>
      <p:pic>
        <p:nvPicPr>
          <p:cNvPr id="5" name="Picture 4"/>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776323" y="1909817"/>
            <a:ext cx="1294681" cy="1381954"/>
          </a:xfrm>
          <a:prstGeom prst="rect">
            <a:avLst/>
          </a:prstGeom>
        </p:spPr>
      </p:pic>
      <p:pic>
        <p:nvPicPr>
          <p:cNvPr id="6" name="Picture 5"/>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9595618" y="1845970"/>
            <a:ext cx="1209821" cy="1445801"/>
          </a:xfrm>
          <a:prstGeom prst="rect">
            <a:avLst/>
          </a:prstGeom>
        </p:spPr>
      </p:pic>
      <p:pic>
        <p:nvPicPr>
          <p:cNvPr id="7" name="Picture 6"/>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838200" y="1449421"/>
            <a:ext cx="862643" cy="920793"/>
          </a:xfrm>
          <a:prstGeom prst="rect">
            <a:avLst/>
          </a:prstGeom>
        </p:spPr>
      </p:pic>
      <p:pic>
        <p:nvPicPr>
          <p:cNvPr id="8" name="Picture 7"/>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453385" y="1449420"/>
            <a:ext cx="862643" cy="920793"/>
          </a:xfrm>
          <a:prstGeom prst="rect">
            <a:avLst/>
          </a:prstGeom>
        </p:spPr>
      </p:pic>
      <p:pic>
        <p:nvPicPr>
          <p:cNvPr id="9" name="Picture 8"/>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8603898" y="1449420"/>
            <a:ext cx="862643" cy="920793"/>
          </a:xfrm>
          <a:prstGeom prst="rect">
            <a:avLst/>
          </a:prstGeom>
        </p:spPr>
      </p:pic>
      <p:pic>
        <p:nvPicPr>
          <p:cNvPr id="10" name="Picture 9"/>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674167" y="3510900"/>
            <a:ext cx="11291005" cy="1268134"/>
          </a:xfrm>
          <a:prstGeom prst="rect">
            <a:avLst/>
          </a:prstGeom>
        </p:spPr>
      </p:pic>
      <p:sp>
        <p:nvSpPr>
          <p:cNvPr id="11" name="TextBox 10"/>
          <p:cNvSpPr txBox="1"/>
          <p:nvPr/>
        </p:nvSpPr>
        <p:spPr>
          <a:xfrm>
            <a:off x="0" y="3933645"/>
            <a:ext cx="738536" cy="369332"/>
          </a:xfrm>
          <a:prstGeom prst="rect">
            <a:avLst/>
          </a:prstGeom>
          <a:noFill/>
        </p:spPr>
        <p:txBody>
          <a:bodyPr wrap="none" rtlCol="0">
            <a:spAutoFit/>
          </a:bodyPr>
          <a:lstStyle/>
          <a:p>
            <a:r>
              <a:rPr lang="en-US" b="1" dirty="0">
                <a:latin typeface="Myriad Pro" panose="020B0503030403020204" pitchFamily="34" charset="0"/>
              </a:rPr>
              <a:t>Tutor</a:t>
            </a:r>
          </a:p>
        </p:txBody>
      </p:sp>
      <p:sp>
        <p:nvSpPr>
          <p:cNvPr id="12" name="TextBox 11"/>
          <p:cNvSpPr txBox="1"/>
          <p:nvPr/>
        </p:nvSpPr>
        <p:spPr>
          <a:xfrm>
            <a:off x="0" y="5587041"/>
            <a:ext cx="716158" cy="369332"/>
          </a:xfrm>
          <a:prstGeom prst="rect">
            <a:avLst/>
          </a:prstGeom>
          <a:noFill/>
        </p:spPr>
        <p:txBody>
          <a:bodyPr wrap="none" rtlCol="0">
            <a:spAutoFit/>
          </a:bodyPr>
          <a:lstStyle/>
          <a:p>
            <a:r>
              <a:rPr lang="en-US" b="1" dirty="0">
                <a:latin typeface="Myriad Pro" panose="020B0503030403020204" pitchFamily="34" charset="0"/>
              </a:rPr>
              <a:t>Pupil</a:t>
            </a:r>
          </a:p>
        </p:txBody>
      </p:sp>
      <p:pic>
        <p:nvPicPr>
          <p:cNvPr id="13" name="Picture 12"/>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674167" y="5003321"/>
            <a:ext cx="11291005" cy="1824806"/>
          </a:xfrm>
          <a:prstGeom prst="rect">
            <a:avLst/>
          </a:prstGeom>
        </p:spPr>
      </p:pic>
    </p:spTree>
    <p:extLst>
      <p:ext uri="{BB962C8B-B14F-4D97-AF65-F5344CB8AC3E}">
        <p14:creationId xmlns:p14="http://schemas.microsoft.com/office/powerpoint/2010/main" val="19331368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Myriad Pro" panose="020B0503030403020204" pitchFamily="34" charset="0"/>
              </a:rPr>
              <a:t>Future directions: </a:t>
            </a:r>
            <a:r>
              <a:rPr lang="en-US" sz="3200" dirty="0">
                <a:latin typeface="Myriad Pro" panose="020B0503030403020204" pitchFamily="34" charset="0"/>
              </a:rPr>
              <a:t>Hybrid birds copy songs very well</a:t>
            </a:r>
          </a:p>
        </p:txBody>
      </p:sp>
      <p:pic>
        <p:nvPicPr>
          <p:cNvPr id="6" name="Picture 5"/>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008165" y="1845970"/>
            <a:ext cx="1209821" cy="1445801"/>
          </a:xfrm>
          <a:prstGeom prst="rect">
            <a:avLst/>
          </a:prstGeom>
        </p:spPr>
      </p:pic>
      <p:pic>
        <p:nvPicPr>
          <p:cNvPr id="8" name="Picture 7"/>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7972962" y="1449420"/>
            <a:ext cx="862643" cy="920793"/>
          </a:xfrm>
          <a:prstGeom prst="rect">
            <a:avLst/>
          </a:prstGeom>
        </p:spPr>
      </p:pic>
      <p:pic>
        <p:nvPicPr>
          <p:cNvPr id="11" name="Picture 10"/>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070644" y="1410892"/>
            <a:ext cx="802743" cy="959321"/>
          </a:xfrm>
          <a:prstGeom prst="rect">
            <a:avLst/>
          </a:prstGeom>
        </p:spPr>
      </p:pic>
      <p:pic>
        <p:nvPicPr>
          <p:cNvPr id="15" name="Picture 14"/>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2634299" y="1449421"/>
            <a:ext cx="862643" cy="920793"/>
          </a:xfrm>
          <a:prstGeom prst="rect">
            <a:avLst/>
          </a:prstGeom>
        </p:spPr>
      </p:pic>
      <p:pic>
        <p:nvPicPr>
          <p:cNvPr id="16" name="Picture 15"/>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699258" y="1449420"/>
            <a:ext cx="862643" cy="920793"/>
          </a:xfrm>
          <a:prstGeom prst="rect">
            <a:avLst/>
          </a:prstGeom>
        </p:spPr>
      </p:pic>
      <p:pic>
        <p:nvPicPr>
          <p:cNvPr id="17" name="Picture 16"/>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692686" y="1845970"/>
            <a:ext cx="1209821" cy="1445801"/>
          </a:xfrm>
          <a:prstGeom prst="rect">
            <a:avLst/>
          </a:prstGeom>
        </p:spPr>
      </p:pic>
      <p:pic>
        <p:nvPicPr>
          <p:cNvPr id="3" name="Picture 2"/>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454987" y="3454508"/>
            <a:ext cx="4359218" cy="3358206"/>
          </a:xfrm>
          <a:prstGeom prst="rect">
            <a:avLst/>
          </a:prstGeom>
        </p:spPr>
      </p:pic>
      <p:sp>
        <p:nvSpPr>
          <p:cNvPr id="18" name="TextBox 17"/>
          <p:cNvSpPr txBox="1"/>
          <p:nvPr/>
        </p:nvSpPr>
        <p:spPr>
          <a:xfrm>
            <a:off x="646981" y="3873260"/>
            <a:ext cx="738536" cy="369332"/>
          </a:xfrm>
          <a:prstGeom prst="rect">
            <a:avLst/>
          </a:prstGeom>
          <a:noFill/>
        </p:spPr>
        <p:txBody>
          <a:bodyPr wrap="none" rtlCol="0">
            <a:spAutoFit/>
          </a:bodyPr>
          <a:lstStyle/>
          <a:p>
            <a:r>
              <a:rPr lang="en-US" b="1" dirty="0">
                <a:latin typeface="Myriad Pro" panose="020B0503030403020204" pitchFamily="34" charset="0"/>
              </a:rPr>
              <a:t>Tutor</a:t>
            </a:r>
          </a:p>
        </p:txBody>
      </p:sp>
      <p:sp>
        <p:nvSpPr>
          <p:cNvPr id="19" name="TextBox 18"/>
          <p:cNvSpPr txBox="1"/>
          <p:nvPr/>
        </p:nvSpPr>
        <p:spPr>
          <a:xfrm>
            <a:off x="646981" y="5526656"/>
            <a:ext cx="716158" cy="369332"/>
          </a:xfrm>
          <a:prstGeom prst="rect">
            <a:avLst/>
          </a:prstGeom>
          <a:noFill/>
        </p:spPr>
        <p:txBody>
          <a:bodyPr wrap="none" rtlCol="0">
            <a:spAutoFit/>
          </a:bodyPr>
          <a:lstStyle/>
          <a:p>
            <a:r>
              <a:rPr lang="en-US" b="1" dirty="0">
                <a:latin typeface="Myriad Pro" panose="020B0503030403020204" pitchFamily="34" charset="0"/>
              </a:rPr>
              <a:t>Pupil</a:t>
            </a:r>
          </a:p>
        </p:txBody>
      </p:sp>
      <p:pic>
        <p:nvPicPr>
          <p:cNvPr id="20" name="Picture 19"/>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6193766" y="3454508"/>
            <a:ext cx="4400281" cy="3358206"/>
          </a:xfrm>
          <a:prstGeom prst="rect">
            <a:avLst/>
          </a:prstGeom>
        </p:spPr>
      </p:pic>
    </p:spTree>
    <p:extLst>
      <p:ext uri="{BB962C8B-B14F-4D97-AF65-F5344CB8AC3E}">
        <p14:creationId xmlns:p14="http://schemas.microsoft.com/office/powerpoint/2010/main" val="17905282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12306</TotalTime>
  <Words>1322</Words>
  <Application>Microsoft Office PowerPoint</Application>
  <PresentationFormat>Widescreen</PresentationFormat>
  <Paragraphs>206</Paragraphs>
  <Slides>39</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Myriad Pro</vt:lpstr>
      <vt:lpstr>Office Theme</vt:lpstr>
      <vt:lpstr>Different brains for different songs</vt:lpstr>
      <vt:lpstr>PowerPoint Presentation</vt:lpstr>
      <vt:lpstr>PowerPoint Presentation</vt:lpstr>
      <vt:lpstr>PowerPoint Presentation</vt:lpstr>
      <vt:lpstr>PowerPoint Presentation</vt:lpstr>
      <vt:lpstr>PowerPoint Presentation</vt:lpstr>
      <vt:lpstr>Perineuronal nets</vt:lpstr>
      <vt:lpstr>Learning gets harder as we get older</vt:lpstr>
      <vt:lpstr>PNNs develop in the brain from the “bottom up”</vt:lpstr>
      <vt:lpstr>Stability supports plasticity</vt:lpstr>
      <vt:lpstr>PowerPoint Presentation</vt:lpstr>
      <vt:lpstr>PowerPoint Presentation</vt:lpstr>
      <vt:lpstr>PNNs in the auditory system remained mysterious</vt:lpstr>
      <vt:lpstr>PowerPoint Presentation</vt:lpstr>
      <vt:lpstr>Jacob’s life advice (your mileage may vary):</vt:lpstr>
      <vt:lpstr>The power of listening</vt:lpstr>
      <vt:lpstr>Song is essential for finding a mate</vt:lpstr>
      <vt:lpstr>Songbirds are outstanding vocal learners</vt:lpstr>
      <vt:lpstr>Vocal learning is RARE</vt:lpstr>
      <vt:lpstr>Song is individual-specific and species-specific</vt:lpstr>
      <vt:lpstr>In behavior, songbirds are most interested in their own species (conspecifics)</vt:lpstr>
      <vt:lpstr>Describing the acoustic structure of song</vt:lpstr>
      <vt:lpstr>Hypothesis: Birds key in on acoustic structure of conspecifics</vt:lpstr>
      <vt:lpstr>Where are songs encoded for conspecific communication?</vt:lpstr>
      <vt:lpstr>NCM is necessary for perception that supports song learning</vt:lpstr>
      <vt:lpstr>NCM neurons respond selectively to conspecific song</vt:lpstr>
      <vt:lpstr>How does acoustic structure in song drive selective coding?</vt:lpstr>
      <vt:lpstr>I record activity of single neurons in NCM</vt:lpstr>
      <vt:lpstr>NCM neurons respond best to conspecific song… but also to some different-species songs</vt:lpstr>
      <vt:lpstr>NCM neurons respond best to conspecific song… but also to some different-species songs</vt:lpstr>
      <vt:lpstr>Ripple matrix links song acoustics to neural tuning</vt:lpstr>
      <vt:lpstr>Ripple responses reveal tuning to acoustic structure</vt:lpstr>
      <vt:lpstr>Tuning to acoustic structure explains song responses… sometimes</vt:lpstr>
      <vt:lpstr>Tuning to pitch alone explains song responses in the green species</vt:lpstr>
      <vt:lpstr>Pitch tuning in the green species is unique to NCM</vt:lpstr>
      <vt:lpstr>Conclusions</vt:lpstr>
      <vt:lpstr>Future directions: Where does information from NCM go?</vt:lpstr>
      <vt:lpstr>Future directions: Constraints on song learning</vt:lpstr>
      <vt:lpstr>Future directions: Hybrid birds copy songs very well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Landscapes of learning part II</dc:title>
  <dc:creator>smnw_</dc:creator>
  <cp:lastModifiedBy>Jacob Edwards</cp:lastModifiedBy>
  <cp:revision>372</cp:revision>
  <dcterms:created xsi:type="dcterms:W3CDTF">2021-05-04T17:01:51Z</dcterms:created>
  <dcterms:modified xsi:type="dcterms:W3CDTF">2026-04-24T05:22:26Z</dcterms:modified>
</cp:coreProperties>
</file>